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12192000"/>
  <p:defaultTextStyle>
    <a:defPPr lvl="0"/>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Renewable energy is not only about generating clean power. The real challenge is using that power intelligently at the right time. Our project, RenewAI, uses AI to help identify energy patterns, predict upcoming demand and renewable generation, and provide actionable recommendations for better energy utilization.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note: present the dashboard, architecture, and logic as a prototype design or partially implemented prototype. Label simulated numbers as simulated rather than claiming the system is fully operational — this is safer and more credible given the internship's emphasis on responsible, realistic AI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4332"/>
        </a:solidFill>
      </p:bgPr>
    </p:bg>
    <p:spTree>
      <p:nvGrpSpPr>
        <p:cNvPr id="37" name="Shape 37"/>
        <p:cNvGrpSpPr/>
        <p:nvPr/>
      </p:nvGrpSpPr>
      <p:grpSpPr>
        <a:xfrm>
          <a:off x="0" y="0"/>
          <a:ext cx="0" cy="0"/>
          <a:chOff x="0" y="0"/>
          <a:chExt cx="0" cy="0"/>
        </a:xfrm>
      </p:grpSpPr>
      <p:sp>
        <p:nvSpPr>
          <p:cNvPr id="38" name="Google Shape;38;p1"/>
          <p:cNvSpPr/>
          <p:nvPr/>
        </p:nvSpPr>
        <p:spPr>
          <a:xfrm>
            <a:off x="9692640" y="640080"/>
            <a:ext cx="1554600" cy="1554600"/>
          </a:xfrm>
          <a:prstGeom prst="ellipse">
            <a:avLst/>
          </a:prstGeom>
          <a:solidFill>
            <a:srgbClr val="40916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1"/>
          <p:cNvSpPr txBox="1"/>
          <p:nvPr/>
        </p:nvSpPr>
        <p:spPr>
          <a:xfrm>
            <a:off x="9692640" y="640080"/>
            <a:ext cx="1554600" cy="1554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4600"/>
              <a:buFont typeface="Calibri"/>
              <a:buNone/>
            </a:pPr>
            <a:r>
              <a:rPr b="0" i="0" lang="en-US" sz="4600" u="none" cap="none" strike="noStrike">
                <a:solidFill>
                  <a:srgbClr val="000000"/>
                </a:solidFill>
                <a:latin typeface="Calibri"/>
                <a:ea typeface="Calibri"/>
                <a:cs typeface="Calibri"/>
                <a:sym typeface="Calibri"/>
              </a:rPr>
              <a:t>☀</a:t>
            </a:r>
            <a:endParaRPr b="0" i="0" sz="4600" u="none" cap="none" strike="noStrike">
              <a:solidFill>
                <a:schemeClr val="dk1"/>
              </a:solidFill>
              <a:latin typeface="Calibri"/>
              <a:ea typeface="Calibri"/>
              <a:cs typeface="Calibri"/>
              <a:sym typeface="Calibri"/>
            </a:endParaRPr>
          </a:p>
        </p:txBody>
      </p:sp>
      <p:sp>
        <p:nvSpPr>
          <p:cNvPr id="40" name="Google Shape;40;p1"/>
          <p:cNvSpPr txBox="1"/>
          <p:nvPr/>
        </p:nvSpPr>
        <p:spPr>
          <a:xfrm>
            <a:off x="822960" y="2103120"/>
            <a:ext cx="8229600" cy="100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5400"/>
              <a:buFont typeface="Cambria"/>
              <a:buNone/>
            </a:pPr>
            <a:r>
              <a:rPr b="1" i="0" lang="en-US" sz="5400" u="none" cap="none" strike="noStrike">
                <a:solidFill>
                  <a:srgbClr val="FFFFFF"/>
                </a:solidFill>
                <a:latin typeface="Cambria"/>
                <a:ea typeface="Cambria"/>
                <a:cs typeface="Cambria"/>
                <a:sym typeface="Cambria"/>
              </a:rPr>
              <a:t>RenewAI</a:t>
            </a:r>
            <a:endParaRPr b="0" i="0" sz="5400" u="none" cap="none" strike="noStrike">
              <a:solidFill>
                <a:schemeClr val="dk1"/>
              </a:solidFill>
              <a:latin typeface="Calibri"/>
              <a:ea typeface="Calibri"/>
              <a:cs typeface="Calibri"/>
              <a:sym typeface="Calibri"/>
            </a:endParaRPr>
          </a:p>
        </p:txBody>
      </p:sp>
      <p:sp>
        <p:nvSpPr>
          <p:cNvPr id="41" name="Google Shape;41;p1"/>
          <p:cNvSpPr txBox="1"/>
          <p:nvPr/>
        </p:nvSpPr>
        <p:spPr>
          <a:xfrm>
            <a:off x="822960" y="3063240"/>
            <a:ext cx="96012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8F3DC"/>
              </a:buClr>
              <a:buSzPts val="2000"/>
              <a:buFont typeface="Calibri"/>
              <a:buNone/>
            </a:pPr>
            <a:r>
              <a:rPr b="0" i="0" lang="en-US" sz="2000" u="none" cap="none" strike="noStrike">
                <a:solidFill>
                  <a:srgbClr val="D8F3DC"/>
                </a:solidFill>
                <a:latin typeface="Calibri"/>
                <a:ea typeface="Calibri"/>
                <a:cs typeface="Calibri"/>
                <a:sym typeface="Calibri"/>
              </a:rPr>
              <a:t>AI-Powered Renewable Energy Optimization System</a:t>
            </a:r>
            <a:endParaRPr b="0" i="0" sz="2000" u="none" cap="none" strike="noStrike">
              <a:solidFill>
                <a:schemeClr val="dk1"/>
              </a:solidFill>
              <a:latin typeface="Calibri"/>
              <a:ea typeface="Calibri"/>
              <a:cs typeface="Calibri"/>
              <a:sym typeface="Calibri"/>
            </a:endParaRPr>
          </a:p>
        </p:txBody>
      </p:sp>
      <p:sp>
        <p:nvSpPr>
          <p:cNvPr id="42" name="Google Shape;42;p1"/>
          <p:cNvSpPr txBox="1"/>
          <p:nvPr/>
        </p:nvSpPr>
        <p:spPr>
          <a:xfrm>
            <a:off x="822960" y="3611880"/>
            <a:ext cx="9601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300"/>
              </a:buClr>
              <a:buSzPts val="1600"/>
              <a:buFont typeface="Cambria"/>
              <a:buNone/>
            </a:pPr>
            <a:r>
              <a:rPr b="0" i="1" lang="en-US" sz="1600" u="none" cap="none" strike="noStrike">
                <a:solidFill>
                  <a:srgbClr val="F4A300"/>
                </a:solidFill>
                <a:latin typeface="Cambria"/>
                <a:ea typeface="Cambria"/>
                <a:cs typeface="Cambria"/>
                <a:sym typeface="Cambria"/>
              </a:rPr>
              <a:t>Smarter Energy. Cleaner Future.</a:t>
            </a:r>
            <a:endParaRPr b="0" i="0" sz="1600" u="none" cap="none" strike="noStrike">
              <a:solidFill>
                <a:schemeClr val="dk1"/>
              </a:solidFill>
              <a:latin typeface="Calibri"/>
              <a:ea typeface="Calibri"/>
              <a:cs typeface="Calibri"/>
              <a:sym typeface="Calibri"/>
            </a:endParaRPr>
          </a:p>
        </p:txBody>
      </p:sp>
      <p:cxnSp>
        <p:nvCxnSpPr>
          <p:cNvPr id="43" name="Google Shape;43;p1"/>
          <p:cNvCxnSpPr/>
          <p:nvPr/>
        </p:nvCxnSpPr>
        <p:spPr>
          <a:xfrm>
            <a:off x="822960" y="4297680"/>
            <a:ext cx="2926200" cy="0"/>
          </a:xfrm>
          <a:prstGeom prst="straightConnector1">
            <a:avLst/>
          </a:prstGeom>
          <a:noFill/>
          <a:ln cap="flat" cmpd="sng" w="25400">
            <a:solidFill>
              <a:srgbClr val="40916C"/>
            </a:solidFill>
            <a:prstDash val="solid"/>
            <a:round/>
            <a:headEnd len="sm" w="sm" type="none"/>
            <a:tailEnd len="sm" w="sm" type="none"/>
          </a:ln>
        </p:spPr>
      </p:cxnSp>
      <p:sp>
        <p:nvSpPr>
          <p:cNvPr id="44" name="Google Shape;44;p1"/>
          <p:cNvSpPr txBox="1"/>
          <p:nvPr/>
        </p:nvSpPr>
        <p:spPr>
          <a:xfrm>
            <a:off x="822960" y="4526280"/>
            <a:ext cx="7315200" cy="731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AI for Sustainability Virtual Internship</a:t>
            </a:r>
            <a:br>
              <a:rPr b="0" i="0" lang="en-US" sz="1400" u="none" cap="none" strike="noStrike">
                <a:solidFill>
                  <a:srgbClr val="FFFFFF"/>
                </a:solidFill>
                <a:latin typeface="Calibri"/>
                <a:ea typeface="Calibri"/>
                <a:cs typeface="Calibri"/>
                <a:sym typeface="Calibri"/>
              </a:rPr>
            </a:b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8F3DC"/>
              </a:buClr>
              <a:buSzPts val="1400"/>
              <a:buFont typeface="Calibri"/>
              <a:buNone/>
            </a:pPr>
            <a:r>
              <a:rPr b="0" i="0" lang="en-US" sz="1400" u="none" cap="none" strike="noStrike">
                <a:solidFill>
                  <a:srgbClr val="D8F3DC"/>
                </a:solidFill>
                <a:latin typeface="Calibri"/>
                <a:ea typeface="Calibri"/>
                <a:cs typeface="Calibri"/>
                <a:sym typeface="Calibri"/>
              </a:rPr>
              <a:t>In Collaboration with IBM SkillsBuild &amp; AICTE</a:t>
            </a:r>
            <a:br>
              <a:rPr b="0" i="0" lang="en-US" sz="1400" u="none" cap="none" strike="noStrike">
                <a:solidFill>
                  <a:srgbClr val="D8F3DC"/>
                </a:solidFill>
                <a:latin typeface="Calibri"/>
                <a:ea typeface="Calibri"/>
                <a:cs typeface="Calibri"/>
                <a:sym typeface="Calibri"/>
              </a:rPr>
            </a:br>
            <a:endParaRPr b="0" i="0" sz="1400" u="none" cap="none" strike="noStrike">
              <a:solidFill>
                <a:schemeClr val="dk1"/>
              </a:solidFill>
              <a:latin typeface="Calibri"/>
              <a:ea typeface="Calibri"/>
              <a:cs typeface="Calibri"/>
              <a:sym typeface="Calibri"/>
            </a:endParaRPr>
          </a:p>
        </p:txBody>
      </p:sp>
      <p:sp>
        <p:nvSpPr>
          <p:cNvPr id="45" name="Google Shape;45;p1"/>
          <p:cNvSpPr txBox="1"/>
          <p:nvPr/>
        </p:nvSpPr>
        <p:spPr>
          <a:xfrm>
            <a:off x="822960" y="5349240"/>
            <a:ext cx="73152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300"/>
              </a:buClr>
              <a:buSzPts val="1300"/>
              <a:buFont typeface="Calibri"/>
              <a:buNone/>
            </a:pPr>
            <a:r>
              <a:rPr b="1" i="0" lang="en-US" sz="1300" u="none" cap="none" strike="noStrike">
                <a:solidFill>
                  <a:srgbClr val="F4A300"/>
                </a:solidFill>
                <a:latin typeface="Calibri"/>
                <a:ea typeface="Calibri"/>
                <a:cs typeface="Calibri"/>
                <a:sym typeface="Calibri"/>
              </a:rPr>
              <a:t>Presented by:  </a:t>
            </a:r>
            <a:r>
              <a:rPr lang="en-US" sz="1300">
                <a:solidFill>
                  <a:srgbClr val="FFFFFF"/>
                </a:solidFill>
                <a:latin typeface="Calibri"/>
                <a:ea typeface="Calibri"/>
                <a:cs typeface="Calibri"/>
                <a:sym typeface="Calibri"/>
              </a:rPr>
              <a:t>P.Ganesh</a:t>
            </a:r>
            <a:endParaRPr b="0" i="0" sz="1300" u="none" cap="none" strike="noStrike">
              <a:solidFill>
                <a:schemeClr val="dk1"/>
              </a:solidFill>
              <a:latin typeface="Calibri"/>
              <a:ea typeface="Calibri"/>
              <a:cs typeface="Calibri"/>
              <a:sym typeface="Calibri"/>
            </a:endParaRPr>
          </a:p>
        </p:txBody>
      </p:sp>
      <p:sp>
        <p:nvSpPr>
          <p:cNvPr id="46" name="Google Shape;46;p1"/>
          <p:cNvSpPr txBox="1"/>
          <p:nvPr/>
        </p:nvSpPr>
        <p:spPr>
          <a:xfrm>
            <a:off x="822960" y="5669280"/>
            <a:ext cx="73152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300"/>
              </a:buClr>
              <a:buSzPts val="1300"/>
              <a:buFont typeface="Calibri"/>
              <a:buNone/>
            </a:pPr>
            <a:r>
              <a:rPr b="1" i="0" lang="en-US" sz="1300" u="none" cap="none" strike="noStrike">
                <a:solidFill>
                  <a:srgbClr val="F4A300"/>
                </a:solidFill>
                <a:latin typeface="Calibri"/>
                <a:ea typeface="Calibri"/>
                <a:cs typeface="Calibri"/>
                <a:sym typeface="Calibri"/>
              </a:rPr>
              <a:t>College:  </a:t>
            </a:r>
            <a:r>
              <a:rPr b="0" i="0" lang="en-US" sz="1300" u="none" cap="none" strike="noStrike">
                <a:solidFill>
                  <a:srgbClr val="FFFFFF"/>
                </a:solidFill>
                <a:latin typeface="Calibri"/>
                <a:ea typeface="Calibri"/>
                <a:cs typeface="Calibri"/>
                <a:sym typeface="Calibri"/>
              </a:rPr>
              <a:t>Dhanalakshmi College of Engineering</a:t>
            </a:r>
            <a:endParaRPr b="0" i="0" sz="1300" u="none" cap="none" strike="noStrike">
              <a:solidFill>
                <a:schemeClr val="dk1"/>
              </a:solidFill>
              <a:latin typeface="Calibri"/>
              <a:ea typeface="Calibri"/>
              <a:cs typeface="Calibri"/>
              <a:sym typeface="Calibri"/>
            </a:endParaRPr>
          </a:p>
        </p:txBody>
      </p:sp>
      <p:sp>
        <p:nvSpPr>
          <p:cNvPr id="47" name="Google Shape;47;p1"/>
          <p:cNvSpPr/>
          <p:nvPr/>
        </p:nvSpPr>
        <p:spPr>
          <a:xfrm>
            <a:off x="822960" y="6080760"/>
            <a:ext cx="2834700" cy="411600"/>
          </a:xfrm>
          <a:prstGeom prst="roundRect">
            <a:avLst>
              <a:gd fmla="val 17778" name="adj"/>
            </a:avLst>
          </a:prstGeom>
          <a:solidFill>
            <a:srgbClr val="40916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
          <p:cNvSpPr txBox="1"/>
          <p:nvPr/>
        </p:nvSpPr>
        <p:spPr>
          <a:xfrm>
            <a:off x="822960" y="6080760"/>
            <a:ext cx="28347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Primary SDG 7 — Affordable &amp; Clean Energy</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rtlCol="0" anchor="ctr"/>
          <a:lstStyle/>
          <a:p>
            <a:pPr indent="0" marL="0">
              <a:buNone/>
            </a:pPr>
            <a:r>
              <a:rPr lang="en-US" sz="3200" b="1" dirty="0">
                <a:solidFill>
                  <a:srgbClr val="1B4332"/>
                </a:solidFill>
                <a:latin typeface="Cambria" pitchFamily="34" charset="0"/>
                <a:ea typeface="Cambria" pitchFamily="34" charset="-122"/>
                <a:cs typeface="Cambria" pitchFamily="34" charset="-120"/>
              </a:rPr>
              <a:t>The Problem</a:t>
            </a:r>
            <a:endParaRPr lang="en-US" sz="3200" dirty="0"/>
          </a:p>
        </p:txBody>
      </p:sp>
      <p:sp>
        <p:nvSpPr>
          <p:cNvPr id="3" name="Text 1"/>
          <p:cNvSpPr txBox="1"/>
          <p:nvPr/>
        </p:nvSpPr>
        <p:spPr>
          <a:xfrm>
            <a:off x="548640" y="1143000"/>
            <a:ext cx="6309360" cy="914400"/>
          </a:xfrm>
          <a:prstGeom prst="rect">
            <a:avLst/>
          </a:prstGeom>
          <a:noFill/>
          <a:ln/>
        </p:spPr>
        <p:txBody>
          <a:bodyPr wrap="square" rtlCol="0" anchor="t"/>
          <a:lstStyle/>
          <a:p>
            <a:pPr indent="0" marL="0">
              <a:buNone/>
            </a:pPr>
            <a:r>
              <a:rPr lang="en-US" sz="1400" dirty="0">
                <a:solidFill>
                  <a:srgbClr val="1B2E28"/>
                </a:solidFill>
                <a:latin typeface="Calibri" pitchFamily="34" charset="0"/>
                <a:ea typeface="Calibri" pitchFamily="34" charset="-122"/>
                <a:cs typeface="Calibri" pitchFamily="34" charset="-120"/>
              </a:rPr>
              <a:t>Renewable energy such as solar power is clean, but efficient utilization can be difficult when generation and consumption vary throughout the day.</a:t>
            </a:r>
            <a:endParaRPr lang="en-US" sz="1400" dirty="0"/>
          </a:p>
        </p:txBody>
      </p:sp>
      <p:sp>
        <p:nvSpPr>
          <p:cNvPr id="4" name="Text 2"/>
          <p:cNvSpPr txBox="1"/>
          <p:nvPr/>
        </p:nvSpPr>
        <p:spPr>
          <a:xfrm>
            <a:off x="548640" y="2057400"/>
            <a:ext cx="4572000" cy="365760"/>
          </a:xfrm>
          <a:prstGeom prst="rect">
            <a:avLst/>
          </a:prstGeom>
          <a:noFill/>
          <a:ln/>
        </p:spPr>
        <p:txBody>
          <a:bodyPr wrap="square" rtlCol="0" anchor="ctr"/>
          <a:lstStyle/>
          <a:p>
            <a:pPr indent="0" marL="0">
              <a:buNone/>
            </a:pPr>
            <a:r>
              <a:rPr lang="en-US" sz="1600" b="1" dirty="0">
                <a:solidFill>
                  <a:srgbClr val="40916C"/>
                </a:solidFill>
                <a:latin typeface="Cambria" pitchFamily="34" charset="0"/>
                <a:ea typeface="Cambria" pitchFamily="34" charset="-122"/>
                <a:cs typeface="Cambria" pitchFamily="34" charset="-120"/>
              </a:rPr>
              <a:t>Key Problems</a:t>
            </a:r>
            <a:endParaRPr lang="en-US" sz="1600" dirty="0"/>
          </a:p>
        </p:txBody>
      </p:sp>
      <p:sp>
        <p:nvSpPr>
          <p:cNvPr id="5" name="Text 3"/>
          <p:cNvSpPr txBox="1"/>
          <p:nvPr/>
        </p:nvSpPr>
        <p:spPr>
          <a:xfrm>
            <a:off x="548640" y="2468880"/>
            <a:ext cx="6309360" cy="29260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B2E28"/>
                </a:solidFill>
                <a:latin typeface="Calibri" pitchFamily="34" charset="0"/>
                <a:ea typeface="Calibri" pitchFamily="34" charset="-122"/>
                <a:cs typeface="Calibri" pitchFamily="34" charset="-120"/>
              </a:rPr>
              <a:t>Solar generation changes with time and weather</a:t>
            </a:r>
            <a:endParaRPr lang="en-US" sz="1400" dirty="0"/>
          </a:p>
          <a:p>
            <a:pPr marL="177800" indent="-177800">
              <a:spcAft>
                <a:spcPts val="800"/>
              </a:spcAft>
              <a:buSzPct val="100000"/>
              <a:buChar char="•"/>
            </a:pPr>
            <a:r>
              <a:rPr lang="en-US" sz="1400" dirty="0">
                <a:solidFill>
                  <a:srgbClr val="1B2E28"/>
                </a:solidFill>
                <a:latin typeface="Calibri" pitchFamily="34" charset="0"/>
                <a:ea typeface="Calibri" pitchFamily="34" charset="-122"/>
                <a:cs typeface="Calibri" pitchFamily="34" charset="-120"/>
              </a:rPr>
              <a:t>Electricity demand also changes throughout the day</a:t>
            </a:r>
            <a:endParaRPr lang="en-US" sz="1400" dirty="0"/>
          </a:p>
          <a:p>
            <a:pPr marL="177800" indent="-177800">
              <a:spcAft>
                <a:spcPts val="800"/>
              </a:spcAft>
              <a:buSzPct val="100000"/>
              <a:buChar char="•"/>
            </a:pPr>
            <a:r>
              <a:rPr lang="en-US" sz="1400" dirty="0">
                <a:solidFill>
                  <a:srgbClr val="1B2E28"/>
                </a:solidFill>
                <a:latin typeface="Calibri" pitchFamily="34" charset="0"/>
                <a:ea typeface="Calibri" pitchFamily="34" charset="-122"/>
                <a:cs typeface="Calibri" pitchFamily="34" charset="-120"/>
              </a:rPr>
              <a:t>Renewable energy may be available when demand is low</a:t>
            </a:r>
            <a:endParaRPr lang="en-US" sz="1400" dirty="0"/>
          </a:p>
          <a:p>
            <a:pPr marL="177800" indent="-177800">
              <a:spcAft>
                <a:spcPts val="800"/>
              </a:spcAft>
              <a:buSzPct val="100000"/>
              <a:buChar char="•"/>
            </a:pPr>
            <a:r>
              <a:rPr lang="en-US" sz="1400" dirty="0">
                <a:solidFill>
                  <a:srgbClr val="1B2E28"/>
                </a:solidFill>
                <a:latin typeface="Calibri" pitchFamily="34" charset="0"/>
                <a:ea typeface="Calibri" pitchFamily="34" charset="-122"/>
                <a:cs typeface="Calibri" pitchFamily="34" charset="-120"/>
              </a:rPr>
              <a:t>High demand may occur when renewable generation is low</a:t>
            </a:r>
            <a:endParaRPr lang="en-US" sz="1400" dirty="0"/>
          </a:p>
          <a:p>
            <a:pPr marL="177800" indent="-177800">
              <a:spcAft>
                <a:spcPts val="800"/>
              </a:spcAft>
              <a:buSzPct val="100000"/>
              <a:buChar char="•"/>
            </a:pPr>
            <a:r>
              <a:rPr lang="en-US" sz="1400" dirty="0">
                <a:solidFill>
                  <a:srgbClr val="1B2E28"/>
                </a:solidFill>
                <a:latin typeface="Calibri" pitchFamily="34" charset="0"/>
                <a:ea typeface="Calibri" pitchFamily="34" charset="-122"/>
                <a:cs typeface="Calibri" pitchFamily="34" charset="-120"/>
              </a:rPr>
              <a:t>Manual monitoring makes timely decisions difficult</a:t>
            </a:r>
            <a:endParaRPr lang="en-US" sz="1400" dirty="0"/>
          </a:p>
          <a:p>
            <a:pPr marL="177800" indent="-177800">
              <a:spcAft>
                <a:spcPts val="800"/>
              </a:spcAft>
              <a:buSzPct val="100000"/>
              <a:buChar char="•"/>
            </a:pPr>
            <a:r>
              <a:rPr lang="en-US" sz="1400" dirty="0">
                <a:solidFill>
                  <a:srgbClr val="1B2E28"/>
                </a:solidFill>
                <a:latin typeface="Calibri" pitchFamily="34" charset="0"/>
                <a:ea typeface="Calibri" pitchFamily="34" charset="-122"/>
                <a:cs typeface="Calibri" pitchFamily="34" charset="-120"/>
              </a:rPr>
              <a:t>Users need understandable recommendations, not raw data</a:t>
            </a:r>
            <a:endParaRPr lang="en-US" sz="1400" dirty="0"/>
          </a:p>
        </p:txBody>
      </p:sp>
      <p:sp>
        <p:nvSpPr>
          <p:cNvPr id="6" name="Shape 4"/>
          <p:cNvSpPr/>
          <p:nvPr/>
        </p:nvSpPr>
        <p:spPr>
          <a:xfrm>
            <a:off x="7178040" y="1143000"/>
            <a:ext cx="4434840" cy="4389120"/>
          </a:xfrm>
          <a:prstGeom prst="roundRect">
            <a:avLst>
              <a:gd name="adj" fmla="val 1667"/>
            </a:avLst>
          </a:prstGeom>
          <a:solidFill>
            <a:srgbClr val="F6EFDD"/>
          </a:solidFill>
          <a:ln/>
        </p:spPr>
      </p:sp>
      <p:sp>
        <p:nvSpPr>
          <p:cNvPr id="7" name="Shape 5"/>
          <p:cNvSpPr/>
          <p:nvPr/>
        </p:nvSpPr>
        <p:spPr>
          <a:xfrm>
            <a:off x="7498080" y="1417320"/>
            <a:ext cx="640080" cy="640080"/>
          </a:xfrm>
          <a:prstGeom prst="ellipse">
            <a:avLst/>
          </a:prstGeom>
          <a:solidFill>
            <a:srgbClr val="F4A300"/>
          </a:solidFill>
          <a:ln/>
        </p:spPr>
      </p:sp>
      <p:sp>
        <p:nvSpPr>
          <p:cNvPr id="8" name="Text 6"/>
          <p:cNvSpPr txBox="1"/>
          <p:nvPr/>
        </p:nvSpPr>
        <p:spPr>
          <a:xfrm>
            <a:off x="7498080" y="1417320"/>
            <a:ext cx="640080" cy="640080"/>
          </a:xfrm>
          <a:prstGeom prst="rect">
            <a:avLst/>
          </a:prstGeom>
          <a:noFill/>
          <a:ln/>
        </p:spPr>
        <p:txBody>
          <a:bodyPr wrap="square"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9" name="Text 7"/>
          <p:cNvSpPr txBox="1"/>
          <p:nvPr/>
        </p:nvSpPr>
        <p:spPr>
          <a:xfrm>
            <a:off x="8321040" y="1508760"/>
            <a:ext cx="3108960" cy="457200"/>
          </a:xfrm>
          <a:prstGeom prst="rect">
            <a:avLst/>
          </a:prstGeom>
          <a:noFill/>
          <a:ln/>
        </p:spPr>
        <p:txBody>
          <a:bodyPr wrap="square" rtlCol="0" anchor="ctr"/>
          <a:lstStyle/>
          <a:p>
            <a:pPr indent="0" marL="0">
              <a:buNone/>
            </a:pPr>
            <a:r>
              <a:rPr lang="en-US" sz="1600" b="1" dirty="0">
                <a:solidFill>
                  <a:srgbClr val="1B4332"/>
                </a:solidFill>
                <a:latin typeface="Cambria" pitchFamily="34" charset="0"/>
                <a:ea typeface="Cambria" pitchFamily="34" charset="-122"/>
                <a:cs typeface="Cambria" pitchFamily="34" charset="-120"/>
              </a:rPr>
              <a:t>Problem Statement</a:t>
            </a:r>
            <a:endParaRPr lang="en-US" sz="1600" dirty="0"/>
          </a:p>
        </p:txBody>
      </p:sp>
      <p:sp>
        <p:nvSpPr>
          <p:cNvPr id="10" name="Text 8"/>
          <p:cNvSpPr txBox="1"/>
          <p:nvPr/>
        </p:nvSpPr>
        <p:spPr>
          <a:xfrm>
            <a:off x="7498080" y="2286000"/>
            <a:ext cx="3794760" cy="1737360"/>
          </a:xfrm>
          <a:prstGeom prst="rect">
            <a:avLst/>
          </a:prstGeom>
          <a:noFill/>
          <a:ln/>
        </p:spPr>
        <p:txBody>
          <a:bodyPr wrap="square" rtlCol="0" anchor="t"/>
          <a:lstStyle/>
          <a:p>
            <a:pPr indent="0" marL="0">
              <a:buNone/>
            </a:pPr>
            <a:r>
              <a:rPr lang="en-US" sz="1500" i="1" dirty="0">
                <a:solidFill>
                  <a:srgbClr val="1B2E28"/>
                </a:solidFill>
                <a:latin typeface="Cambria" pitchFamily="34" charset="0"/>
                <a:ea typeface="Cambria" pitchFamily="34" charset="-122"/>
                <a:cs typeface="Cambria" pitchFamily="34" charset="-120"/>
              </a:rPr>
              <a:t>How might we use AI to optimize renewable-energy utilization and provide intelligent energy recommendations so energy consumption becomes more sustainable?</a:t>
            </a:r>
            <a:endParaRPr lang="en-US" sz="1500" dirty="0"/>
          </a:p>
        </p:txBody>
      </p:sp>
      <p:sp>
        <p:nvSpPr>
          <p:cNvPr id="11" name="Shape 9"/>
          <p:cNvSpPr/>
          <p:nvPr/>
        </p:nvSpPr>
        <p:spPr>
          <a:xfrm>
            <a:off x="7498080" y="4160520"/>
            <a:ext cx="3794760" cy="0"/>
          </a:xfrm>
          <a:prstGeom prst="line">
            <a:avLst/>
          </a:prstGeom>
          <a:noFill/>
          <a:ln w="12700">
            <a:solidFill>
              <a:srgbClr val="40916C"/>
            </a:solidFill>
            <a:prstDash val="solid"/>
          </a:ln>
        </p:spPr>
      </p:sp>
      <p:sp>
        <p:nvSpPr>
          <p:cNvPr id="12" name="Text 10"/>
          <p:cNvSpPr txBox="1"/>
          <p:nvPr/>
        </p:nvSpPr>
        <p:spPr>
          <a:xfrm>
            <a:off x="7498080" y="4343400"/>
            <a:ext cx="3794760" cy="1005840"/>
          </a:xfrm>
          <a:prstGeom prst="rect">
            <a:avLst/>
          </a:prstGeom>
          <a:noFill/>
          <a:ln/>
        </p:spPr>
        <p:txBody>
          <a:bodyPr wrap="square" rtlCol="0" anchor="t"/>
          <a:lstStyle/>
          <a:p>
            <a:pPr indent="0" marL="0">
              <a:buNone/>
            </a:pPr>
            <a:r>
              <a:rPr lang="en-US" sz="1100" i="1" dirty="0">
                <a:solidFill>
                  <a:srgbClr val="52796F"/>
                </a:solidFill>
                <a:latin typeface="Calibri" pitchFamily="34" charset="0"/>
                <a:ea typeface="Calibri" pitchFamily="34" charset="-122"/>
                <a:cs typeface="Calibri" pitchFamily="34" charset="-120"/>
              </a:rPr>
              <a:t>The internship guideline asks students to identify a real-world problem, the affected users, why AI is needed, and the resulting impact.</a:t>
            </a:r>
            <a:endParaRPr lang="en-US" sz="1100" dirty="0"/>
          </a:p>
        </p:txBody>
      </p:sp>
      <p:sp>
        <p:nvSpPr>
          <p:cNvPr id="13" name="Text 11"/>
          <p:cNvSpPr txBox="1"/>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2796F"/>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rtlCol="0" anchor="ctr"/>
          <a:lstStyle/>
          <a:p>
            <a:pPr indent="0" marL="0">
              <a:buNone/>
            </a:pPr>
            <a:r>
              <a:rPr lang="en-US" sz="3200" b="1" dirty="0">
                <a:solidFill>
                  <a:srgbClr val="1B4332"/>
                </a:solidFill>
                <a:latin typeface="Cambria" pitchFamily="34" charset="0"/>
                <a:ea typeface="Cambria" pitchFamily="34" charset="-122"/>
                <a:cs typeface="Cambria" pitchFamily="34" charset="-120"/>
              </a:rPr>
              <a:t>Our Solution — Introducing RenewAI</a:t>
            </a:r>
            <a:endParaRPr lang="en-US" sz="3200" dirty="0"/>
          </a:p>
        </p:txBody>
      </p:sp>
      <p:sp>
        <p:nvSpPr>
          <p:cNvPr id="3" name="Text 1"/>
          <p:cNvSpPr txBox="1"/>
          <p:nvPr/>
        </p:nvSpPr>
        <p:spPr>
          <a:xfrm>
            <a:off x="548640" y="1097280"/>
            <a:ext cx="11064240" cy="548640"/>
          </a:xfrm>
          <a:prstGeom prst="rect">
            <a:avLst/>
          </a:prstGeom>
          <a:noFill/>
          <a:ln/>
        </p:spPr>
        <p:txBody>
          <a:bodyPr wrap="square" rtlCol="0" anchor="ctr"/>
          <a:lstStyle/>
          <a:p>
            <a:pPr indent="0" marL="0">
              <a:buNone/>
            </a:pPr>
            <a:r>
              <a:rPr lang="en-US" sz="1400" dirty="0">
                <a:solidFill>
                  <a:srgbClr val="1B2E28"/>
                </a:solidFill>
                <a:latin typeface="Calibri" pitchFamily="34" charset="0"/>
                <a:ea typeface="Calibri" pitchFamily="34" charset="-122"/>
                <a:cs typeface="Calibri" pitchFamily="34" charset="-120"/>
              </a:rPr>
              <a:t>RenewAI is an AI-powered decision-support system designed to help educational institutions understand and optimize renewable-energy usage.</a:t>
            </a:r>
            <a:endParaRPr lang="en-US" sz="1400" dirty="0"/>
          </a:p>
        </p:txBody>
      </p:sp>
      <p:sp>
        <p:nvSpPr>
          <p:cNvPr id="4" name="Shape 2"/>
          <p:cNvSpPr/>
          <p:nvPr/>
        </p:nvSpPr>
        <p:spPr>
          <a:xfrm>
            <a:off x="548640" y="1828800"/>
            <a:ext cx="2514600" cy="822960"/>
          </a:xfrm>
          <a:prstGeom prst="roundRect">
            <a:avLst>
              <a:gd name="adj" fmla="val 8889"/>
            </a:avLst>
          </a:prstGeom>
          <a:solidFill>
            <a:srgbClr val="1B4332"/>
          </a:solidFill>
          <a:ln/>
        </p:spPr>
      </p:sp>
      <p:sp>
        <p:nvSpPr>
          <p:cNvPr id="5" name="Text 3"/>
          <p:cNvSpPr txBox="1"/>
          <p:nvPr/>
        </p:nvSpPr>
        <p:spPr>
          <a:xfrm>
            <a:off x="548640" y="1828800"/>
            <a:ext cx="2514600" cy="82296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Collects</a:t>
            </a:r>
            <a:endParaRPr lang="en-US" sz="1800" dirty="0"/>
          </a:p>
        </p:txBody>
      </p:sp>
      <p:sp>
        <p:nvSpPr>
          <p:cNvPr id="6" name="Text 4"/>
          <p:cNvSpPr txBox="1"/>
          <p:nvPr/>
        </p:nvSpPr>
        <p:spPr>
          <a:xfrm>
            <a:off x="3063240" y="1828800"/>
            <a:ext cx="320040" cy="822960"/>
          </a:xfrm>
          <a:prstGeom prst="rect">
            <a:avLst/>
          </a:prstGeom>
          <a:noFill/>
          <a:ln/>
        </p:spPr>
        <p:txBody>
          <a:bodyPr wrap="square" rtlCol="0" anchor="ctr"/>
          <a:lstStyle/>
          <a:p>
            <a:pPr algn="ctr" indent="0" marL="0">
              <a:buNone/>
            </a:pPr>
            <a:r>
              <a:rPr lang="en-US" sz="2000" b="1" dirty="0">
                <a:solidFill>
                  <a:srgbClr val="F4A300"/>
                </a:solidFill>
              </a:rPr>
              <a:t>→</a:t>
            </a:r>
            <a:endParaRPr lang="en-US" sz="2000" dirty="0"/>
          </a:p>
        </p:txBody>
      </p:sp>
      <p:sp>
        <p:nvSpPr>
          <p:cNvPr id="7" name="Shape 5"/>
          <p:cNvSpPr/>
          <p:nvPr/>
        </p:nvSpPr>
        <p:spPr>
          <a:xfrm>
            <a:off x="3383280" y="1828800"/>
            <a:ext cx="2514600" cy="822960"/>
          </a:xfrm>
          <a:prstGeom prst="roundRect">
            <a:avLst>
              <a:gd name="adj" fmla="val 8889"/>
            </a:avLst>
          </a:prstGeom>
          <a:solidFill>
            <a:srgbClr val="40916C"/>
          </a:solidFill>
          <a:ln/>
        </p:spPr>
      </p:sp>
      <p:sp>
        <p:nvSpPr>
          <p:cNvPr id="8" name="Text 6"/>
          <p:cNvSpPr txBox="1"/>
          <p:nvPr/>
        </p:nvSpPr>
        <p:spPr>
          <a:xfrm>
            <a:off x="3383280" y="1828800"/>
            <a:ext cx="2514600" cy="82296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Analyses</a:t>
            </a:r>
            <a:endParaRPr lang="en-US" sz="1800" dirty="0"/>
          </a:p>
        </p:txBody>
      </p:sp>
      <p:sp>
        <p:nvSpPr>
          <p:cNvPr id="9" name="Text 7"/>
          <p:cNvSpPr txBox="1"/>
          <p:nvPr/>
        </p:nvSpPr>
        <p:spPr>
          <a:xfrm>
            <a:off x="5897880" y="1828800"/>
            <a:ext cx="320040" cy="822960"/>
          </a:xfrm>
          <a:prstGeom prst="rect">
            <a:avLst/>
          </a:prstGeom>
          <a:noFill/>
          <a:ln/>
        </p:spPr>
        <p:txBody>
          <a:bodyPr wrap="square" rtlCol="0" anchor="ctr"/>
          <a:lstStyle/>
          <a:p>
            <a:pPr algn="ctr" indent="0" marL="0">
              <a:buNone/>
            </a:pPr>
            <a:r>
              <a:rPr lang="en-US" sz="2000" b="1" dirty="0">
                <a:solidFill>
                  <a:srgbClr val="F4A300"/>
                </a:solidFill>
              </a:rPr>
              <a:t>→</a:t>
            </a:r>
            <a:endParaRPr lang="en-US" sz="2000" dirty="0"/>
          </a:p>
        </p:txBody>
      </p:sp>
      <p:sp>
        <p:nvSpPr>
          <p:cNvPr id="10" name="Shape 8"/>
          <p:cNvSpPr/>
          <p:nvPr/>
        </p:nvSpPr>
        <p:spPr>
          <a:xfrm>
            <a:off x="6217920" y="1828800"/>
            <a:ext cx="2514600" cy="822960"/>
          </a:xfrm>
          <a:prstGeom prst="roundRect">
            <a:avLst>
              <a:gd name="adj" fmla="val 8889"/>
            </a:avLst>
          </a:prstGeom>
          <a:solidFill>
            <a:srgbClr val="1B4332"/>
          </a:solidFill>
          <a:ln/>
        </p:spPr>
      </p:sp>
      <p:sp>
        <p:nvSpPr>
          <p:cNvPr id="11" name="Text 9"/>
          <p:cNvSpPr txBox="1"/>
          <p:nvPr/>
        </p:nvSpPr>
        <p:spPr>
          <a:xfrm>
            <a:off x="6217920" y="1828800"/>
            <a:ext cx="2514600" cy="82296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Predicts</a:t>
            </a:r>
            <a:endParaRPr lang="en-US" sz="1800" dirty="0"/>
          </a:p>
        </p:txBody>
      </p:sp>
      <p:sp>
        <p:nvSpPr>
          <p:cNvPr id="12" name="Text 10"/>
          <p:cNvSpPr txBox="1"/>
          <p:nvPr/>
        </p:nvSpPr>
        <p:spPr>
          <a:xfrm>
            <a:off x="8732520" y="1828800"/>
            <a:ext cx="320040" cy="822960"/>
          </a:xfrm>
          <a:prstGeom prst="rect">
            <a:avLst/>
          </a:prstGeom>
          <a:noFill/>
          <a:ln/>
        </p:spPr>
        <p:txBody>
          <a:bodyPr wrap="square" rtlCol="0" anchor="ctr"/>
          <a:lstStyle/>
          <a:p>
            <a:pPr algn="ctr" indent="0" marL="0">
              <a:buNone/>
            </a:pPr>
            <a:r>
              <a:rPr lang="en-US" sz="2000" b="1" dirty="0">
                <a:solidFill>
                  <a:srgbClr val="F4A300"/>
                </a:solidFill>
              </a:rPr>
              <a:t>→</a:t>
            </a:r>
            <a:endParaRPr lang="en-US" sz="2000" dirty="0"/>
          </a:p>
        </p:txBody>
      </p:sp>
      <p:sp>
        <p:nvSpPr>
          <p:cNvPr id="13" name="Shape 11"/>
          <p:cNvSpPr/>
          <p:nvPr/>
        </p:nvSpPr>
        <p:spPr>
          <a:xfrm>
            <a:off x="9052560" y="1828800"/>
            <a:ext cx="2514600" cy="822960"/>
          </a:xfrm>
          <a:prstGeom prst="roundRect">
            <a:avLst>
              <a:gd name="adj" fmla="val 8889"/>
            </a:avLst>
          </a:prstGeom>
          <a:solidFill>
            <a:srgbClr val="40916C"/>
          </a:solidFill>
          <a:ln/>
        </p:spPr>
      </p:sp>
      <p:sp>
        <p:nvSpPr>
          <p:cNvPr id="14" name="Text 12"/>
          <p:cNvSpPr txBox="1"/>
          <p:nvPr/>
        </p:nvSpPr>
        <p:spPr>
          <a:xfrm>
            <a:off x="9052560" y="1828800"/>
            <a:ext cx="2514600" cy="82296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Recommends</a:t>
            </a:r>
            <a:endParaRPr lang="en-US" sz="1800" dirty="0"/>
          </a:p>
        </p:txBody>
      </p:sp>
      <p:sp>
        <p:nvSpPr>
          <p:cNvPr id="15" name="Shape 13"/>
          <p:cNvSpPr/>
          <p:nvPr/>
        </p:nvSpPr>
        <p:spPr>
          <a:xfrm>
            <a:off x="548640" y="2926080"/>
            <a:ext cx="5440680" cy="3063240"/>
          </a:xfrm>
          <a:prstGeom prst="roundRect">
            <a:avLst>
              <a:gd name="adj" fmla="val 2388"/>
            </a:avLst>
          </a:prstGeom>
          <a:solidFill>
            <a:srgbClr val="EAF4EC"/>
          </a:solidFill>
          <a:ln/>
        </p:spPr>
      </p:sp>
      <p:sp>
        <p:nvSpPr>
          <p:cNvPr id="16" name="Shape 14"/>
          <p:cNvSpPr/>
          <p:nvPr/>
        </p:nvSpPr>
        <p:spPr>
          <a:xfrm>
            <a:off x="822960" y="3154680"/>
            <a:ext cx="502920" cy="502920"/>
          </a:xfrm>
          <a:prstGeom prst="ellipse">
            <a:avLst/>
          </a:prstGeom>
          <a:solidFill>
            <a:srgbClr val="40916C"/>
          </a:solidFill>
          <a:ln/>
        </p:spPr>
      </p:sp>
      <p:sp>
        <p:nvSpPr>
          <p:cNvPr id="17" name="Text 15"/>
          <p:cNvSpPr txBox="1"/>
          <p:nvPr/>
        </p:nvSpPr>
        <p:spPr>
          <a:xfrm>
            <a:off x="822960" y="3154680"/>
            <a:ext cx="502920" cy="50292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8" name="Text 16"/>
          <p:cNvSpPr txBox="1"/>
          <p:nvPr/>
        </p:nvSpPr>
        <p:spPr>
          <a:xfrm>
            <a:off x="1463040" y="3200400"/>
            <a:ext cx="3657600" cy="411480"/>
          </a:xfrm>
          <a:prstGeom prst="rect">
            <a:avLst/>
          </a:prstGeom>
          <a:noFill/>
          <a:ln/>
        </p:spPr>
        <p:txBody>
          <a:bodyPr wrap="square" rtlCol="0" anchor="ctr"/>
          <a:lstStyle/>
          <a:p>
            <a:pPr indent="0" marL="0">
              <a:buNone/>
            </a:pPr>
            <a:r>
              <a:rPr lang="en-US" sz="1600" b="1" dirty="0">
                <a:solidFill>
                  <a:srgbClr val="1B4332"/>
                </a:solidFill>
                <a:latin typeface="Cambria" pitchFamily="34" charset="0"/>
                <a:ea typeface="Cambria" pitchFamily="34" charset="-122"/>
                <a:cs typeface="Cambria" pitchFamily="34" charset="-120"/>
              </a:rPr>
              <a:t>It analyses</a:t>
            </a:r>
            <a:endParaRPr lang="en-US" sz="1600" dirty="0"/>
          </a:p>
        </p:txBody>
      </p:sp>
      <p:sp>
        <p:nvSpPr>
          <p:cNvPr id="19" name="Text 17"/>
          <p:cNvSpPr txBox="1"/>
          <p:nvPr/>
        </p:nvSpPr>
        <p:spPr>
          <a:xfrm>
            <a:off x="822960" y="3749040"/>
            <a:ext cx="4892040" cy="21031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E28"/>
                </a:solidFill>
                <a:latin typeface="Calibri" pitchFamily="34" charset="0"/>
                <a:ea typeface="Calibri" pitchFamily="34" charset="-122"/>
                <a:cs typeface="Calibri" pitchFamily="34" charset="-120"/>
              </a:rPr>
              <a:t>Solar energy generation</a:t>
            </a:r>
            <a:endParaRPr lang="en-US" sz="1300" dirty="0"/>
          </a:p>
          <a:p>
            <a:pPr marL="177800" indent="-177800">
              <a:spcAft>
                <a:spcPts val="800"/>
              </a:spcAft>
              <a:buSzPct val="100000"/>
              <a:buChar char="•"/>
            </a:pPr>
            <a:r>
              <a:rPr lang="en-US" sz="1300" dirty="0">
                <a:solidFill>
                  <a:srgbClr val="1B2E28"/>
                </a:solidFill>
                <a:latin typeface="Calibri" pitchFamily="34" charset="0"/>
                <a:ea typeface="Calibri" pitchFamily="34" charset="-122"/>
                <a:cs typeface="Calibri" pitchFamily="34" charset="-120"/>
              </a:rPr>
              <a:t>Electricity consumption</a:t>
            </a:r>
            <a:endParaRPr lang="en-US" sz="1300" dirty="0"/>
          </a:p>
          <a:p>
            <a:pPr marL="177800" indent="-177800">
              <a:spcAft>
                <a:spcPts val="800"/>
              </a:spcAft>
              <a:buSzPct val="100000"/>
              <a:buChar char="•"/>
            </a:pPr>
            <a:r>
              <a:rPr lang="en-US" sz="1300" dirty="0">
                <a:solidFill>
                  <a:srgbClr val="1B2E28"/>
                </a:solidFill>
                <a:latin typeface="Calibri" pitchFamily="34" charset="0"/>
                <a:ea typeface="Calibri" pitchFamily="34" charset="-122"/>
                <a:cs typeface="Calibri" pitchFamily="34" charset="-120"/>
              </a:rPr>
              <a:t>Time of day</a:t>
            </a:r>
            <a:endParaRPr lang="en-US" sz="1300" dirty="0"/>
          </a:p>
          <a:p>
            <a:pPr marL="177800" indent="-177800">
              <a:spcAft>
                <a:spcPts val="800"/>
              </a:spcAft>
              <a:buSzPct val="100000"/>
              <a:buChar char="•"/>
            </a:pPr>
            <a:r>
              <a:rPr lang="en-US" sz="1300" dirty="0">
                <a:solidFill>
                  <a:srgbClr val="1B2E28"/>
                </a:solidFill>
                <a:latin typeface="Calibri" pitchFamily="34" charset="0"/>
                <a:ea typeface="Calibri" pitchFamily="34" charset="-122"/>
                <a:cs typeface="Calibri" pitchFamily="34" charset="-120"/>
              </a:rPr>
              <a:t>Weather conditions</a:t>
            </a:r>
            <a:endParaRPr lang="en-US" sz="1300" dirty="0"/>
          </a:p>
          <a:p>
            <a:pPr marL="177800" indent="-177800">
              <a:spcAft>
                <a:spcPts val="800"/>
              </a:spcAft>
              <a:buSzPct val="100000"/>
              <a:buChar char="•"/>
            </a:pPr>
            <a:r>
              <a:rPr lang="en-US" sz="1300" dirty="0">
                <a:solidFill>
                  <a:srgbClr val="1B2E28"/>
                </a:solidFill>
                <a:latin typeface="Calibri" pitchFamily="34" charset="0"/>
                <a:ea typeface="Calibri" pitchFamily="34" charset="-122"/>
                <a:cs typeface="Calibri" pitchFamily="34" charset="-120"/>
              </a:rPr>
              <a:t>Battery / storage status</a:t>
            </a:r>
            <a:endParaRPr lang="en-US" sz="1300" dirty="0"/>
          </a:p>
          <a:p>
            <a:pPr marL="177800" indent="-177800">
              <a:spcAft>
                <a:spcPts val="800"/>
              </a:spcAft>
              <a:buSzPct val="100000"/>
              <a:buChar char="•"/>
            </a:pPr>
            <a:r>
              <a:rPr lang="en-US" sz="1300" dirty="0">
                <a:solidFill>
                  <a:srgbClr val="1B2E28"/>
                </a:solidFill>
                <a:latin typeface="Calibri" pitchFamily="34" charset="0"/>
                <a:ea typeface="Calibri" pitchFamily="34" charset="-122"/>
                <a:cs typeface="Calibri" pitchFamily="34" charset="-120"/>
              </a:rPr>
              <a:t>Flexible energy loads</a:t>
            </a:r>
            <a:endParaRPr lang="en-US" sz="1300" dirty="0"/>
          </a:p>
        </p:txBody>
      </p:sp>
      <p:sp>
        <p:nvSpPr>
          <p:cNvPr id="20" name="Shape 18"/>
          <p:cNvSpPr/>
          <p:nvPr/>
        </p:nvSpPr>
        <p:spPr>
          <a:xfrm>
            <a:off x="6172200" y="2926080"/>
            <a:ext cx="5440680" cy="3063240"/>
          </a:xfrm>
          <a:prstGeom prst="roundRect">
            <a:avLst>
              <a:gd name="adj" fmla="val 2388"/>
            </a:avLst>
          </a:prstGeom>
          <a:solidFill>
            <a:srgbClr val="F6EFDD"/>
          </a:solidFill>
          <a:ln/>
        </p:spPr>
      </p:sp>
      <p:sp>
        <p:nvSpPr>
          <p:cNvPr id="21" name="Shape 19"/>
          <p:cNvSpPr/>
          <p:nvPr/>
        </p:nvSpPr>
        <p:spPr>
          <a:xfrm>
            <a:off x="6446520" y="3154680"/>
            <a:ext cx="502920" cy="502920"/>
          </a:xfrm>
          <a:prstGeom prst="ellipse">
            <a:avLst/>
          </a:prstGeom>
          <a:solidFill>
            <a:srgbClr val="F4A300"/>
          </a:solidFill>
          <a:ln/>
        </p:spPr>
      </p:sp>
      <p:sp>
        <p:nvSpPr>
          <p:cNvPr id="22" name="Text 20"/>
          <p:cNvSpPr txBox="1"/>
          <p:nvPr/>
        </p:nvSpPr>
        <p:spPr>
          <a:xfrm>
            <a:off x="6446520" y="3154680"/>
            <a:ext cx="502920" cy="50292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3" name="Text 21"/>
          <p:cNvSpPr txBox="1"/>
          <p:nvPr/>
        </p:nvSpPr>
        <p:spPr>
          <a:xfrm>
            <a:off x="7086600" y="3200400"/>
            <a:ext cx="3657600" cy="411480"/>
          </a:xfrm>
          <a:prstGeom prst="rect">
            <a:avLst/>
          </a:prstGeom>
          <a:noFill/>
          <a:ln/>
        </p:spPr>
        <p:txBody>
          <a:bodyPr wrap="square" rtlCol="0" anchor="ctr"/>
          <a:lstStyle/>
          <a:p>
            <a:pPr indent="0" marL="0">
              <a:buNone/>
            </a:pPr>
            <a:r>
              <a:rPr lang="en-US" sz="1600" b="1" dirty="0">
                <a:solidFill>
                  <a:srgbClr val="1B4332"/>
                </a:solidFill>
                <a:latin typeface="Cambria" pitchFamily="34" charset="0"/>
                <a:ea typeface="Cambria" pitchFamily="34" charset="-122"/>
                <a:cs typeface="Cambria" pitchFamily="34" charset="-120"/>
              </a:rPr>
              <a:t>It provides</a:t>
            </a:r>
            <a:endParaRPr lang="en-US" sz="1600" dirty="0"/>
          </a:p>
        </p:txBody>
      </p:sp>
      <p:sp>
        <p:nvSpPr>
          <p:cNvPr id="24" name="Text 22"/>
          <p:cNvSpPr txBox="1"/>
          <p:nvPr/>
        </p:nvSpPr>
        <p:spPr>
          <a:xfrm>
            <a:off x="6446520" y="3749040"/>
            <a:ext cx="4892040" cy="21031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E28"/>
                </a:solidFill>
                <a:latin typeface="Calibri" pitchFamily="34" charset="0"/>
                <a:ea typeface="Calibri" pitchFamily="34" charset="-122"/>
                <a:cs typeface="Calibri" pitchFamily="34" charset="-120"/>
              </a:rPr>
              <a:t>Energy insights</a:t>
            </a:r>
            <a:endParaRPr lang="en-US" sz="1300" dirty="0"/>
          </a:p>
          <a:p>
            <a:pPr marL="177800" indent="-177800">
              <a:spcAft>
                <a:spcPts val="800"/>
              </a:spcAft>
              <a:buSzPct val="100000"/>
              <a:buChar char="•"/>
            </a:pPr>
            <a:r>
              <a:rPr lang="en-US" sz="1300" dirty="0">
                <a:solidFill>
                  <a:srgbClr val="1B2E28"/>
                </a:solidFill>
                <a:latin typeface="Calibri" pitchFamily="34" charset="0"/>
                <a:ea typeface="Calibri" pitchFamily="34" charset="-122"/>
                <a:cs typeface="Calibri" pitchFamily="34" charset="-120"/>
              </a:rPr>
              <a:t>Generation and consumption forecasts</a:t>
            </a:r>
            <a:endParaRPr lang="en-US" sz="1300" dirty="0"/>
          </a:p>
          <a:p>
            <a:pPr marL="177800" indent="-177800">
              <a:spcAft>
                <a:spcPts val="800"/>
              </a:spcAft>
              <a:buSzPct val="100000"/>
              <a:buChar char="•"/>
            </a:pPr>
            <a:r>
              <a:rPr lang="en-US" sz="1300" dirty="0">
                <a:solidFill>
                  <a:srgbClr val="1B2E28"/>
                </a:solidFill>
                <a:latin typeface="Calibri" pitchFamily="34" charset="0"/>
                <a:ea typeface="Calibri" pitchFamily="34" charset="-122"/>
                <a:cs typeface="Calibri" pitchFamily="34" charset="-120"/>
              </a:rPr>
              <a:t>Surplus / deficit detection</a:t>
            </a:r>
            <a:endParaRPr lang="en-US" sz="1300" dirty="0"/>
          </a:p>
          <a:p>
            <a:pPr marL="177800" indent="-177800">
              <a:spcAft>
                <a:spcPts val="800"/>
              </a:spcAft>
              <a:buSzPct val="100000"/>
              <a:buChar char="•"/>
            </a:pPr>
            <a:r>
              <a:rPr lang="en-US" sz="1300" dirty="0">
                <a:solidFill>
                  <a:srgbClr val="1B2E28"/>
                </a:solidFill>
                <a:latin typeface="Calibri" pitchFamily="34" charset="0"/>
                <a:ea typeface="Calibri" pitchFamily="34" charset="-122"/>
                <a:cs typeface="Calibri" pitchFamily="34" charset="-120"/>
              </a:rPr>
              <a:t>Energy optimization recommendations</a:t>
            </a:r>
            <a:endParaRPr lang="en-US" sz="1300" dirty="0"/>
          </a:p>
          <a:p>
            <a:pPr marL="177800" indent="-177800">
              <a:spcAft>
                <a:spcPts val="800"/>
              </a:spcAft>
              <a:buSzPct val="100000"/>
              <a:buChar char="•"/>
            </a:pPr>
            <a:r>
              <a:rPr lang="en-US" sz="1300" dirty="0">
                <a:solidFill>
                  <a:srgbClr val="1B2E28"/>
                </a:solidFill>
                <a:latin typeface="Calibri" pitchFamily="34" charset="0"/>
                <a:ea typeface="Calibri" pitchFamily="34" charset="-122"/>
                <a:cs typeface="Calibri" pitchFamily="34" charset="-120"/>
              </a:rPr>
              <a:t>Alerts</a:t>
            </a:r>
            <a:endParaRPr lang="en-US" sz="1300" dirty="0"/>
          </a:p>
          <a:p>
            <a:pPr marL="177800" indent="-177800">
              <a:spcAft>
                <a:spcPts val="800"/>
              </a:spcAft>
              <a:buSzPct val="100000"/>
              <a:buChar char="•"/>
            </a:pPr>
            <a:r>
              <a:rPr lang="en-US" sz="1300" dirty="0">
                <a:solidFill>
                  <a:srgbClr val="1B2E28"/>
                </a:solidFill>
                <a:latin typeface="Calibri" pitchFamily="34" charset="0"/>
                <a:ea typeface="Calibri" pitchFamily="34" charset="-122"/>
                <a:cs typeface="Calibri" pitchFamily="34" charset="-120"/>
              </a:rPr>
              <a:t>Sustainability impact estimates</a:t>
            </a:r>
            <a:endParaRPr lang="en-US" sz="1300" dirty="0"/>
          </a:p>
        </p:txBody>
      </p:sp>
      <p:sp>
        <p:nvSpPr>
          <p:cNvPr id="25" name="Text 23"/>
          <p:cNvSpPr txBox="1"/>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2796F"/>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rtlCol="0" anchor="ctr"/>
          <a:lstStyle/>
          <a:p>
            <a:pPr indent="0" marL="0">
              <a:buNone/>
            </a:pPr>
            <a:r>
              <a:rPr lang="en-US" sz="3200" b="1" dirty="0">
                <a:solidFill>
                  <a:srgbClr val="1B4332"/>
                </a:solidFill>
                <a:latin typeface="Cambria" pitchFamily="34" charset="0"/>
                <a:ea typeface="Cambria" pitchFamily="34" charset="-122"/>
                <a:cs typeface="Cambria" pitchFamily="34" charset="-120"/>
              </a:rPr>
              <a:t>RenewAI Workflow</a:t>
            </a:r>
            <a:endParaRPr lang="en-US" sz="3200" dirty="0"/>
          </a:p>
        </p:txBody>
      </p:sp>
      <p:sp>
        <p:nvSpPr>
          <p:cNvPr id="3" name="Shape 1"/>
          <p:cNvSpPr/>
          <p:nvPr/>
        </p:nvSpPr>
        <p:spPr>
          <a:xfrm>
            <a:off x="548640" y="1143000"/>
            <a:ext cx="10881360" cy="713232"/>
          </a:xfrm>
          <a:prstGeom prst="roundRect">
            <a:avLst>
              <a:gd name="adj" fmla="val 10256"/>
            </a:avLst>
          </a:prstGeom>
          <a:solidFill>
            <a:srgbClr val="EAF4EC"/>
          </a:solidFill>
          <a:ln/>
        </p:spPr>
      </p:sp>
      <p:sp>
        <p:nvSpPr>
          <p:cNvPr id="4" name="Shape 2"/>
          <p:cNvSpPr/>
          <p:nvPr/>
        </p:nvSpPr>
        <p:spPr>
          <a:xfrm>
            <a:off x="685800" y="1271016"/>
            <a:ext cx="457200" cy="457200"/>
          </a:xfrm>
          <a:prstGeom prst="ellipse">
            <a:avLst/>
          </a:prstGeom>
          <a:solidFill>
            <a:srgbClr val="40916C"/>
          </a:solidFill>
          <a:ln/>
        </p:spPr>
      </p:sp>
      <p:sp>
        <p:nvSpPr>
          <p:cNvPr id="5" name="Text 3"/>
          <p:cNvSpPr txBox="1"/>
          <p:nvPr/>
        </p:nvSpPr>
        <p:spPr>
          <a:xfrm>
            <a:off x="685800" y="1271016"/>
            <a:ext cx="457200" cy="45720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371600" y="1143000"/>
            <a:ext cx="2651760" cy="713232"/>
          </a:xfrm>
          <a:prstGeom prst="rect">
            <a:avLst/>
          </a:prstGeom>
          <a:noFill/>
          <a:ln/>
        </p:spPr>
        <p:txBody>
          <a:bodyPr wrap="square" rtlCol="0" anchor="ctr"/>
          <a:lstStyle/>
          <a:p>
            <a:pPr indent="0" marL="0">
              <a:buNone/>
            </a:pPr>
            <a:r>
              <a:rPr lang="en-US" sz="1500" b="1" dirty="0">
                <a:solidFill>
                  <a:srgbClr val="1B4332"/>
                </a:solidFill>
                <a:latin typeface="Cambria" pitchFamily="34" charset="0"/>
                <a:ea typeface="Cambria" pitchFamily="34" charset="-122"/>
                <a:cs typeface="Cambria" pitchFamily="34" charset="-120"/>
              </a:rPr>
              <a:t>Data Collection</a:t>
            </a:r>
            <a:endParaRPr lang="en-US" sz="1500" dirty="0"/>
          </a:p>
        </p:txBody>
      </p:sp>
      <p:sp>
        <p:nvSpPr>
          <p:cNvPr id="7" name="Text 5"/>
          <p:cNvSpPr txBox="1"/>
          <p:nvPr/>
        </p:nvSpPr>
        <p:spPr>
          <a:xfrm>
            <a:off x="4114800" y="1143000"/>
            <a:ext cx="7680960" cy="713232"/>
          </a:xfrm>
          <a:prstGeom prst="rect">
            <a:avLst/>
          </a:prstGeom>
          <a:noFill/>
          <a:ln/>
        </p:spPr>
        <p:txBody>
          <a:bodyPr wrap="square" rtlCol="0" anchor="ctr"/>
          <a:lstStyle/>
          <a:p>
            <a:pPr indent="0" marL="0">
              <a:buNone/>
            </a:pPr>
            <a:r>
              <a:rPr lang="en-US" sz="1250" dirty="0">
                <a:solidFill>
                  <a:srgbClr val="1B2E28"/>
                </a:solidFill>
                <a:latin typeface="Calibri" pitchFamily="34" charset="0"/>
                <a:ea typeface="Calibri" pitchFamily="34" charset="-122"/>
                <a:cs typeface="Calibri" pitchFamily="34" charset="-120"/>
              </a:rPr>
              <a:t>Solar generation, consumption and environmental data are collected.</a:t>
            </a:r>
            <a:endParaRPr lang="en-US" sz="1250" dirty="0"/>
          </a:p>
        </p:txBody>
      </p:sp>
      <p:sp>
        <p:nvSpPr>
          <p:cNvPr id="8" name="Shape 6"/>
          <p:cNvSpPr/>
          <p:nvPr/>
        </p:nvSpPr>
        <p:spPr>
          <a:xfrm>
            <a:off x="685800" y="2029968"/>
            <a:ext cx="457200" cy="457200"/>
          </a:xfrm>
          <a:prstGeom prst="ellipse">
            <a:avLst/>
          </a:prstGeom>
          <a:solidFill>
            <a:srgbClr val="40916C"/>
          </a:solidFill>
          <a:ln/>
        </p:spPr>
      </p:sp>
      <p:sp>
        <p:nvSpPr>
          <p:cNvPr id="9" name="Text 7"/>
          <p:cNvSpPr txBox="1"/>
          <p:nvPr/>
        </p:nvSpPr>
        <p:spPr>
          <a:xfrm>
            <a:off x="685800" y="2029968"/>
            <a:ext cx="457200" cy="45720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2</a:t>
            </a:r>
            <a:endParaRPr lang="en-US" sz="1800" dirty="0"/>
          </a:p>
        </p:txBody>
      </p:sp>
      <p:sp>
        <p:nvSpPr>
          <p:cNvPr id="10" name="Text 8"/>
          <p:cNvSpPr txBox="1"/>
          <p:nvPr/>
        </p:nvSpPr>
        <p:spPr>
          <a:xfrm>
            <a:off x="1371600" y="1901952"/>
            <a:ext cx="2651760" cy="713232"/>
          </a:xfrm>
          <a:prstGeom prst="rect">
            <a:avLst/>
          </a:prstGeom>
          <a:noFill/>
          <a:ln/>
        </p:spPr>
        <p:txBody>
          <a:bodyPr wrap="square" rtlCol="0" anchor="ctr"/>
          <a:lstStyle/>
          <a:p>
            <a:pPr indent="0" marL="0">
              <a:buNone/>
            </a:pPr>
            <a:r>
              <a:rPr lang="en-US" sz="1500" b="1" dirty="0">
                <a:solidFill>
                  <a:srgbClr val="1B4332"/>
                </a:solidFill>
                <a:latin typeface="Cambria" pitchFamily="34" charset="0"/>
                <a:ea typeface="Cambria" pitchFamily="34" charset="-122"/>
                <a:cs typeface="Cambria" pitchFamily="34" charset="-120"/>
              </a:rPr>
              <a:t>Data Analysis</a:t>
            </a:r>
            <a:endParaRPr lang="en-US" sz="1500" dirty="0"/>
          </a:p>
        </p:txBody>
      </p:sp>
      <p:sp>
        <p:nvSpPr>
          <p:cNvPr id="11" name="Text 9"/>
          <p:cNvSpPr txBox="1"/>
          <p:nvPr/>
        </p:nvSpPr>
        <p:spPr>
          <a:xfrm>
            <a:off x="4114800" y="1901952"/>
            <a:ext cx="7680960" cy="713232"/>
          </a:xfrm>
          <a:prstGeom prst="rect">
            <a:avLst/>
          </a:prstGeom>
          <a:noFill/>
          <a:ln/>
        </p:spPr>
        <p:txBody>
          <a:bodyPr wrap="square" rtlCol="0" anchor="ctr"/>
          <a:lstStyle/>
          <a:p>
            <a:pPr indent="0" marL="0">
              <a:buNone/>
            </a:pPr>
            <a:r>
              <a:rPr lang="en-US" sz="1250" dirty="0">
                <a:solidFill>
                  <a:srgbClr val="1B2E28"/>
                </a:solidFill>
                <a:latin typeface="Calibri" pitchFamily="34" charset="0"/>
                <a:ea typeface="Calibri" pitchFamily="34" charset="-122"/>
                <a:cs typeface="Calibri" pitchFamily="34" charset="-120"/>
              </a:rPr>
              <a:t>The system identifies energy-generation and consumption patterns.</a:t>
            </a:r>
            <a:endParaRPr lang="en-US" sz="1250" dirty="0"/>
          </a:p>
        </p:txBody>
      </p:sp>
      <p:sp>
        <p:nvSpPr>
          <p:cNvPr id="12" name="Shape 10"/>
          <p:cNvSpPr/>
          <p:nvPr/>
        </p:nvSpPr>
        <p:spPr>
          <a:xfrm>
            <a:off x="548640" y="2660904"/>
            <a:ext cx="10881360" cy="713232"/>
          </a:xfrm>
          <a:prstGeom prst="roundRect">
            <a:avLst>
              <a:gd name="adj" fmla="val 10256"/>
            </a:avLst>
          </a:prstGeom>
          <a:solidFill>
            <a:srgbClr val="EAF4EC"/>
          </a:solidFill>
          <a:ln/>
        </p:spPr>
      </p:sp>
      <p:sp>
        <p:nvSpPr>
          <p:cNvPr id="13" name="Shape 11"/>
          <p:cNvSpPr/>
          <p:nvPr/>
        </p:nvSpPr>
        <p:spPr>
          <a:xfrm>
            <a:off x="685800" y="2788920"/>
            <a:ext cx="457200" cy="457200"/>
          </a:xfrm>
          <a:prstGeom prst="ellipse">
            <a:avLst/>
          </a:prstGeom>
          <a:solidFill>
            <a:srgbClr val="40916C"/>
          </a:solidFill>
          <a:ln/>
        </p:spPr>
      </p:sp>
      <p:sp>
        <p:nvSpPr>
          <p:cNvPr id="14" name="Text 12"/>
          <p:cNvSpPr txBox="1"/>
          <p:nvPr/>
        </p:nvSpPr>
        <p:spPr>
          <a:xfrm>
            <a:off x="685800" y="2788920"/>
            <a:ext cx="457200" cy="45720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3</a:t>
            </a:r>
            <a:endParaRPr lang="en-US" sz="1800" dirty="0"/>
          </a:p>
        </p:txBody>
      </p:sp>
      <p:sp>
        <p:nvSpPr>
          <p:cNvPr id="15" name="Text 13"/>
          <p:cNvSpPr txBox="1"/>
          <p:nvPr/>
        </p:nvSpPr>
        <p:spPr>
          <a:xfrm>
            <a:off x="1371600" y="2660904"/>
            <a:ext cx="2651760" cy="713232"/>
          </a:xfrm>
          <a:prstGeom prst="rect">
            <a:avLst/>
          </a:prstGeom>
          <a:noFill/>
          <a:ln/>
        </p:spPr>
        <p:txBody>
          <a:bodyPr wrap="square" rtlCol="0" anchor="ctr"/>
          <a:lstStyle/>
          <a:p>
            <a:pPr indent="0" marL="0">
              <a:buNone/>
            </a:pPr>
            <a:r>
              <a:rPr lang="en-US" sz="1500" b="1" dirty="0">
                <a:solidFill>
                  <a:srgbClr val="1B4332"/>
                </a:solidFill>
                <a:latin typeface="Cambria" pitchFamily="34" charset="0"/>
                <a:ea typeface="Cambria" pitchFamily="34" charset="-122"/>
                <a:cs typeface="Cambria" pitchFamily="34" charset="-120"/>
              </a:rPr>
              <a:t>AI Forecasting</a:t>
            </a:r>
            <a:endParaRPr lang="en-US" sz="1500" dirty="0"/>
          </a:p>
        </p:txBody>
      </p:sp>
      <p:sp>
        <p:nvSpPr>
          <p:cNvPr id="16" name="Text 14"/>
          <p:cNvSpPr txBox="1"/>
          <p:nvPr/>
        </p:nvSpPr>
        <p:spPr>
          <a:xfrm>
            <a:off x="4114800" y="2660904"/>
            <a:ext cx="7680960" cy="713232"/>
          </a:xfrm>
          <a:prstGeom prst="rect">
            <a:avLst/>
          </a:prstGeom>
          <a:noFill/>
          <a:ln/>
        </p:spPr>
        <p:txBody>
          <a:bodyPr wrap="square" rtlCol="0" anchor="ctr"/>
          <a:lstStyle/>
          <a:p>
            <a:pPr indent="0" marL="0">
              <a:buNone/>
            </a:pPr>
            <a:r>
              <a:rPr lang="en-US" sz="1250" dirty="0">
                <a:solidFill>
                  <a:srgbClr val="1B2E28"/>
                </a:solidFill>
                <a:latin typeface="Calibri" pitchFamily="34" charset="0"/>
                <a:ea typeface="Calibri" pitchFamily="34" charset="-122"/>
                <a:cs typeface="Calibri" pitchFamily="34" charset="-120"/>
              </a:rPr>
              <a:t>AI analyzes historical patterns to estimate future generation and demand.</a:t>
            </a:r>
            <a:endParaRPr lang="en-US" sz="1250" dirty="0"/>
          </a:p>
        </p:txBody>
      </p:sp>
      <p:sp>
        <p:nvSpPr>
          <p:cNvPr id="17" name="Shape 15"/>
          <p:cNvSpPr/>
          <p:nvPr/>
        </p:nvSpPr>
        <p:spPr>
          <a:xfrm>
            <a:off x="685800" y="3547872"/>
            <a:ext cx="457200" cy="457200"/>
          </a:xfrm>
          <a:prstGeom prst="ellipse">
            <a:avLst/>
          </a:prstGeom>
          <a:solidFill>
            <a:srgbClr val="40916C"/>
          </a:solidFill>
          <a:ln/>
        </p:spPr>
      </p:sp>
      <p:sp>
        <p:nvSpPr>
          <p:cNvPr id="18" name="Text 16"/>
          <p:cNvSpPr txBox="1"/>
          <p:nvPr/>
        </p:nvSpPr>
        <p:spPr>
          <a:xfrm>
            <a:off x="685800" y="3547872"/>
            <a:ext cx="457200" cy="45720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4</a:t>
            </a:r>
            <a:endParaRPr lang="en-US" sz="1800" dirty="0"/>
          </a:p>
        </p:txBody>
      </p:sp>
      <p:sp>
        <p:nvSpPr>
          <p:cNvPr id="19" name="Text 17"/>
          <p:cNvSpPr txBox="1"/>
          <p:nvPr/>
        </p:nvSpPr>
        <p:spPr>
          <a:xfrm>
            <a:off x="1371600" y="3419856"/>
            <a:ext cx="2651760" cy="713232"/>
          </a:xfrm>
          <a:prstGeom prst="rect">
            <a:avLst/>
          </a:prstGeom>
          <a:noFill/>
          <a:ln/>
        </p:spPr>
        <p:txBody>
          <a:bodyPr wrap="square" rtlCol="0" anchor="ctr"/>
          <a:lstStyle/>
          <a:p>
            <a:pPr indent="0" marL="0">
              <a:buNone/>
            </a:pPr>
            <a:r>
              <a:rPr lang="en-US" sz="1500" b="1" dirty="0">
                <a:solidFill>
                  <a:srgbClr val="1B4332"/>
                </a:solidFill>
                <a:latin typeface="Cambria" pitchFamily="34" charset="0"/>
                <a:ea typeface="Cambria" pitchFamily="34" charset="-122"/>
                <a:cs typeface="Cambria" pitchFamily="34" charset="-120"/>
              </a:rPr>
              <a:t>Optimization</a:t>
            </a:r>
            <a:endParaRPr lang="en-US" sz="1500" dirty="0"/>
          </a:p>
        </p:txBody>
      </p:sp>
      <p:sp>
        <p:nvSpPr>
          <p:cNvPr id="20" name="Text 18"/>
          <p:cNvSpPr txBox="1"/>
          <p:nvPr/>
        </p:nvSpPr>
        <p:spPr>
          <a:xfrm>
            <a:off x="4114800" y="3419856"/>
            <a:ext cx="7680960" cy="713232"/>
          </a:xfrm>
          <a:prstGeom prst="rect">
            <a:avLst/>
          </a:prstGeom>
          <a:noFill/>
          <a:ln/>
        </p:spPr>
        <p:txBody>
          <a:bodyPr wrap="square" rtlCol="0" anchor="ctr"/>
          <a:lstStyle/>
          <a:p>
            <a:pPr indent="0" marL="0">
              <a:buNone/>
            </a:pPr>
            <a:r>
              <a:rPr lang="en-US" sz="1250" dirty="0">
                <a:solidFill>
                  <a:srgbClr val="1B2E28"/>
                </a:solidFill>
                <a:latin typeface="Calibri" pitchFamily="34" charset="0"/>
                <a:ea typeface="Calibri" pitchFamily="34" charset="-122"/>
                <a:cs typeface="Calibri" pitchFamily="34" charset="-120"/>
              </a:rPr>
              <a:t>The system identifies possible energy surplus or deficit conditions.</a:t>
            </a:r>
            <a:endParaRPr lang="en-US" sz="1250" dirty="0"/>
          </a:p>
        </p:txBody>
      </p:sp>
      <p:sp>
        <p:nvSpPr>
          <p:cNvPr id="21" name="Shape 19"/>
          <p:cNvSpPr/>
          <p:nvPr/>
        </p:nvSpPr>
        <p:spPr>
          <a:xfrm>
            <a:off x="548640" y="4178808"/>
            <a:ext cx="10881360" cy="713232"/>
          </a:xfrm>
          <a:prstGeom prst="roundRect">
            <a:avLst>
              <a:gd name="adj" fmla="val 10256"/>
            </a:avLst>
          </a:prstGeom>
          <a:solidFill>
            <a:srgbClr val="EAF4EC"/>
          </a:solidFill>
          <a:ln/>
        </p:spPr>
      </p:sp>
      <p:sp>
        <p:nvSpPr>
          <p:cNvPr id="22" name="Shape 20"/>
          <p:cNvSpPr/>
          <p:nvPr/>
        </p:nvSpPr>
        <p:spPr>
          <a:xfrm>
            <a:off x="685800" y="4306824"/>
            <a:ext cx="457200" cy="457200"/>
          </a:xfrm>
          <a:prstGeom prst="ellipse">
            <a:avLst/>
          </a:prstGeom>
          <a:solidFill>
            <a:srgbClr val="40916C"/>
          </a:solidFill>
          <a:ln/>
        </p:spPr>
      </p:sp>
      <p:sp>
        <p:nvSpPr>
          <p:cNvPr id="23" name="Text 21"/>
          <p:cNvSpPr txBox="1"/>
          <p:nvPr/>
        </p:nvSpPr>
        <p:spPr>
          <a:xfrm>
            <a:off x="685800" y="4306824"/>
            <a:ext cx="457200" cy="45720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5</a:t>
            </a:r>
            <a:endParaRPr lang="en-US" sz="1800" dirty="0"/>
          </a:p>
        </p:txBody>
      </p:sp>
      <p:sp>
        <p:nvSpPr>
          <p:cNvPr id="24" name="Text 22"/>
          <p:cNvSpPr txBox="1"/>
          <p:nvPr/>
        </p:nvSpPr>
        <p:spPr>
          <a:xfrm>
            <a:off x="1371600" y="4178808"/>
            <a:ext cx="2651760" cy="713232"/>
          </a:xfrm>
          <a:prstGeom prst="rect">
            <a:avLst/>
          </a:prstGeom>
          <a:noFill/>
          <a:ln/>
        </p:spPr>
        <p:txBody>
          <a:bodyPr wrap="square" rtlCol="0" anchor="ctr"/>
          <a:lstStyle/>
          <a:p>
            <a:pPr indent="0" marL="0">
              <a:buNone/>
            </a:pPr>
            <a:r>
              <a:rPr lang="en-US" sz="1500" b="1" dirty="0">
                <a:solidFill>
                  <a:srgbClr val="1B4332"/>
                </a:solidFill>
                <a:latin typeface="Cambria" pitchFamily="34" charset="0"/>
                <a:ea typeface="Cambria" pitchFamily="34" charset="-122"/>
                <a:cs typeface="Cambria" pitchFamily="34" charset="-120"/>
              </a:rPr>
              <a:t>Recommendation</a:t>
            </a:r>
            <a:endParaRPr lang="en-US" sz="1500" dirty="0"/>
          </a:p>
        </p:txBody>
      </p:sp>
      <p:sp>
        <p:nvSpPr>
          <p:cNvPr id="25" name="Text 23"/>
          <p:cNvSpPr txBox="1"/>
          <p:nvPr/>
        </p:nvSpPr>
        <p:spPr>
          <a:xfrm>
            <a:off x="4114800" y="4178808"/>
            <a:ext cx="7680960" cy="713232"/>
          </a:xfrm>
          <a:prstGeom prst="rect">
            <a:avLst/>
          </a:prstGeom>
          <a:noFill/>
          <a:ln/>
        </p:spPr>
        <p:txBody>
          <a:bodyPr wrap="square" rtlCol="0" anchor="ctr"/>
          <a:lstStyle/>
          <a:p>
            <a:pPr indent="0" marL="0">
              <a:buNone/>
            </a:pPr>
            <a:r>
              <a:rPr lang="en-US" sz="1250" dirty="0">
                <a:solidFill>
                  <a:srgbClr val="1B2E28"/>
                </a:solidFill>
                <a:latin typeface="Calibri" pitchFamily="34" charset="0"/>
                <a:ea typeface="Calibri" pitchFamily="34" charset="-122"/>
                <a:cs typeface="Calibri" pitchFamily="34" charset="-120"/>
              </a:rPr>
              <a:t>AI provides an understandable recommendation to the energy manager.</a:t>
            </a:r>
            <a:endParaRPr lang="en-US" sz="1250" dirty="0"/>
          </a:p>
        </p:txBody>
      </p:sp>
      <p:sp>
        <p:nvSpPr>
          <p:cNvPr id="26" name="Shape 24"/>
          <p:cNvSpPr/>
          <p:nvPr/>
        </p:nvSpPr>
        <p:spPr>
          <a:xfrm>
            <a:off x="685800" y="5065776"/>
            <a:ext cx="457200" cy="457200"/>
          </a:xfrm>
          <a:prstGeom prst="ellipse">
            <a:avLst/>
          </a:prstGeom>
          <a:solidFill>
            <a:srgbClr val="F4A300"/>
          </a:solidFill>
          <a:ln/>
        </p:spPr>
      </p:sp>
      <p:sp>
        <p:nvSpPr>
          <p:cNvPr id="27" name="Text 25"/>
          <p:cNvSpPr txBox="1"/>
          <p:nvPr/>
        </p:nvSpPr>
        <p:spPr>
          <a:xfrm>
            <a:off x="685800" y="5065776"/>
            <a:ext cx="457200" cy="45720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6</a:t>
            </a:r>
            <a:endParaRPr lang="en-US" sz="1800" dirty="0"/>
          </a:p>
        </p:txBody>
      </p:sp>
      <p:sp>
        <p:nvSpPr>
          <p:cNvPr id="28" name="Text 26"/>
          <p:cNvSpPr txBox="1"/>
          <p:nvPr/>
        </p:nvSpPr>
        <p:spPr>
          <a:xfrm>
            <a:off x="1371600" y="4937760"/>
            <a:ext cx="2651760" cy="713232"/>
          </a:xfrm>
          <a:prstGeom prst="rect">
            <a:avLst/>
          </a:prstGeom>
          <a:noFill/>
          <a:ln/>
        </p:spPr>
        <p:txBody>
          <a:bodyPr wrap="square" rtlCol="0" anchor="ctr"/>
          <a:lstStyle/>
          <a:p>
            <a:pPr indent="0" marL="0">
              <a:buNone/>
            </a:pPr>
            <a:r>
              <a:rPr lang="en-US" sz="1500" b="1" dirty="0">
                <a:solidFill>
                  <a:srgbClr val="1B4332"/>
                </a:solidFill>
                <a:latin typeface="Cambria" pitchFamily="34" charset="0"/>
                <a:ea typeface="Cambria" pitchFamily="34" charset="-122"/>
                <a:cs typeface="Cambria" pitchFamily="34" charset="-120"/>
              </a:rPr>
              <a:t>Action</a:t>
            </a:r>
            <a:endParaRPr lang="en-US" sz="1500" dirty="0"/>
          </a:p>
        </p:txBody>
      </p:sp>
      <p:sp>
        <p:nvSpPr>
          <p:cNvPr id="29" name="Text 27"/>
          <p:cNvSpPr txBox="1"/>
          <p:nvPr/>
        </p:nvSpPr>
        <p:spPr>
          <a:xfrm>
            <a:off x="4114800" y="4937760"/>
            <a:ext cx="7680960" cy="713232"/>
          </a:xfrm>
          <a:prstGeom prst="rect">
            <a:avLst/>
          </a:prstGeom>
          <a:noFill/>
          <a:ln/>
        </p:spPr>
        <p:txBody>
          <a:bodyPr wrap="square" rtlCol="0" anchor="ctr"/>
          <a:lstStyle/>
          <a:p>
            <a:pPr indent="0" marL="0">
              <a:buNone/>
            </a:pPr>
            <a:r>
              <a:rPr lang="en-US" sz="1250" dirty="0">
                <a:solidFill>
                  <a:srgbClr val="1B2E28"/>
                </a:solidFill>
                <a:latin typeface="Calibri" pitchFamily="34" charset="0"/>
                <a:ea typeface="Calibri" pitchFamily="34" charset="-122"/>
                <a:cs typeface="Calibri" pitchFamily="34" charset="-120"/>
              </a:rPr>
              <a:t>The user can make an informed energy-management decision.</a:t>
            </a:r>
            <a:endParaRPr lang="en-US" sz="1250" dirty="0"/>
          </a:p>
        </p:txBody>
      </p:sp>
      <p:sp>
        <p:nvSpPr>
          <p:cNvPr id="30" name="Shape 28"/>
          <p:cNvSpPr/>
          <p:nvPr/>
        </p:nvSpPr>
        <p:spPr>
          <a:xfrm>
            <a:off x="548640" y="5806440"/>
            <a:ext cx="10881360" cy="640080"/>
          </a:xfrm>
          <a:prstGeom prst="roundRect">
            <a:avLst>
              <a:gd name="adj" fmla="val 11429"/>
            </a:avLst>
          </a:prstGeom>
          <a:solidFill>
            <a:srgbClr val="1B4332"/>
          </a:solidFill>
          <a:ln/>
        </p:spPr>
      </p:sp>
      <p:sp>
        <p:nvSpPr>
          <p:cNvPr id="31" name="Text 29"/>
          <p:cNvSpPr txBox="1"/>
          <p:nvPr/>
        </p:nvSpPr>
        <p:spPr>
          <a:xfrm>
            <a:off x="548640" y="5806440"/>
            <a:ext cx="10881360" cy="640080"/>
          </a:xfrm>
          <a:prstGeom prst="rect">
            <a:avLst/>
          </a:prstGeom>
          <a:noFill/>
          <a:ln/>
        </p:spPr>
        <p:txBody>
          <a:bodyPr wrap="square" rtlCol="0" anchor="ctr"/>
          <a:lstStyle/>
          <a:p>
            <a:pPr algn="ctr" indent="0" marL="0">
              <a:buNone/>
            </a:pPr>
            <a:r>
              <a:rPr lang="en-US" sz="1500" b="1" dirty="0">
                <a:solidFill>
                  <a:srgbClr val="F4A300"/>
                </a:solidFill>
                <a:latin typeface="Calibri" pitchFamily="34" charset="0"/>
                <a:ea typeface="Calibri" pitchFamily="34" charset="-122"/>
                <a:cs typeface="Calibri" pitchFamily="34" charset="-120"/>
              </a:rPr>
              <a:t>Core Concept:  </a:t>
            </a:r>
            <a:pPr algn="ctr" indent="0" marL="0">
              <a:buNone/>
            </a:pPr>
            <a:r>
              <a:rPr lang="en-US" sz="1500" dirty="0">
                <a:solidFill>
                  <a:srgbClr val="FFFFFF"/>
                </a:solidFill>
                <a:latin typeface="Calibri" pitchFamily="34" charset="0"/>
                <a:ea typeface="Calibri" pitchFamily="34" charset="-122"/>
                <a:cs typeface="Calibri" pitchFamily="34" charset="-120"/>
              </a:rPr>
              <a:t>Data → AI → Insight → Recommendation → Sustainable Action</a:t>
            </a:r>
            <a:endParaRPr lang="en-US" sz="1500" dirty="0"/>
          </a:p>
        </p:txBody>
      </p:sp>
      <p:sp>
        <p:nvSpPr>
          <p:cNvPr id="32" name="Text 30"/>
          <p:cNvSpPr txBox="1"/>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2796F"/>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rtlCol="0" anchor="ctr"/>
          <a:lstStyle/>
          <a:p>
            <a:pPr indent="0" marL="0">
              <a:buNone/>
            </a:pPr>
            <a:r>
              <a:rPr lang="en-US" sz="3200" b="1" dirty="0">
                <a:solidFill>
                  <a:srgbClr val="1B4332"/>
                </a:solidFill>
                <a:latin typeface="Cambria" pitchFamily="34" charset="0"/>
                <a:ea typeface="Cambria" pitchFamily="34" charset="-122"/>
                <a:cs typeface="Cambria" pitchFamily="34" charset="-120"/>
              </a:rPr>
              <a:t>Where Is AI Used?</a:t>
            </a:r>
            <a:endParaRPr lang="en-US" sz="3200" dirty="0"/>
          </a:p>
        </p:txBody>
      </p:sp>
      <p:sp>
        <p:nvSpPr>
          <p:cNvPr id="3" name="Text 1"/>
          <p:cNvSpPr txBox="1"/>
          <p:nvPr/>
        </p:nvSpPr>
        <p:spPr>
          <a:xfrm>
            <a:off x="548640" y="1097280"/>
            <a:ext cx="10972800" cy="365760"/>
          </a:xfrm>
          <a:prstGeom prst="rect">
            <a:avLst/>
          </a:prstGeom>
          <a:noFill/>
          <a:ln/>
        </p:spPr>
        <p:txBody>
          <a:bodyPr wrap="square" rtlCol="0" anchor="ctr"/>
          <a:lstStyle/>
          <a:p>
            <a:pPr indent="0" marL="0">
              <a:buNone/>
            </a:pPr>
            <a:r>
              <a:rPr lang="en-US" sz="1400" i="1" dirty="0">
                <a:solidFill>
                  <a:srgbClr val="52796F"/>
                </a:solidFill>
                <a:latin typeface="Calibri" pitchFamily="34" charset="0"/>
                <a:ea typeface="Calibri" pitchFamily="34" charset="-122"/>
                <a:cs typeface="Calibri" pitchFamily="34" charset="-120"/>
              </a:rPr>
              <a:t>AI is not used simply for decoration — it supports decision-making.</a:t>
            </a:r>
            <a:endParaRPr lang="en-US" sz="1400" dirty="0"/>
          </a:p>
        </p:txBody>
      </p:sp>
      <p:sp>
        <p:nvSpPr>
          <p:cNvPr id="4" name="Shape 2"/>
          <p:cNvSpPr/>
          <p:nvPr/>
        </p:nvSpPr>
        <p:spPr>
          <a:xfrm>
            <a:off x="548640" y="1645920"/>
            <a:ext cx="5440680" cy="2057400"/>
          </a:xfrm>
          <a:prstGeom prst="roundRect">
            <a:avLst>
              <a:gd name="adj" fmla="val 3556"/>
            </a:avLst>
          </a:prstGeom>
          <a:solidFill>
            <a:srgbClr val="EAF4EC"/>
          </a:solidFill>
          <a:ln/>
        </p:spPr>
      </p:sp>
      <p:sp>
        <p:nvSpPr>
          <p:cNvPr id="5" name="Shape 3"/>
          <p:cNvSpPr/>
          <p:nvPr/>
        </p:nvSpPr>
        <p:spPr>
          <a:xfrm>
            <a:off x="777240" y="1874520"/>
            <a:ext cx="502920" cy="502920"/>
          </a:xfrm>
          <a:prstGeom prst="ellipse">
            <a:avLst/>
          </a:prstGeom>
          <a:solidFill>
            <a:srgbClr val="40916C"/>
          </a:solidFill>
          <a:ln/>
        </p:spPr>
      </p:sp>
      <p:sp>
        <p:nvSpPr>
          <p:cNvPr id="6" name="Text 4"/>
          <p:cNvSpPr txBox="1"/>
          <p:nvPr/>
        </p:nvSpPr>
        <p:spPr>
          <a:xfrm>
            <a:off x="777240" y="1874520"/>
            <a:ext cx="502920" cy="50292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7" name="Text 5"/>
          <p:cNvSpPr txBox="1"/>
          <p:nvPr/>
        </p:nvSpPr>
        <p:spPr>
          <a:xfrm>
            <a:off x="1417320" y="1874520"/>
            <a:ext cx="4343400" cy="502920"/>
          </a:xfrm>
          <a:prstGeom prst="rect">
            <a:avLst/>
          </a:prstGeom>
          <a:noFill/>
          <a:ln/>
        </p:spPr>
        <p:txBody>
          <a:bodyPr wrap="square" rtlCol="0" anchor="ctr"/>
          <a:lstStyle/>
          <a:p>
            <a:pPr indent="0" marL="0">
              <a:buNone/>
            </a:pPr>
            <a:r>
              <a:rPr lang="en-US" sz="1600" b="1" dirty="0">
                <a:solidFill>
                  <a:srgbClr val="1B4332"/>
                </a:solidFill>
                <a:latin typeface="Cambria" pitchFamily="34" charset="0"/>
                <a:ea typeface="Cambria" pitchFamily="34" charset="-122"/>
                <a:cs typeface="Cambria" pitchFamily="34" charset="-120"/>
              </a:rPr>
              <a:t>Prediction</a:t>
            </a:r>
            <a:endParaRPr lang="en-US" sz="1600" dirty="0"/>
          </a:p>
        </p:txBody>
      </p:sp>
      <p:sp>
        <p:nvSpPr>
          <p:cNvPr id="8" name="Text 6"/>
          <p:cNvSpPr txBox="1"/>
          <p:nvPr/>
        </p:nvSpPr>
        <p:spPr>
          <a:xfrm>
            <a:off x="822960" y="2560320"/>
            <a:ext cx="4892040" cy="105156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E28"/>
                </a:solidFill>
                <a:latin typeface="Calibri" pitchFamily="34" charset="0"/>
                <a:ea typeface="Calibri" pitchFamily="34" charset="-122"/>
                <a:cs typeface="Calibri" pitchFamily="34" charset="-120"/>
              </a:rPr>
              <a:t>Forecast future solar generation</a:t>
            </a:r>
            <a:endParaRPr lang="en-US" sz="1250" dirty="0"/>
          </a:p>
          <a:p>
            <a:pPr marL="177800" indent="-177800">
              <a:spcAft>
                <a:spcPts val="800"/>
              </a:spcAft>
              <a:buSzPct val="100000"/>
              <a:buChar char="•"/>
            </a:pPr>
            <a:r>
              <a:rPr lang="en-US" sz="1250" dirty="0">
                <a:solidFill>
                  <a:srgbClr val="1B2E28"/>
                </a:solidFill>
                <a:latin typeface="Calibri" pitchFamily="34" charset="0"/>
                <a:ea typeface="Calibri" pitchFamily="34" charset="-122"/>
                <a:cs typeface="Calibri" pitchFamily="34" charset="-120"/>
              </a:rPr>
              <a:t>Forecast future electricity demand</a:t>
            </a:r>
            <a:endParaRPr lang="en-US" sz="1250" dirty="0"/>
          </a:p>
        </p:txBody>
      </p:sp>
      <p:sp>
        <p:nvSpPr>
          <p:cNvPr id="9" name="Shape 7"/>
          <p:cNvSpPr/>
          <p:nvPr/>
        </p:nvSpPr>
        <p:spPr>
          <a:xfrm>
            <a:off x="6309360" y="1645920"/>
            <a:ext cx="5440680" cy="2057400"/>
          </a:xfrm>
          <a:prstGeom prst="roundRect">
            <a:avLst>
              <a:gd name="adj" fmla="val 3556"/>
            </a:avLst>
          </a:prstGeom>
          <a:solidFill>
            <a:srgbClr val="F6EFDD"/>
          </a:solidFill>
          <a:ln/>
        </p:spPr>
      </p:sp>
      <p:sp>
        <p:nvSpPr>
          <p:cNvPr id="10" name="Shape 8"/>
          <p:cNvSpPr/>
          <p:nvPr/>
        </p:nvSpPr>
        <p:spPr>
          <a:xfrm>
            <a:off x="6537960" y="1874520"/>
            <a:ext cx="502920" cy="502920"/>
          </a:xfrm>
          <a:prstGeom prst="ellipse">
            <a:avLst/>
          </a:prstGeom>
          <a:solidFill>
            <a:srgbClr val="F4A300"/>
          </a:solidFill>
          <a:ln/>
        </p:spPr>
      </p:sp>
      <p:sp>
        <p:nvSpPr>
          <p:cNvPr id="11" name="Text 9"/>
          <p:cNvSpPr txBox="1"/>
          <p:nvPr/>
        </p:nvSpPr>
        <p:spPr>
          <a:xfrm>
            <a:off x="6537960" y="1874520"/>
            <a:ext cx="502920" cy="50292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2" name="Text 10"/>
          <p:cNvSpPr txBox="1"/>
          <p:nvPr/>
        </p:nvSpPr>
        <p:spPr>
          <a:xfrm>
            <a:off x="7178040" y="1874520"/>
            <a:ext cx="4343400" cy="502920"/>
          </a:xfrm>
          <a:prstGeom prst="rect">
            <a:avLst/>
          </a:prstGeom>
          <a:noFill/>
          <a:ln/>
        </p:spPr>
        <p:txBody>
          <a:bodyPr wrap="square" rtlCol="0" anchor="ctr"/>
          <a:lstStyle/>
          <a:p>
            <a:pPr indent="0" marL="0">
              <a:buNone/>
            </a:pPr>
            <a:r>
              <a:rPr lang="en-US" sz="1600" b="1" dirty="0">
                <a:solidFill>
                  <a:srgbClr val="1B4332"/>
                </a:solidFill>
                <a:latin typeface="Cambria" pitchFamily="34" charset="0"/>
                <a:ea typeface="Cambria" pitchFamily="34" charset="-122"/>
                <a:cs typeface="Cambria" pitchFamily="34" charset="-120"/>
              </a:rPr>
              <a:t>Pattern Detection</a:t>
            </a:r>
            <a:endParaRPr lang="en-US" sz="1600" dirty="0"/>
          </a:p>
        </p:txBody>
      </p:sp>
      <p:sp>
        <p:nvSpPr>
          <p:cNvPr id="13" name="Text 11"/>
          <p:cNvSpPr txBox="1"/>
          <p:nvPr/>
        </p:nvSpPr>
        <p:spPr>
          <a:xfrm>
            <a:off x="6583680" y="2560320"/>
            <a:ext cx="4892040" cy="105156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E28"/>
                </a:solidFill>
                <a:latin typeface="Calibri" pitchFamily="34" charset="0"/>
                <a:ea typeface="Calibri" pitchFamily="34" charset="-122"/>
                <a:cs typeface="Calibri" pitchFamily="34" charset="-120"/>
              </a:rPr>
              <a:t>Identify unusual consumption patterns</a:t>
            </a:r>
            <a:endParaRPr lang="en-US" sz="1250" dirty="0"/>
          </a:p>
          <a:p>
            <a:pPr marL="177800" indent="-177800">
              <a:spcAft>
                <a:spcPts val="800"/>
              </a:spcAft>
              <a:buSzPct val="100000"/>
              <a:buChar char="•"/>
            </a:pPr>
            <a:r>
              <a:rPr lang="en-US" sz="1250" dirty="0">
                <a:solidFill>
                  <a:srgbClr val="1B2E28"/>
                </a:solidFill>
                <a:latin typeface="Calibri" pitchFamily="34" charset="0"/>
                <a:ea typeface="Calibri" pitchFamily="34" charset="-122"/>
                <a:cs typeface="Calibri" pitchFamily="34" charset="-120"/>
              </a:rPr>
              <a:t>Detect changes in energy availability</a:t>
            </a:r>
            <a:endParaRPr lang="en-US" sz="1250" dirty="0"/>
          </a:p>
        </p:txBody>
      </p:sp>
      <p:sp>
        <p:nvSpPr>
          <p:cNvPr id="14" name="Shape 12"/>
          <p:cNvSpPr/>
          <p:nvPr/>
        </p:nvSpPr>
        <p:spPr>
          <a:xfrm>
            <a:off x="548640" y="3977640"/>
            <a:ext cx="5440680" cy="2057400"/>
          </a:xfrm>
          <a:prstGeom prst="roundRect">
            <a:avLst>
              <a:gd name="adj" fmla="val 3556"/>
            </a:avLst>
          </a:prstGeom>
          <a:solidFill>
            <a:srgbClr val="F6EFDD"/>
          </a:solidFill>
          <a:ln/>
        </p:spPr>
      </p:sp>
      <p:sp>
        <p:nvSpPr>
          <p:cNvPr id="15" name="Shape 13"/>
          <p:cNvSpPr/>
          <p:nvPr/>
        </p:nvSpPr>
        <p:spPr>
          <a:xfrm>
            <a:off x="777240" y="4206240"/>
            <a:ext cx="502920" cy="502920"/>
          </a:xfrm>
          <a:prstGeom prst="ellipse">
            <a:avLst/>
          </a:prstGeom>
          <a:solidFill>
            <a:srgbClr val="40916C"/>
          </a:solidFill>
          <a:ln/>
        </p:spPr>
      </p:sp>
      <p:sp>
        <p:nvSpPr>
          <p:cNvPr id="16" name="Text 14"/>
          <p:cNvSpPr txBox="1"/>
          <p:nvPr/>
        </p:nvSpPr>
        <p:spPr>
          <a:xfrm>
            <a:off x="777240" y="4206240"/>
            <a:ext cx="502920" cy="50292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7" name="Text 15"/>
          <p:cNvSpPr txBox="1"/>
          <p:nvPr/>
        </p:nvSpPr>
        <p:spPr>
          <a:xfrm>
            <a:off x="1417320" y="4206240"/>
            <a:ext cx="4343400" cy="502920"/>
          </a:xfrm>
          <a:prstGeom prst="rect">
            <a:avLst/>
          </a:prstGeom>
          <a:noFill/>
          <a:ln/>
        </p:spPr>
        <p:txBody>
          <a:bodyPr wrap="square" rtlCol="0" anchor="ctr"/>
          <a:lstStyle/>
          <a:p>
            <a:pPr indent="0" marL="0">
              <a:buNone/>
            </a:pPr>
            <a:r>
              <a:rPr lang="en-US" sz="1600" b="1" dirty="0">
                <a:solidFill>
                  <a:srgbClr val="1B4332"/>
                </a:solidFill>
                <a:latin typeface="Cambria" pitchFamily="34" charset="0"/>
                <a:ea typeface="Cambria" pitchFamily="34" charset="-122"/>
                <a:cs typeface="Cambria" pitchFamily="34" charset="-120"/>
              </a:rPr>
              <a:t>Decision Support</a:t>
            </a:r>
            <a:endParaRPr lang="en-US" sz="1600" dirty="0"/>
          </a:p>
        </p:txBody>
      </p:sp>
      <p:sp>
        <p:nvSpPr>
          <p:cNvPr id="18" name="Text 16"/>
          <p:cNvSpPr txBox="1"/>
          <p:nvPr/>
        </p:nvSpPr>
        <p:spPr>
          <a:xfrm>
            <a:off x="822960" y="4892040"/>
            <a:ext cx="4892040" cy="105156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E28"/>
                </a:solidFill>
                <a:latin typeface="Calibri" pitchFamily="34" charset="0"/>
                <a:ea typeface="Calibri" pitchFamily="34" charset="-122"/>
                <a:cs typeface="Calibri" pitchFamily="34" charset="-120"/>
              </a:rPr>
              <a:t>Identify potential surplus/deficit periods</a:t>
            </a:r>
            <a:endParaRPr lang="en-US" sz="1250" dirty="0"/>
          </a:p>
          <a:p>
            <a:pPr marL="177800" indent="-177800">
              <a:spcAft>
                <a:spcPts val="800"/>
              </a:spcAft>
              <a:buSzPct val="100000"/>
              <a:buChar char="•"/>
            </a:pPr>
            <a:r>
              <a:rPr lang="en-US" sz="1250" dirty="0">
                <a:solidFill>
                  <a:srgbClr val="1B2E28"/>
                </a:solidFill>
                <a:latin typeface="Calibri" pitchFamily="34" charset="0"/>
                <a:ea typeface="Calibri" pitchFamily="34" charset="-122"/>
                <a:cs typeface="Calibri" pitchFamily="34" charset="-120"/>
              </a:rPr>
              <a:t>Suggest suitable energy-management actions</a:t>
            </a:r>
            <a:endParaRPr lang="en-US" sz="1250" dirty="0"/>
          </a:p>
        </p:txBody>
      </p:sp>
      <p:sp>
        <p:nvSpPr>
          <p:cNvPr id="19" name="Shape 17"/>
          <p:cNvSpPr/>
          <p:nvPr/>
        </p:nvSpPr>
        <p:spPr>
          <a:xfrm>
            <a:off x="6309360" y="3977640"/>
            <a:ext cx="5440680" cy="2057400"/>
          </a:xfrm>
          <a:prstGeom prst="roundRect">
            <a:avLst>
              <a:gd name="adj" fmla="val 3556"/>
            </a:avLst>
          </a:prstGeom>
          <a:solidFill>
            <a:srgbClr val="EAF4EC"/>
          </a:solidFill>
          <a:ln/>
        </p:spPr>
      </p:sp>
      <p:sp>
        <p:nvSpPr>
          <p:cNvPr id="20" name="Shape 18"/>
          <p:cNvSpPr/>
          <p:nvPr/>
        </p:nvSpPr>
        <p:spPr>
          <a:xfrm>
            <a:off x="6537960" y="4206240"/>
            <a:ext cx="502920" cy="502920"/>
          </a:xfrm>
          <a:prstGeom prst="ellipse">
            <a:avLst/>
          </a:prstGeom>
          <a:solidFill>
            <a:srgbClr val="F4A300"/>
          </a:solidFill>
          <a:ln/>
        </p:spPr>
      </p:sp>
      <p:sp>
        <p:nvSpPr>
          <p:cNvPr id="21" name="Text 19"/>
          <p:cNvSpPr txBox="1"/>
          <p:nvPr/>
        </p:nvSpPr>
        <p:spPr>
          <a:xfrm>
            <a:off x="6537960" y="4206240"/>
            <a:ext cx="502920" cy="50292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2" name="Text 20"/>
          <p:cNvSpPr txBox="1"/>
          <p:nvPr/>
        </p:nvSpPr>
        <p:spPr>
          <a:xfrm>
            <a:off x="7178040" y="4206240"/>
            <a:ext cx="4343400" cy="502920"/>
          </a:xfrm>
          <a:prstGeom prst="rect">
            <a:avLst/>
          </a:prstGeom>
          <a:noFill/>
          <a:ln/>
        </p:spPr>
        <p:txBody>
          <a:bodyPr wrap="square" rtlCol="0" anchor="ctr"/>
          <a:lstStyle/>
          <a:p>
            <a:pPr indent="0" marL="0">
              <a:buNone/>
            </a:pPr>
            <a:r>
              <a:rPr lang="en-US" sz="1600" b="1" dirty="0">
                <a:solidFill>
                  <a:srgbClr val="1B4332"/>
                </a:solidFill>
                <a:latin typeface="Cambria" pitchFamily="34" charset="0"/>
                <a:ea typeface="Cambria" pitchFamily="34" charset="-122"/>
                <a:cs typeface="Cambria" pitchFamily="34" charset="-120"/>
              </a:rPr>
              <a:t>Conversational AI</a:t>
            </a:r>
            <a:endParaRPr lang="en-US" sz="1600" dirty="0"/>
          </a:p>
        </p:txBody>
      </p:sp>
      <p:sp>
        <p:nvSpPr>
          <p:cNvPr id="23" name="Text 21"/>
          <p:cNvSpPr txBox="1"/>
          <p:nvPr/>
        </p:nvSpPr>
        <p:spPr>
          <a:xfrm>
            <a:off x="6583680" y="4892040"/>
            <a:ext cx="4892040" cy="105156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E28"/>
                </a:solidFill>
                <a:latin typeface="Calibri" pitchFamily="34" charset="0"/>
                <a:ea typeface="Calibri" pitchFamily="34" charset="-122"/>
                <a:cs typeface="Calibri" pitchFamily="34" charset="-120"/>
              </a:rPr>
              <a:t>Allow users to ask questions about energy conditions</a:t>
            </a:r>
            <a:endParaRPr lang="en-US" sz="1250" dirty="0"/>
          </a:p>
        </p:txBody>
      </p:sp>
      <p:sp>
        <p:nvSpPr>
          <p:cNvPr id="24" name="Text 22"/>
          <p:cNvSpPr txBox="1"/>
          <p:nvPr/>
        </p:nvSpPr>
        <p:spPr>
          <a:xfrm>
            <a:off x="548640" y="6419088"/>
            <a:ext cx="10515600" cy="320040"/>
          </a:xfrm>
          <a:prstGeom prst="rect">
            <a:avLst/>
          </a:prstGeom>
          <a:noFill/>
          <a:ln/>
        </p:spPr>
        <p:txBody>
          <a:bodyPr wrap="square" rtlCol="0" anchor="ctr"/>
          <a:lstStyle/>
          <a:p>
            <a:pPr indent="0" marL="0">
              <a:buNone/>
            </a:pPr>
            <a:r>
              <a:rPr lang="en-US" sz="1000" i="1" dirty="0">
                <a:solidFill>
                  <a:srgbClr val="52796F"/>
                </a:solidFill>
                <a:latin typeface="Calibri" pitchFamily="34" charset="0"/>
                <a:ea typeface="Calibri" pitchFamily="34" charset="-122"/>
                <a:cs typeface="Calibri" pitchFamily="34" charset="-120"/>
              </a:rPr>
              <a:t>The internship guideline identifies prediction, pattern detection, decision support, automation, conversational interfaces, RAG and multimodal inputs as possible AI components.</a:t>
            </a:r>
            <a:endParaRPr lang="en-US" sz="1000" dirty="0"/>
          </a:p>
        </p:txBody>
      </p:sp>
      <p:sp>
        <p:nvSpPr>
          <p:cNvPr id="25" name="Text 23"/>
          <p:cNvSpPr txBox="1"/>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2796F"/>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rtlCol="0" anchor="ctr"/>
          <a:lstStyle/>
          <a:p>
            <a:pPr indent="0" marL="0">
              <a:buNone/>
            </a:pPr>
            <a:r>
              <a:rPr lang="en-US" sz="3200" b="1" dirty="0">
                <a:solidFill>
                  <a:srgbClr val="1B4332"/>
                </a:solidFill>
                <a:latin typeface="Cambria" pitchFamily="34" charset="0"/>
                <a:ea typeface="Cambria" pitchFamily="34" charset="-122"/>
                <a:cs typeface="Cambria" pitchFamily="34" charset="-120"/>
              </a:rPr>
              <a:t>Technical Architecture</a:t>
            </a:r>
            <a:endParaRPr lang="en-US" sz="3200" dirty="0"/>
          </a:p>
        </p:txBody>
      </p:sp>
      <p:sp>
        <p:nvSpPr>
          <p:cNvPr id="3" name="Shape 1"/>
          <p:cNvSpPr/>
          <p:nvPr/>
        </p:nvSpPr>
        <p:spPr>
          <a:xfrm>
            <a:off x="548640" y="1143000"/>
            <a:ext cx="6766560" cy="777240"/>
          </a:xfrm>
          <a:prstGeom prst="roundRect">
            <a:avLst>
              <a:gd name="adj" fmla="val 9412"/>
            </a:avLst>
          </a:prstGeom>
          <a:solidFill>
            <a:srgbClr val="1B4332"/>
          </a:solidFill>
          <a:ln/>
        </p:spPr>
      </p:sp>
      <p:sp>
        <p:nvSpPr>
          <p:cNvPr id="4" name="Text 2"/>
          <p:cNvSpPr txBox="1"/>
          <p:nvPr/>
        </p:nvSpPr>
        <p:spPr>
          <a:xfrm>
            <a:off x="777240" y="1216152"/>
            <a:ext cx="6309360" cy="292608"/>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Input Layer</a:t>
            </a:r>
            <a:endParaRPr lang="en-US" sz="1400" dirty="0"/>
          </a:p>
        </p:txBody>
      </p:sp>
      <p:sp>
        <p:nvSpPr>
          <p:cNvPr id="5" name="Text 3"/>
          <p:cNvSpPr txBox="1"/>
          <p:nvPr/>
        </p:nvSpPr>
        <p:spPr>
          <a:xfrm>
            <a:off x="777240" y="1508760"/>
            <a:ext cx="6309360" cy="365760"/>
          </a:xfrm>
          <a:prstGeom prst="rect">
            <a:avLst/>
          </a:prstGeom>
          <a:noFill/>
          <a:ln/>
        </p:spPr>
        <p:txBody>
          <a:bodyPr wrap="square" rtlCol="0" anchor="ctr"/>
          <a:lstStyle/>
          <a:p>
            <a:pPr indent="0" marL="0">
              <a:buNone/>
            </a:pPr>
            <a:r>
              <a:rPr lang="en-US" sz="1050" dirty="0">
                <a:solidFill>
                  <a:srgbClr val="E8F5EC"/>
                </a:solidFill>
                <a:latin typeface="Calibri" pitchFamily="34" charset="0"/>
                <a:ea typeface="Calibri" pitchFamily="34" charset="-122"/>
                <a:cs typeface="Calibri" pitchFamily="34" charset="-120"/>
              </a:rPr>
              <a:t>Solar generation · Consumption · Weather · Battery status · Flexible loads</a:t>
            </a:r>
            <a:endParaRPr lang="en-US" sz="1050" dirty="0"/>
          </a:p>
        </p:txBody>
      </p:sp>
      <p:sp>
        <p:nvSpPr>
          <p:cNvPr id="6" name="Text 4"/>
          <p:cNvSpPr txBox="1"/>
          <p:nvPr/>
        </p:nvSpPr>
        <p:spPr>
          <a:xfrm>
            <a:off x="3749040" y="1920240"/>
            <a:ext cx="365760" cy="109728"/>
          </a:xfrm>
          <a:prstGeom prst="rect">
            <a:avLst/>
          </a:prstGeom>
          <a:noFill/>
          <a:ln/>
        </p:spPr>
        <p:txBody>
          <a:bodyPr wrap="square" rtlCol="0" anchor="ctr"/>
          <a:lstStyle/>
          <a:p>
            <a:pPr algn="ctr" indent="0" marL="0">
              <a:buNone/>
            </a:pPr>
            <a:r>
              <a:rPr lang="en-US" sz="1200" dirty="0">
                <a:solidFill>
                  <a:srgbClr val="40916C"/>
                </a:solidFill>
              </a:rPr>
              <a:t>↓</a:t>
            </a:r>
            <a:endParaRPr lang="en-US" sz="1200" dirty="0"/>
          </a:p>
        </p:txBody>
      </p:sp>
      <p:sp>
        <p:nvSpPr>
          <p:cNvPr id="7" name="Shape 5"/>
          <p:cNvSpPr/>
          <p:nvPr/>
        </p:nvSpPr>
        <p:spPr>
          <a:xfrm>
            <a:off x="548640" y="2029968"/>
            <a:ext cx="6766560" cy="777240"/>
          </a:xfrm>
          <a:prstGeom prst="roundRect">
            <a:avLst>
              <a:gd name="adj" fmla="val 9412"/>
            </a:avLst>
          </a:prstGeom>
          <a:solidFill>
            <a:srgbClr val="40916C"/>
          </a:solidFill>
          <a:ln/>
        </p:spPr>
      </p:sp>
      <p:sp>
        <p:nvSpPr>
          <p:cNvPr id="8" name="Text 6"/>
          <p:cNvSpPr txBox="1"/>
          <p:nvPr/>
        </p:nvSpPr>
        <p:spPr>
          <a:xfrm>
            <a:off x="777240" y="2103120"/>
            <a:ext cx="6309360" cy="292608"/>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Data Processing Layer</a:t>
            </a:r>
            <a:endParaRPr lang="en-US" sz="1400" dirty="0"/>
          </a:p>
        </p:txBody>
      </p:sp>
      <p:sp>
        <p:nvSpPr>
          <p:cNvPr id="9" name="Text 7"/>
          <p:cNvSpPr txBox="1"/>
          <p:nvPr/>
        </p:nvSpPr>
        <p:spPr>
          <a:xfrm>
            <a:off x="777240" y="2395728"/>
            <a:ext cx="6309360" cy="365760"/>
          </a:xfrm>
          <a:prstGeom prst="rect">
            <a:avLst/>
          </a:prstGeom>
          <a:noFill/>
          <a:ln/>
        </p:spPr>
        <p:txBody>
          <a:bodyPr wrap="square" rtlCol="0" anchor="ctr"/>
          <a:lstStyle/>
          <a:p>
            <a:pPr indent="0" marL="0">
              <a:buNone/>
            </a:pPr>
            <a:r>
              <a:rPr lang="en-US" sz="1050" dirty="0">
                <a:solidFill>
                  <a:srgbClr val="E8F5EC"/>
                </a:solidFill>
                <a:latin typeface="Calibri" pitchFamily="34" charset="0"/>
                <a:ea typeface="Calibri" pitchFamily="34" charset="-122"/>
                <a:cs typeface="Calibri" pitchFamily="34" charset="-120"/>
              </a:rPr>
              <a:t>Data cleaning · Data analysis · Energy-balance calculation</a:t>
            </a:r>
            <a:endParaRPr lang="en-US" sz="1050" dirty="0"/>
          </a:p>
        </p:txBody>
      </p:sp>
      <p:sp>
        <p:nvSpPr>
          <p:cNvPr id="10" name="Text 8"/>
          <p:cNvSpPr txBox="1"/>
          <p:nvPr/>
        </p:nvSpPr>
        <p:spPr>
          <a:xfrm>
            <a:off x="3749040" y="2807208"/>
            <a:ext cx="365760" cy="109728"/>
          </a:xfrm>
          <a:prstGeom prst="rect">
            <a:avLst/>
          </a:prstGeom>
          <a:noFill/>
          <a:ln/>
        </p:spPr>
        <p:txBody>
          <a:bodyPr wrap="square" rtlCol="0" anchor="ctr"/>
          <a:lstStyle/>
          <a:p>
            <a:pPr algn="ctr" indent="0" marL="0">
              <a:buNone/>
            </a:pPr>
            <a:r>
              <a:rPr lang="en-US" sz="1200" dirty="0">
                <a:solidFill>
                  <a:srgbClr val="40916C"/>
                </a:solidFill>
              </a:rPr>
              <a:t>↓</a:t>
            </a:r>
            <a:endParaRPr lang="en-US" sz="1200" dirty="0"/>
          </a:p>
        </p:txBody>
      </p:sp>
      <p:sp>
        <p:nvSpPr>
          <p:cNvPr id="11" name="Shape 9"/>
          <p:cNvSpPr/>
          <p:nvPr/>
        </p:nvSpPr>
        <p:spPr>
          <a:xfrm>
            <a:off x="548640" y="2916936"/>
            <a:ext cx="6766560" cy="777240"/>
          </a:xfrm>
          <a:prstGeom prst="roundRect">
            <a:avLst>
              <a:gd name="adj" fmla="val 9412"/>
            </a:avLst>
          </a:prstGeom>
          <a:solidFill>
            <a:srgbClr val="1B4332"/>
          </a:solidFill>
          <a:ln/>
        </p:spPr>
      </p:sp>
      <p:sp>
        <p:nvSpPr>
          <p:cNvPr id="12" name="Text 10"/>
          <p:cNvSpPr txBox="1"/>
          <p:nvPr/>
        </p:nvSpPr>
        <p:spPr>
          <a:xfrm>
            <a:off x="777240" y="2990088"/>
            <a:ext cx="6309360" cy="292608"/>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AI Layer</a:t>
            </a:r>
            <a:endParaRPr lang="en-US" sz="1400" dirty="0"/>
          </a:p>
        </p:txBody>
      </p:sp>
      <p:sp>
        <p:nvSpPr>
          <p:cNvPr id="13" name="Text 11"/>
          <p:cNvSpPr txBox="1"/>
          <p:nvPr/>
        </p:nvSpPr>
        <p:spPr>
          <a:xfrm>
            <a:off x="777240" y="3282696"/>
            <a:ext cx="6309360" cy="365760"/>
          </a:xfrm>
          <a:prstGeom prst="rect">
            <a:avLst/>
          </a:prstGeom>
          <a:noFill/>
          <a:ln/>
        </p:spPr>
        <p:txBody>
          <a:bodyPr wrap="square" rtlCol="0" anchor="ctr"/>
          <a:lstStyle/>
          <a:p>
            <a:pPr indent="0" marL="0">
              <a:buNone/>
            </a:pPr>
            <a:r>
              <a:rPr lang="en-US" sz="1050" dirty="0">
                <a:solidFill>
                  <a:srgbClr val="E8F5EC"/>
                </a:solidFill>
                <a:latin typeface="Calibri" pitchFamily="34" charset="0"/>
                <a:ea typeface="Calibri" pitchFamily="34" charset="-122"/>
                <a:cs typeface="Calibri" pitchFamily="34" charset="-120"/>
              </a:rPr>
              <a:t>Forecasting · Pattern detection · Recommendation generation</a:t>
            </a:r>
            <a:endParaRPr lang="en-US" sz="1050" dirty="0"/>
          </a:p>
        </p:txBody>
      </p:sp>
      <p:sp>
        <p:nvSpPr>
          <p:cNvPr id="14" name="Text 12"/>
          <p:cNvSpPr txBox="1"/>
          <p:nvPr/>
        </p:nvSpPr>
        <p:spPr>
          <a:xfrm>
            <a:off x="3749040" y="3694176"/>
            <a:ext cx="365760" cy="109728"/>
          </a:xfrm>
          <a:prstGeom prst="rect">
            <a:avLst/>
          </a:prstGeom>
          <a:noFill/>
          <a:ln/>
        </p:spPr>
        <p:txBody>
          <a:bodyPr wrap="square" rtlCol="0" anchor="ctr"/>
          <a:lstStyle/>
          <a:p>
            <a:pPr algn="ctr" indent="0" marL="0">
              <a:buNone/>
            </a:pPr>
            <a:r>
              <a:rPr lang="en-US" sz="1200" dirty="0">
                <a:solidFill>
                  <a:srgbClr val="40916C"/>
                </a:solidFill>
              </a:rPr>
              <a:t>↓</a:t>
            </a:r>
            <a:endParaRPr lang="en-US" sz="1200" dirty="0"/>
          </a:p>
        </p:txBody>
      </p:sp>
      <p:sp>
        <p:nvSpPr>
          <p:cNvPr id="15" name="Shape 13"/>
          <p:cNvSpPr/>
          <p:nvPr/>
        </p:nvSpPr>
        <p:spPr>
          <a:xfrm>
            <a:off x="548640" y="3803904"/>
            <a:ext cx="6766560" cy="777240"/>
          </a:xfrm>
          <a:prstGeom prst="roundRect">
            <a:avLst>
              <a:gd name="adj" fmla="val 9412"/>
            </a:avLst>
          </a:prstGeom>
          <a:solidFill>
            <a:srgbClr val="40916C"/>
          </a:solidFill>
          <a:ln/>
        </p:spPr>
      </p:sp>
      <p:sp>
        <p:nvSpPr>
          <p:cNvPr id="16" name="Text 14"/>
          <p:cNvSpPr txBox="1"/>
          <p:nvPr/>
        </p:nvSpPr>
        <p:spPr>
          <a:xfrm>
            <a:off x="777240" y="3877056"/>
            <a:ext cx="6309360" cy="292608"/>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Optimization Layer</a:t>
            </a:r>
            <a:endParaRPr lang="en-US" sz="1400" dirty="0"/>
          </a:p>
        </p:txBody>
      </p:sp>
      <p:sp>
        <p:nvSpPr>
          <p:cNvPr id="17" name="Text 15"/>
          <p:cNvSpPr txBox="1"/>
          <p:nvPr/>
        </p:nvSpPr>
        <p:spPr>
          <a:xfrm>
            <a:off x="777240" y="4169664"/>
            <a:ext cx="6309360" cy="365760"/>
          </a:xfrm>
          <a:prstGeom prst="rect">
            <a:avLst/>
          </a:prstGeom>
          <a:noFill/>
          <a:ln/>
        </p:spPr>
        <p:txBody>
          <a:bodyPr wrap="square" rtlCol="0" anchor="ctr"/>
          <a:lstStyle/>
          <a:p>
            <a:pPr indent="0" marL="0">
              <a:buNone/>
            </a:pPr>
            <a:r>
              <a:rPr lang="en-US" sz="1050" dirty="0">
                <a:solidFill>
                  <a:srgbClr val="E8F5EC"/>
                </a:solidFill>
                <a:latin typeface="Calibri" pitchFamily="34" charset="0"/>
                <a:ea typeface="Calibri" pitchFamily="34" charset="-122"/>
                <a:cs typeface="Calibri" pitchFamily="34" charset="-120"/>
              </a:rPr>
              <a:t>Surplus detection · Deficit detection · Load-shifting suggestions</a:t>
            </a:r>
            <a:endParaRPr lang="en-US" sz="1050" dirty="0"/>
          </a:p>
        </p:txBody>
      </p:sp>
      <p:sp>
        <p:nvSpPr>
          <p:cNvPr id="18" name="Text 16"/>
          <p:cNvSpPr txBox="1"/>
          <p:nvPr/>
        </p:nvSpPr>
        <p:spPr>
          <a:xfrm>
            <a:off x="3749040" y="4581144"/>
            <a:ext cx="365760" cy="109728"/>
          </a:xfrm>
          <a:prstGeom prst="rect">
            <a:avLst/>
          </a:prstGeom>
          <a:noFill/>
          <a:ln/>
        </p:spPr>
        <p:txBody>
          <a:bodyPr wrap="square" rtlCol="0" anchor="ctr"/>
          <a:lstStyle/>
          <a:p>
            <a:pPr algn="ctr" indent="0" marL="0">
              <a:buNone/>
            </a:pPr>
            <a:r>
              <a:rPr lang="en-US" sz="1200" dirty="0">
                <a:solidFill>
                  <a:srgbClr val="40916C"/>
                </a:solidFill>
              </a:rPr>
              <a:t>↓</a:t>
            </a:r>
            <a:endParaRPr lang="en-US" sz="1200" dirty="0"/>
          </a:p>
        </p:txBody>
      </p:sp>
      <p:sp>
        <p:nvSpPr>
          <p:cNvPr id="19" name="Shape 17"/>
          <p:cNvSpPr/>
          <p:nvPr/>
        </p:nvSpPr>
        <p:spPr>
          <a:xfrm>
            <a:off x="548640" y="4690872"/>
            <a:ext cx="6766560" cy="777240"/>
          </a:xfrm>
          <a:prstGeom prst="roundRect">
            <a:avLst>
              <a:gd name="adj" fmla="val 9412"/>
            </a:avLst>
          </a:prstGeom>
          <a:solidFill>
            <a:srgbClr val="F4A300"/>
          </a:solidFill>
          <a:ln/>
        </p:spPr>
      </p:sp>
      <p:sp>
        <p:nvSpPr>
          <p:cNvPr id="20" name="Text 18"/>
          <p:cNvSpPr txBox="1"/>
          <p:nvPr/>
        </p:nvSpPr>
        <p:spPr>
          <a:xfrm>
            <a:off x="777240" y="4764024"/>
            <a:ext cx="6309360" cy="292608"/>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User Layer — RenewAI Dashboard</a:t>
            </a:r>
            <a:endParaRPr lang="en-US" sz="1400" dirty="0"/>
          </a:p>
        </p:txBody>
      </p:sp>
      <p:sp>
        <p:nvSpPr>
          <p:cNvPr id="21" name="Text 19"/>
          <p:cNvSpPr txBox="1"/>
          <p:nvPr/>
        </p:nvSpPr>
        <p:spPr>
          <a:xfrm>
            <a:off x="777240" y="5056632"/>
            <a:ext cx="6309360" cy="365760"/>
          </a:xfrm>
          <a:prstGeom prst="rect">
            <a:avLst/>
          </a:prstGeom>
          <a:noFill/>
          <a:ln/>
        </p:spPr>
        <p:txBody>
          <a:bodyPr wrap="square" rtlCol="0" anchor="ctr"/>
          <a:lstStyle/>
          <a:p>
            <a:pPr indent="0" marL="0">
              <a:buNone/>
            </a:pPr>
            <a:r>
              <a:rPr lang="en-US" sz="1050" dirty="0">
                <a:solidFill>
                  <a:srgbClr val="1B4332"/>
                </a:solidFill>
                <a:latin typeface="Calibri" pitchFamily="34" charset="0"/>
                <a:ea typeface="Calibri" pitchFamily="34" charset="-122"/>
                <a:cs typeface="Calibri" pitchFamily="34" charset="-120"/>
              </a:rPr>
              <a:t>Charts · Forecasts · Alerts · Recommendations · Sustainability indicators</a:t>
            </a:r>
            <a:endParaRPr lang="en-US" sz="1050" dirty="0"/>
          </a:p>
        </p:txBody>
      </p:sp>
      <p:sp>
        <p:nvSpPr>
          <p:cNvPr id="22" name="Shape 20"/>
          <p:cNvSpPr/>
          <p:nvPr/>
        </p:nvSpPr>
        <p:spPr>
          <a:xfrm>
            <a:off x="7543800" y="1143000"/>
            <a:ext cx="4069080" cy="4709160"/>
          </a:xfrm>
          <a:prstGeom prst="roundRect">
            <a:avLst>
              <a:gd name="adj" fmla="val 1798"/>
            </a:avLst>
          </a:prstGeom>
          <a:solidFill>
            <a:srgbClr val="EAF4EC"/>
          </a:solidFill>
          <a:ln/>
        </p:spPr>
      </p:sp>
      <p:sp>
        <p:nvSpPr>
          <p:cNvPr id="23" name="Text 21"/>
          <p:cNvSpPr txBox="1"/>
          <p:nvPr/>
        </p:nvSpPr>
        <p:spPr>
          <a:xfrm>
            <a:off x="7772400" y="1280160"/>
            <a:ext cx="3657600" cy="365760"/>
          </a:xfrm>
          <a:prstGeom prst="rect">
            <a:avLst/>
          </a:prstGeom>
          <a:noFill/>
          <a:ln/>
        </p:spPr>
        <p:txBody>
          <a:bodyPr wrap="square" rtlCol="0" anchor="ctr"/>
          <a:lstStyle/>
          <a:p>
            <a:pPr indent="0" marL="0">
              <a:buNone/>
            </a:pPr>
            <a:r>
              <a:rPr lang="en-US" sz="1500" b="1" dirty="0">
                <a:solidFill>
                  <a:srgbClr val="1B4332"/>
                </a:solidFill>
                <a:latin typeface="Cambria" pitchFamily="34" charset="0"/>
                <a:ea typeface="Cambria" pitchFamily="34" charset="-122"/>
                <a:cs typeface="Cambria" pitchFamily="34" charset="-120"/>
              </a:rPr>
              <a:t>Suggested Technology Stack</a:t>
            </a:r>
            <a:endParaRPr lang="en-US" sz="1500" dirty="0"/>
          </a:p>
        </p:txBody>
      </p:sp>
      <p:sp>
        <p:nvSpPr>
          <p:cNvPr id="24" name="Text 22"/>
          <p:cNvSpPr txBox="1"/>
          <p:nvPr/>
        </p:nvSpPr>
        <p:spPr>
          <a:xfrm>
            <a:off x="7772400" y="1783080"/>
            <a:ext cx="3566160" cy="685800"/>
          </a:xfrm>
          <a:prstGeom prst="rect">
            <a:avLst/>
          </a:prstGeom>
          <a:noFill/>
          <a:ln/>
        </p:spPr>
        <p:txBody>
          <a:bodyPr wrap="square" rtlCol="0" anchor="t"/>
          <a:lstStyle/>
          <a:p>
            <a:pPr indent="0" marL="0">
              <a:buNone/>
            </a:pPr>
            <a:r>
              <a:rPr lang="en-US" sz="1200" b="1" dirty="0">
                <a:solidFill>
                  <a:srgbClr val="40916C"/>
                </a:solidFill>
                <a:latin typeface="Calibri" pitchFamily="34" charset="0"/>
                <a:ea typeface="Calibri" pitchFamily="34" charset="-122"/>
                <a:cs typeface="Calibri" pitchFamily="34" charset="-120"/>
              </a:rPr>
              <a:t>Frontend
</a:t>
            </a:r>
            <a:endParaRPr lang="en-US" sz="1200" dirty="0"/>
          </a:p>
          <a:p>
            <a:pPr indent="0" marL="0">
              <a:buNone/>
            </a:pPr>
            <a:r>
              <a:rPr lang="en-US" sz="1250" dirty="0">
                <a:solidFill>
                  <a:srgbClr val="1B2E28"/>
                </a:solidFill>
                <a:latin typeface="Calibri" pitchFamily="34" charset="0"/>
                <a:ea typeface="Calibri" pitchFamily="34" charset="-122"/>
                <a:cs typeface="Calibri" pitchFamily="34" charset="-120"/>
              </a:rPr>
              <a:t>React + TypeScript</a:t>
            </a:r>
            <a:endParaRPr lang="en-US" sz="1200" dirty="0"/>
          </a:p>
        </p:txBody>
      </p:sp>
      <p:sp>
        <p:nvSpPr>
          <p:cNvPr id="25" name="Text 23"/>
          <p:cNvSpPr txBox="1"/>
          <p:nvPr/>
        </p:nvSpPr>
        <p:spPr>
          <a:xfrm>
            <a:off x="7772400" y="2514600"/>
            <a:ext cx="3566160" cy="685800"/>
          </a:xfrm>
          <a:prstGeom prst="rect">
            <a:avLst/>
          </a:prstGeom>
          <a:noFill/>
          <a:ln/>
        </p:spPr>
        <p:txBody>
          <a:bodyPr wrap="square" rtlCol="0" anchor="t"/>
          <a:lstStyle/>
          <a:p>
            <a:pPr indent="0" marL="0">
              <a:buNone/>
            </a:pPr>
            <a:r>
              <a:rPr lang="en-US" sz="1200" b="1" dirty="0">
                <a:solidFill>
                  <a:srgbClr val="40916C"/>
                </a:solidFill>
                <a:latin typeface="Calibri" pitchFamily="34" charset="0"/>
                <a:ea typeface="Calibri" pitchFamily="34" charset="-122"/>
                <a:cs typeface="Calibri" pitchFamily="34" charset="-120"/>
              </a:rPr>
              <a:t>Backend
</a:t>
            </a:r>
            <a:endParaRPr lang="en-US" sz="1200" dirty="0"/>
          </a:p>
          <a:p>
            <a:pPr indent="0" marL="0">
              <a:buNone/>
            </a:pPr>
            <a:r>
              <a:rPr lang="en-US" sz="1250" dirty="0">
                <a:solidFill>
                  <a:srgbClr val="1B2E28"/>
                </a:solidFill>
                <a:latin typeface="Calibri" pitchFamily="34" charset="0"/>
                <a:ea typeface="Calibri" pitchFamily="34" charset="-122"/>
                <a:cs typeface="Calibri" pitchFamily="34" charset="-120"/>
              </a:rPr>
              <a:t>Python + FastAPI</a:t>
            </a:r>
            <a:endParaRPr lang="en-US" sz="1200" dirty="0"/>
          </a:p>
        </p:txBody>
      </p:sp>
      <p:sp>
        <p:nvSpPr>
          <p:cNvPr id="26" name="Text 24"/>
          <p:cNvSpPr txBox="1"/>
          <p:nvPr/>
        </p:nvSpPr>
        <p:spPr>
          <a:xfrm>
            <a:off x="7772400" y="3246120"/>
            <a:ext cx="3566160" cy="685800"/>
          </a:xfrm>
          <a:prstGeom prst="rect">
            <a:avLst/>
          </a:prstGeom>
          <a:noFill/>
          <a:ln/>
        </p:spPr>
        <p:txBody>
          <a:bodyPr wrap="square" rtlCol="0" anchor="t"/>
          <a:lstStyle/>
          <a:p>
            <a:pPr indent="0" marL="0">
              <a:buNone/>
            </a:pPr>
            <a:r>
              <a:rPr lang="en-US" sz="1200" b="1" dirty="0">
                <a:solidFill>
                  <a:srgbClr val="40916C"/>
                </a:solidFill>
                <a:latin typeface="Calibri" pitchFamily="34" charset="0"/>
                <a:ea typeface="Calibri" pitchFamily="34" charset="-122"/>
                <a:cs typeface="Calibri" pitchFamily="34" charset="-120"/>
              </a:rPr>
              <a:t>Data
</a:t>
            </a:r>
            <a:endParaRPr lang="en-US" sz="1200" dirty="0"/>
          </a:p>
          <a:p>
            <a:pPr indent="0" marL="0">
              <a:buNone/>
            </a:pPr>
            <a:r>
              <a:rPr lang="en-US" sz="1250" dirty="0">
                <a:solidFill>
                  <a:srgbClr val="1B2E28"/>
                </a:solidFill>
                <a:latin typeface="Calibri" pitchFamily="34" charset="0"/>
                <a:ea typeface="Calibri" pitchFamily="34" charset="-122"/>
                <a:cs typeface="Calibri" pitchFamily="34" charset="-120"/>
              </a:rPr>
              <a:t>CSV / JSON</a:t>
            </a:r>
            <a:endParaRPr lang="en-US" sz="1200" dirty="0"/>
          </a:p>
        </p:txBody>
      </p:sp>
      <p:sp>
        <p:nvSpPr>
          <p:cNvPr id="27" name="Text 25"/>
          <p:cNvSpPr txBox="1"/>
          <p:nvPr/>
        </p:nvSpPr>
        <p:spPr>
          <a:xfrm>
            <a:off x="7772400" y="3977640"/>
            <a:ext cx="3566160" cy="685800"/>
          </a:xfrm>
          <a:prstGeom prst="rect">
            <a:avLst/>
          </a:prstGeom>
          <a:noFill/>
          <a:ln/>
        </p:spPr>
        <p:txBody>
          <a:bodyPr wrap="square" rtlCol="0" anchor="t"/>
          <a:lstStyle/>
          <a:p>
            <a:pPr indent="0" marL="0">
              <a:buNone/>
            </a:pPr>
            <a:r>
              <a:rPr lang="en-US" sz="1200" b="1" dirty="0">
                <a:solidFill>
                  <a:srgbClr val="40916C"/>
                </a:solidFill>
                <a:latin typeface="Calibri" pitchFamily="34" charset="0"/>
                <a:ea typeface="Calibri" pitchFamily="34" charset="-122"/>
                <a:cs typeface="Calibri" pitchFamily="34" charset="-120"/>
              </a:rPr>
              <a:t>Visualization
</a:t>
            </a:r>
            <a:endParaRPr lang="en-US" sz="1200" dirty="0"/>
          </a:p>
          <a:p>
            <a:pPr indent="0" marL="0">
              <a:buNone/>
            </a:pPr>
            <a:r>
              <a:rPr lang="en-US" sz="1250" dirty="0">
                <a:solidFill>
                  <a:srgbClr val="1B2E28"/>
                </a:solidFill>
                <a:latin typeface="Calibri" pitchFamily="34" charset="0"/>
                <a:ea typeface="Calibri" pitchFamily="34" charset="-122"/>
                <a:cs typeface="Calibri" pitchFamily="34" charset="-120"/>
              </a:rPr>
              <a:t>Interactive charts</a:t>
            </a:r>
            <a:endParaRPr lang="en-US" sz="1200" dirty="0"/>
          </a:p>
        </p:txBody>
      </p:sp>
      <p:sp>
        <p:nvSpPr>
          <p:cNvPr id="28" name="Text 26"/>
          <p:cNvSpPr txBox="1"/>
          <p:nvPr/>
        </p:nvSpPr>
        <p:spPr>
          <a:xfrm>
            <a:off x="7772400" y="4709160"/>
            <a:ext cx="3566160" cy="685800"/>
          </a:xfrm>
          <a:prstGeom prst="rect">
            <a:avLst/>
          </a:prstGeom>
          <a:noFill/>
          <a:ln/>
        </p:spPr>
        <p:txBody>
          <a:bodyPr wrap="square" rtlCol="0" anchor="t"/>
          <a:lstStyle/>
          <a:p>
            <a:pPr indent="0" marL="0">
              <a:buNone/>
            </a:pPr>
            <a:r>
              <a:rPr lang="en-US" sz="1200" b="1" dirty="0">
                <a:solidFill>
                  <a:srgbClr val="40916C"/>
                </a:solidFill>
                <a:latin typeface="Calibri" pitchFamily="34" charset="0"/>
                <a:ea typeface="Calibri" pitchFamily="34" charset="-122"/>
                <a:cs typeface="Calibri" pitchFamily="34" charset="-120"/>
              </a:rPr>
              <a:t>AI
</a:t>
            </a:r>
            <a:endParaRPr lang="en-US" sz="1200" dirty="0"/>
          </a:p>
          <a:p>
            <a:pPr indent="0" marL="0">
              <a:buNone/>
            </a:pPr>
            <a:r>
              <a:rPr lang="en-US" sz="1250" dirty="0">
                <a:solidFill>
                  <a:srgbClr val="1B2E28"/>
                </a:solidFill>
                <a:latin typeface="Calibri" pitchFamily="34" charset="0"/>
                <a:ea typeface="Calibri" pitchFamily="34" charset="-122"/>
                <a:cs typeface="Calibri" pitchFamily="34" charset="-120"/>
              </a:rPr>
              <a:t>LLM / AI workflow</a:t>
            </a:r>
            <a:endParaRPr lang="en-US" sz="1200" dirty="0"/>
          </a:p>
        </p:txBody>
      </p:sp>
      <p:sp>
        <p:nvSpPr>
          <p:cNvPr id="29" name="Text 27"/>
          <p:cNvSpPr txBox="1"/>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2796F"/>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rtlCol="0" anchor="ctr"/>
          <a:lstStyle/>
          <a:p>
            <a:pPr indent="0" marL="0">
              <a:buNone/>
            </a:pPr>
            <a:r>
              <a:rPr lang="en-US" sz="3200" b="1" dirty="0">
                <a:solidFill>
                  <a:srgbClr val="1B4332"/>
                </a:solidFill>
                <a:latin typeface="Cambria" pitchFamily="34" charset="0"/>
                <a:ea typeface="Cambria" pitchFamily="34" charset="-122"/>
                <a:cs typeface="Cambria" pitchFamily="34" charset="-120"/>
              </a:rPr>
              <a:t>How Does RenewAI Optimize Energy?</a:t>
            </a:r>
            <a:endParaRPr lang="en-US" sz="3200" dirty="0"/>
          </a:p>
        </p:txBody>
      </p:sp>
      <p:sp>
        <p:nvSpPr>
          <p:cNvPr id="3" name="Shape 1"/>
          <p:cNvSpPr/>
          <p:nvPr/>
        </p:nvSpPr>
        <p:spPr>
          <a:xfrm>
            <a:off x="548640" y="1143000"/>
            <a:ext cx="10881360" cy="777240"/>
          </a:xfrm>
          <a:prstGeom prst="roundRect">
            <a:avLst>
              <a:gd name="adj" fmla="val 9412"/>
            </a:avLst>
          </a:prstGeom>
          <a:solidFill>
            <a:srgbClr val="1B4332"/>
          </a:solidFill>
          <a:ln/>
        </p:spPr>
      </p:sp>
      <p:sp>
        <p:nvSpPr>
          <p:cNvPr id="4" name="Text 2"/>
          <p:cNvSpPr txBox="1"/>
          <p:nvPr/>
        </p:nvSpPr>
        <p:spPr>
          <a:xfrm>
            <a:off x="548640" y="1143000"/>
            <a:ext cx="10881360" cy="777240"/>
          </a:xfrm>
          <a:prstGeom prst="rect">
            <a:avLst/>
          </a:prstGeom>
          <a:noFill/>
          <a:ln/>
        </p:spPr>
        <p:txBody>
          <a:bodyPr wrap="square" rtlCol="0" anchor="ctr"/>
          <a:lstStyle/>
          <a:p>
            <a:pPr algn="ctr" indent="0" marL="0">
              <a:buNone/>
            </a:pPr>
            <a:r>
              <a:rPr lang="en-US" sz="1800" b="1" dirty="0">
                <a:solidFill>
                  <a:srgbClr val="D8F3DC"/>
                </a:solidFill>
                <a:latin typeface="Cambria" pitchFamily="34" charset="0"/>
                <a:ea typeface="Cambria" pitchFamily="34" charset="-122"/>
                <a:cs typeface="Cambria" pitchFamily="34" charset="-120"/>
              </a:rPr>
              <a:t>Energy Balance  =  </a:t>
            </a:r>
            <a:pPr algn="ctr" indent="0" marL="0">
              <a:buNone/>
            </a:pPr>
            <a:r>
              <a:rPr lang="en-US" sz="1800" b="1" dirty="0">
                <a:solidFill>
                  <a:srgbClr val="F4A300"/>
                </a:solidFill>
                <a:latin typeface="Cambria" pitchFamily="34" charset="0"/>
                <a:ea typeface="Cambria" pitchFamily="34" charset="-122"/>
                <a:cs typeface="Cambria" pitchFamily="34" charset="-120"/>
              </a:rPr>
              <a:t>Renewable Generation  −  Energy Consumption</a:t>
            </a:r>
            <a:endParaRPr lang="en-US" sz="1800" dirty="0"/>
          </a:p>
        </p:txBody>
      </p:sp>
      <p:sp>
        <p:nvSpPr>
          <p:cNvPr id="5" name="Shape 3"/>
          <p:cNvSpPr/>
          <p:nvPr/>
        </p:nvSpPr>
        <p:spPr>
          <a:xfrm>
            <a:off x="548640" y="2194560"/>
            <a:ext cx="5440680" cy="3794760"/>
          </a:xfrm>
          <a:prstGeom prst="roundRect">
            <a:avLst>
              <a:gd name="adj" fmla="val 1928"/>
            </a:avLst>
          </a:prstGeom>
          <a:solidFill>
            <a:srgbClr val="EAF4EC"/>
          </a:solidFill>
          <a:ln/>
        </p:spPr>
      </p:sp>
      <p:sp>
        <p:nvSpPr>
          <p:cNvPr id="6" name="Shape 4"/>
          <p:cNvSpPr/>
          <p:nvPr/>
        </p:nvSpPr>
        <p:spPr>
          <a:xfrm>
            <a:off x="822960" y="2423160"/>
            <a:ext cx="502920" cy="502920"/>
          </a:xfrm>
          <a:prstGeom prst="ellipse">
            <a:avLst/>
          </a:prstGeom>
          <a:solidFill>
            <a:srgbClr val="40916C"/>
          </a:solidFill>
          <a:ln/>
        </p:spPr>
      </p:sp>
      <p:sp>
        <p:nvSpPr>
          <p:cNvPr id="7" name="Text 5"/>
          <p:cNvSpPr txBox="1"/>
          <p:nvPr/>
        </p:nvSpPr>
        <p:spPr>
          <a:xfrm>
            <a:off x="822960" y="2423160"/>
            <a:ext cx="502920" cy="50292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8" name="Text 6"/>
          <p:cNvSpPr txBox="1"/>
          <p:nvPr/>
        </p:nvSpPr>
        <p:spPr>
          <a:xfrm>
            <a:off x="1463040" y="2468880"/>
            <a:ext cx="4297680" cy="411480"/>
          </a:xfrm>
          <a:prstGeom prst="rect">
            <a:avLst/>
          </a:prstGeom>
          <a:noFill/>
          <a:ln/>
        </p:spPr>
        <p:txBody>
          <a:bodyPr wrap="square" rtlCol="0" anchor="ctr"/>
          <a:lstStyle/>
          <a:p>
            <a:pPr indent="0" marL="0">
              <a:buNone/>
            </a:pPr>
            <a:r>
              <a:rPr lang="en-US" sz="1500" b="1" dirty="0">
                <a:solidFill>
                  <a:srgbClr val="1B4332"/>
                </a:solidFill>
                <a:latin typeface="Cambria" pitchFamily="34" charset="0"/>
                <a:ea typeface="Cambria" pitchFamily="34" charset="-122"/>
                <a:cs typeface="Cambria" pitchFamily="34" charset="-120"/>
              </a:rPr>
              <a:t>Situation 1 — Energy Surplus</a:t>
            </a:r>
            <a:endParaRPr lang="en-US" sz="1500" dirty="0"/>
          </a:p>
        </p:txBody>
      </p:sp>
      <p:sp>
        <p:nvSpPr>
          <p:cNvPr id="9" name="Text 7"/>
          <p:cNvSpPr txBox="1"/>
          <p:nvPr/>
        </p:nvSpPr>
        <p:spPr>
          <a:xfrm>
            <a:off x="822960" y="3017520"/>
            <a:ext cx="4892040" cy="320040"/>
          </a:xfrm>
          <a:prstGeom prst="rect">
            <a:avLst/>
          </a:prstGeom>
          <a:noFill/>
          <a:ln/>
        </p:spPr>
        <p:txBody>
          <a:bodyPr wrap="square" rtlCol="0" anchor="ctr"/>
          <a:lstStyle/>
          <a:p>
            <a:pPr indent="0" marL="0">
              <a:buNone/>
            </a:pPr>
            <a:r>
              <a:rPr lang="en-US" sz="1250" i="1" dirty="0">
                <a:solidFill>
                  <a:srgbClr val="52796F"/>
                </a:solidFill>
                <a:latin typeface="Calibri" pitchFamily="34" charset="0"/>
                <a:ea typeface="Calibri" pitchFamily="34" charset="-122"/>
                <a:cs typeface="Calibri" pitchFamily="34" charset="-120"/>
              </a:rPr>
              <a:t>If:  Generation &gt; Consumption</a:t>
            </a:r>
            <a:endParaRPr lang="en-US" sz="1250" dirty="0"/>
          </a:p>
        </p:txBody>
      </p:sp>
      <p:sp>
        <p:nvSpPr>
          <p:cNvPr id="10" name="Text 8"/>
          <p:cNvSpPr txBox="1"/>
          <p:nvPr/>
        </p:nvSpPr>
        <p:spPr>
          <a:xfrm>
            <a:off x="822960" y="3429000"/>
            <a:ext cx="4892040" cy="23774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E28"/>
                </a:solidFill>
                <a:latin typeface="Calibri" pitchFamily="34" charset="0"/>
                <a:ea typeface="Calibri" pitchFamily="34" charset="-122"/>
                <a:cs typeface="Calibri" pitchFamily="34" charset="-120"/>
              </a:rPr>
              <a:t>Use suitable flexible loads</a:t>
            </a:r>
            <a:endParaRPr lang="en-US" sz="1300" dirty="0"/>
          </a:p>
          <a:p>
            <a:pPr marL="177800" indent="-177800">
              <a:spcAft>
                <a:spcPts val="800"/>
              </a:spcAft>
              <a:buSzPct val="100000"/>
              <a:buChar char="•"/>
            </a:pPr>
            <a:r>
              <a:rPr lang="en-US" sz="1300" dirty="0">
                <a:solidFill>
                  <a:srgbClr val="1B2E28"/>
                </a:solidFill>
                <a:latin typeface="Calibri" pitchFamily="34" charset="0"/>
                <a:ea typeface="Calibri" pitchFamily="34" charset="-122"/>
                <a:cs typeface="Calibri" pitchFamily="34" charset="-120"/>
              </a:rPr>
              <a:t>Consider energy storage</a:t>
            </a:r>
            <a:endParaRPr lang="en-US" sz="1300" dirty="0"/>
          </a:p>
          <a:p>
            <a:pPr marL="177800" indent="-177800">
              <a:spcAft>
                <a:spcPts val="800"/>
              </a:spcAft>
              <a:buSzPct val="100000"/>
              <a:buChar char="•"/>
            </a:pPr>
            <a:r>
              <a:rPr lang="en-US" sz="1300" dirty="0">
                <a:solidFill>
                  <a:srgbClr val="1B2E28"/>
                </a:solidFill>
                <a:latin typeface="Calibri" pitchFamily="34" charset="0"/>
                <a:ea typeface="Calibri" pitchFamily="34" charset="-122"/>
                <a:cs typeface="Calibri" pitchFamily="34" charset="-120"/>
              </a:rPr>
              <a:t>Schedule non-critical activities during high renewable availability</a:t>
            </a:r>
            <a:endParaRPr lang="en-US" sz="1300" dirty="0"/>
          </a:p>
        </p:txBody>
      </p:sp>
      <p:sp>
        <p:nvSpPr>
          <p:cNvPr id="11" name="Shape 9"/>
          <p:cNvSpPr/>
          <p:nvPr/>
        </p:nvSpPr>
        <p:spPr>
          <a:xfrm>
            <a:off x="6172200" y="2194560"/>
            <a:ext cx="5440680" cy="3794760"/>
          </a:xfrm>
          <a:prstGeom prst="roundRect">
            <a:avLst>
              <a:gd name="adj" fmla="val 1928"/>
            </a:avLst>
          </a:prstGeom>
          <a:solidFill>
            <a:srgbClr val="F6EFDD"/>
          </a:solidFill>
          <a:ln/>
        </p:spPr>
      </p:sp>
      <p:sp>
        <p:nvSpPr>
          <p:cNvPr id="12" name="Shape 10"/>
          <p:cNvSpPr/>
          <p:nvPr/>
        </p:nvSpPr>
        <p:spPr>
          <a:xfrm>
            <a:off x="6446520" y="2423160"/>
            <a:ext cx="502920" cy="502920"/>
          </a:xfrm>
          <a:prstGeom prst="ellipse">
            <a:avLst/>
          </a:prstGeom>
          <a:solidFill>
            <a:srgbClr val="BC4749"/>
          </a:solidFill>
          <a:ln/>
        </p:spPr>
      </p:sp>
      <p:sp>
        <p:nvSpPr>
          <p:cNvPr id="13" name="Text 11"/>
          <p:cNvSpPr txBox="1"/>
          <p:nvPr/>
        </p:nvSpPr>
        <p:spPr>
          <a:xfrm>
            <a:off x="6446520" y="2423160"/>
            <a:ext cx="502920" cy="50292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4" name="Text 12"/>
          <p:cNvSpPr txBox="1"/>
          <p:nvPr/>
        </p:nvSpPr>
        <p:spPr>
          <a:xfrm>
            <a:off x="7086600" y="2468880"/>
            <a:ext cx="4297680" cy="411480"/>
          </a:xfrm>
          <a:prstGeom prst="rect">
            <a:avLst/>
          </a:prstGeom>
          <a:noFill/>
          <a:ln/>
        </p:spPr>
        <p:txBody>
          <a:bodyPr wrap="square" rtlCol="0" anchor="ctr"/>
          <a:lstStyle/>
          <a:p>
            <a:pPr indent="0" marL="0">
              <a:buNone/>
            </a:pPr>
            <a:r>
              <a:rPr lang="en-US" sz="1500" b="1" dirty="0">
                <a:solidFill>
                  <a:srgbClr val="1B4332"/>
                </a:solidFill>
                <a:latin typeface="Cambria" pitchFamily="34" charset="0"/>
                <a:ea typeface="Cambria" pitchFamily="34" charset="-122"/>
                <a:cs typeface="Cambria" pitchFamily="34" charset="-120"/>
              </a:rPr>
              <a:t>Situation 2 — Energy Deficit</a:t>
            </a:r>
            <a:endParaRPr lang="en-US" sz="1500" dirty="0"/>
          </a:p>
        </p:txBody>
      </p:sp>
      <p:sp>
        <p:nvSpPr>
          <p:cNvPr id="15" name="Text 13"/>
          <p:cNvSpPr txBox="1"/>
          <p:nvPr/>
        </p:nvSpPr>
        <p:spPr>
          <a:xfrm>
            <a:off x="6446520" y="3017520"/>
            <a:ext cx="4892040" cy="320040"/>
          </a:xfrm>
          <a:prstGeom prst="rect">
            <a:avLst/>
          </a:prstGeom>
          <a:noFill/>
          <a:ln/>
        </p:spPr>
        <p:txBody>
          <a:bodyPr wrap="square" rtlCol="0" anchor="ctr"/>
          <a:lstStyle/>
          <a:p>
            <a:pPr indent="0" marL="0">
              <a:buNone/>
            </a:pPr>
            <a:r>
              <a:rPr lang="en-US" sz="1250" i="1" dirty="0">
                <a:solidFill>
                  <a:srgbClr val="52796F"/>
                </a:solidFill>
                <a:latin typeface="Calibri" pitchFamily="34" charset="0"/>
                <a:ea typeface="Calibri" pitchFamily="34" charset="-122"/>
                <a:cs typeface="Calibri" pitchFamily="34" charset="-120"/>
              </a:rPr>
              <a:t>If:  Generation &lt; Consumption</a:t>
            </a:r>
            <a:endParaRPr lang="en-US" sz="1250" dirty="0"/>
          </a:p>
        </p:txBody>
      </p:sp>
      <p:sp>
        <p:nvSpPr>
          <p:cNvPr id="16" name="Text 14"/>
          <p:cNvSpPr txBox="1"/>
          <p:nvPr/>
        </p:nvSpPr>
        <p:spPr>
          <a:xfrm>
            <a:off x="6446520" y="3429000"/>
            <a:ext cx="4892040" cy="23774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E28"/>
                </a:solidFill>
                <a:latin typeface="Calibri" pitchFamily="34" charset="0"/>
                <a:ea typeface="Calibri" pitchFamily="34" charset="-122"/>
                <a:cs typeface="Calibri" pitchFamily="34" charset="-120"/>
              </a:rPr>
              <a:t>Alert the user</a:t>
            </a:r>
            <a:endParaRPr lang="en-US" sz="1300" dirty="0"/>
          </a:p>
          <a:p>
            <a:pPr marL="177800" indent="-177800">
              <a:spcAft>
                <a:spcPts val="800"/>
              </a:spcAft>
              <a:buSzPct val="100000"/>
              <a:buChar char="•"/>
            </a:pPr>
            <a:r>
              <a:rPr lang="en-US" sz="1300" dirty="0">
                <a:solidFill>
                  <a:srgbClr val="1B2E28"/>
                </a:solidFill>
                <a:latin typeface="Calibri" pitchFamily="34" charset="0"/>
                <a:ea typeface="Calibri" pitchFamily="34" charset="-122"/>
                <a:cs typeface="Calibri" pitchFamily="34" charset="-120"/>
              </a:rPr>
              <a:t>Identify high consumption</a:t>
            </a:r>
            <a:endParaRPr lang="en-US" sz="1300" dirty="0"/>
          </a:p>
          <a:p>
            <a:pPr marL="177800" indent="-177800">
              <a:spcAft>
                <a:spcPts val="800"/>
              </a:spcAft>
              <a:buSzPct val="100000"/>
              <a:buChar char="•"/>
            </a:pPr>
            <a:r>
              <a:rPr lang="en-US" sz="1300" dirty="0">
                <a:solidFill>
                  <a:srgbClr val="1B2E28"/>
                </a:solidFill>
                <a:latin typeface="Calibri" pitchFamily="34" charset="0"/>
                <a:ea typeface="Calibri" pitchFamily="34" charset="-122"/>
                <a:cs typeface="Calibri" pitchFamily="34" charset="-120"/>
              </a:rPr>
              <a:t>Suggest reducing or shifting non-critical loads</a:t>
            </a:r>
            <a:endParaRPr lang="en-US" sz="1300" dirty="0"/>
          </a:p>
          <a:p>
            <a:pPr marL="177800" indent="-177800">
              <a:spcAft>
                <a:spcPts val="800"/>
              </a:spcAft>
              <a:buSzPct val="100000"/>
              <a:buChar char="•"/>
            </a:pPr>
            <a:r>
              <a:rPr lang="en-US" sz="1300" dirty="0">
                <a:solidFill>
                  <a:srgbClr val="1B2E28"/>
                </a:solidFill>
                <a:latin typeface="Calibri" pitchFamily="34" charset="0"/>
                <a:ea typeface="Calibri" pitchFamily="34" charset="-122"/>
                <a:cs typeface="Calibri" pitchFamily="34" charset="-120"/>
              </a:rPr>
              <a:t>Warn about an upcoming deficit</a:t>
            </a:r>
            <a:endParaRPr lang="en-US" sz="1300" dirty="0"/>
          </a:p>
        </p:txBody>
      </p:sp>
      <p:sp>
        <p:nvSpPr>
          <p:cNvPr id="17" name="Text 15"/>
          <p:cNvSpPr txBox="1"/>
          <p:nvPr/>
        </p:nvSpPr>
        <p:spPr>
          <a:xfrm>
            <a:off x="548640" y="6419088"/>
            <a:ext cx="10515600" cy="320040"/>
          </a:xfrm>
          <a:prstGeom prst="rect">
            <a:avLst/>
          </a:prstGeom>
          <a:noFill/>
          <a:ln/>
        </p:spPr>
        <p:txBody>
          <a:bodyPr wrap="square" rtlCol="0" anchor="ctr"/>
          <a:lstStyle/>
          <a:p>
            <a:pPr indent="0" marL="0">
              <a:buNone/>
            </a:pPr>
            <a:r>
              <a:rPr lang="en-US" sz="1000" i="1" dirty="0">
                <a:solidFill>
                  <a:srgbClr val="52796F"/>
                </a:solidFill>
                <a:latin typeface="Calibri" pitchFamily="34" charset="0"/>
                <a:ea typeface="Calibri" pitchFamily="34" charset="-122"/>
                <a:cs typeface="Calibri" pitchFamily="34" charset="-120"/>
              </a:rPr>
              <a:t>Important: the system provides decision support rather than automatically controlling electrical equipment.</a:t>
            </a:r>
            <a:endParaRPr lang="en-US" sz="1000" dirty="0"/>
          </a:p>
        </p:txBody>
      </p:sp>
      <p:sp>
        <p:nvSpPr>
          <p:cNvPr id="18" name="Text 16"/>
          <p:cNvSpPr txBox="1"/>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2796F"/>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rtlCol="0" anchor="ctr"/>
          <a:lstStyle/>
          <a:p>
            <a:pPr indent="0" marL="0">
              <a:buNone/>
            </a:pPr>
            <a:r>
              <a:rPr lang="en-US" sz="3200" b="1" dirty="0">
                <a:solidFill>
                  <a:srgbClr val="1B4332"/>
                </a:solidFill>
                <a:latin typeface="Cambria" pitchFamily="34" charset="0"/>
                <a:ea typeface="Cambria" pitchFamily="34" charset="-122"/>
                <a:cs typeface="Cambria" pitchFamily="34" charset="-120"/>
              </a:rPr>
              <a:t>RenewAI Dashboard</a:t>
            </a:r>
            <a:endParaRPr lang="en-US" sz="3200" dirty="0"/>
          </a:p>
        </p:txBody>
      </p:sp>
      <p:sp>
        <p:nvSpPr>
          <p:cNvPr id="3" name="Shape 1"/>
          <p:cNvSpPr/>
          <p:nvPr/>
        </p:nvSpPr>
        <p:spPr>
          <a:xfrm>
            <a:off x="548640" y="1143000"/>
            <a:ext cx="2606040" cy="1371600"/>
          </a:xfrm>
          <a:prstGeom prst="roundRect">
            <a:avLst>
              <a:gd name="adj" fmla="val 5333"/>
            </a:avLst>
          </a:prstGeom>
          <a:solidFill>
            <a:srgbClr val="EAF4EC"/>
          </a:solidFill>
          <a:ln/>
        </p:spPr>
      </p:sp>
      <p:sp>
        <p:nvSpPr>
          <p:cNvPr id="4" name="Text 2"/>
          <p:cNvSpPr txBox="1"/>
          <p:nvPr/>
        </p:nvSpPr>
        <p:spPr>
          <a:xfrm>
            <a:off x="548640" y="1280160"/>
            <a:ext cx="2606040" cy="685800"/>
          </a:xfrm>
          <a:prstGeom prst="rect">
            <a:avLst/>
          </a:prstGeom>
          <a:noFill/>
          <a:ln/>
        </p:spPr>
        <p:txBody>
          <a:bodyPr wrap="square" rtlCol="0" anchor="ctr"/>
          <a:lstStyle/>
          <a:p>
            <a:pPr algn="ctr" indent="0" marL="0">
              <a:buNone/>
            </a:pPr>
            <a:r>
              <a:rPr lang="en-US" sz="3000" b="1" dirty="0">
                <a:solidFill>
                  <a:srgbClr val="40916C"/>
                </a:solidFill>
                <a:latin typeface="Cambria" pitchFamily="34" charset="0"/>
                <a:ea typeface="Cambria" pitchFamily="34" charset="-122"/>
                <a:cs typeface="Cambria" pitchFamily="34" charset="-120"/>
              </a:rPr>
              <a:t>42.6 kW</a:t>
            </a:r>
            <a:endParaRPr lang="en-US" sz="3000" dirty="0"/>
          </a:p>
        </p:txBody>
      </p:sp>
      <p:sp>
        <p:nvSpPr>
          <p:cNvPr id="5" name="Text 3"/>
          <p:cNvSpPr txBox="1"/>
          <p:nvPr/>
        </p:nvSpPr>
        <p:spPr>
          <a:xfrm>
            <a:off x="640080" y="2011680"/>
            <a:ext cx="2423160" cy="457200"/>
          </a:xfrm>
          <a:prstGeom prst="rect">
            <a:avLst/>
          </a:prstGeom>
          <a:noFill/>
          <a:ln/>
        </p:spPr>
        <p:txBody>
          <a:bodyPr wrap="square" rtlCol="0" anchor="ctr"/>
          <a:lstStyle/>
          <a:p>
            <a:pPr algn="ctr" indent="0" marL="0">
              <a:buNone/>
            </a:pPr>
            <a:r>
              <a:rPr lang="en-US" sz="1100" dirty="0">
                <a:solidFill>
                  <a:srgbClr val="1B2E28"/>
                </a:solidFill>
                <a:latin typeface="Calibri" pitchFamily="34" charset="0"/>
                <a:ea typeface="Calibri" pitchFamily="34" charset="-122"/>
                <a:cs typeface="Calibri" pitchFamily="34" charset="-120"/>
              </a:rPr>
              <a:t>Current Solar Generation</a:t>
            </a:r>
            <a:endParaRPr lang="en-US" sz="1100" dirty="0"/>
          </a:p>
        </p:txBody>
      </p:sp>
      <p:sp>
        <p:nvSpPr>
          <p:cNvPr id="6" name="Shape 4"/>
          <p:cNvSpPr/>
          <p:nvPr/>
        </p:nvSpPr>
        <p:spPr>
          <a:xfrm>
            <a:off x="3337560" y="1143000"/>
            <a:ext cx="2606040" cy="1371600"/>
          </a:xfrm>
          <a:prstGeom prst="roundRect">
            <a:avLst>
              <a:gd name="adj" fmla="val 5333"/>
            </a:avLst>
          </a:prstGeom>
          <a:solidFill>
            <a:srgbClr val="EAF4EC"/>
          </a:solidFill>
          <a:ln/>
        </p:spPr>
      </p:sp>
      <p:sp>
        <p:nvSpPr>
          <p:cNvPr id="7" name="Text 5"/>
          <p:cNvSpPr txBox="1"/>
          <p:nvPr/>
        </p:nvSpPr>
        <p:spPr>
          <a:xfrm>
            <a:off x="3337560" y="1280160"/>
            <a:ext cx="2606040" cy="685800"/>
          </a:xfrm>
          <a:prstGeom prst="rect">
            <a:avLst/>
          </a:prstGeom>
          <a:noFill/>
          <a:ln/>
        </p:spPr>
        <p:txBody>
          <a:bodyPr wrap="square" rtlCol="0" anchor="ctr"/>
          <a:lstStyle/>
          <a:p>
            <a:pPr algn="ctr" indent="0" marL="0">
              <a:buNone/>
            </a:pPr>
            <a:r>
              <a:rPr lang="en-US" sz="3000" b="1" dirty="0">
                <a:solidFill>
                  <a:srgbClr val="1B4332"/>
                </a:solidFill>
                <a:latin typeface="Cambria" pitchFamily="34" charset="0"/>
                <a:ea typeface="Cambria" pitchFamily="34" charset="-122"/>
                <a:cs typeface="Cambria" pitchFamily="34" charset="-120"/>
              </a:rPr>
              <a:t>31.8 kW</a:t>
            </a:r>
            <a:endParaRPr lang="en-US" sz="3000" dirty="0"/>
          </a:p>
        </p:txBody>
      </p:sp>
      <p:sp>
        <p:nvSpPr>
          <p:cNvPr id="8" name="Text 6"/>
          <p:cNvSpPr txBox="1"/>
          <p:nvPr/>
        </p:nvSpPr>
        <p:spPr>
          <a:xfrm>
            <a:off x="3429000" y="2011680"/>
            <a:ext cx="2423160" cy="457200"/>
          </a:xfrm>
          <a:prstGeom prst="rect">
            <a:avLst/>
          </a:prstGeom>
          <a:noFill/>
          <a:ln/>
        </p:spPr>
        <p:txBody>
          <a:bodyPr wrap="square" rtlCol="0" anchor="ctr"/>
          <a:lstStyle/>
          <a:p>
            <a:pPr algn="ctr" indent="0" marL="0">
              <a:buNone/>
            </a:pPr>
            <a:r>
              <a:rPr lang="en-US" sz="1100" dirty="0">
                <a:solidFill>
                  <a:srgbClr val="1B2E28"/>
                </a:solidFill>
                <a:latin typeface="Calibri" pitchFamily="34" charset="0"/>
                <a:ea typeface="Calibri" pitchFamily="34" charset="-122"/>
                <a:cs typeface="Calibri" pitchFamily="34" charset="-120"/>
              </a:rPr>
              <a:t>Current Consumption</a:t>
            </a:r>
            <a:endParaRPr lang="en-US" sz="1100" dirty="0"/>
          </a:p>
        </p:txBody>
      </p:sp>
      <p:sp>
        <p:nvSpPr>
          <p:cNvPr id="9" name="Shape 7"/>
          <p:cNvSpPr/>
          <p:nvPr/>
        </p:nvSpPr>
        <p:spPr>
          <a:xfrm>
            <a:off x="6126480" y="1143000"/>
            <a:ext cx="2606040" cy="1371600"/>
          </a:xfrm>
          <a:prstGeom prst="roundRect">
            <a:avLst>
              <a:gd name="adj" fmla="val 5333"/>
            </a:avLst>
          </a:prstGeom>
          <a:solidFill>
            <a:srgbClr val="EAF4EC"/>
          </a:solidFill>
          <a:ln/>
        </p:spPr>
      </p:sp>
      <p:sp>
        <p:nvSpPr>
          <p:cNvPr id="10" name="Text 8"/>
          <p:cNvSpPr txBox="1"/>
          <p:nvPr/>
        </p:nvSpPr>
        <p:spPr>
          <a:xfrm>
            <a:off x="6126480" y="1280160"/>
            <a:ext cx="2606040" cy="685800"/>
          </a:xfrm>
          <a:prstGeom prst="rect">
            <a:avLst/>
          </a:prstGeom>
          <a:noFill/>
          <a:ln/>
        </p:spPr>
        <p:txBody>
          <a:bodyPr wrap="square" rtlCol="0" anchor="ctr"/>
          <a:lstStyle/>
          <a:p>
            <a:pPr algn="ctr" indent="0" marL="0">
              <a:buNone/>
            </a:pPr>
            <a:r>
              <a:rPr lang="en-US" sz="3000" b="1" dirty="0">
                <a:solidFill>
                  <a:srgbClr val="F4A300"/>
                </a:solidFill>
                <a:latin typeface="Cambria" pitchFamily="34" charset="0"/>
                <a:ea typeface="Cambria" pitchFamily="34" charset="-122"/>
                <a:cs typeface="Cambria" pitchFamily="34" charset="-120"/>
              </a:rPr>
              <a:t>+10.8 kW</a:t>
            </a:r>
            <a:endParaRPr lang="en-US" sz="3000" dirty="0"/>
          </a:p>
        </p:txBody>
      </p:sp>
      <p:sp>
        <p:nvSpPr>
          <p:cNvPr id="11" name="Text 9"/>
          <p:cNvSpPr txBox="1"/>
          <p:nvPr/>
        </p:nvSpPr>
        <p:spPr>
          <a:xfrm>
            <a:off x="6217920" y="2011680"/>
            <a:ext cx="2423160" cy="457200"/>
          </a:xfrm>
          <a:prstGeom prst="rect">
            <a:avLst/>
          </a:prstGeom>
          <a:noFill/>
          <a:ln/>
        </p:spPr>
        <p:txBody>
          <a:bodyPr wrap="square" rtlCol="0" anchor="ctr"/>
          <a:lstStyle/>
          <a:p>
            <a:pPr algn="ctr" indent="0" marL="0">
              <a:buNone/>
            </a:pPr>
            <a:r>
              <a:rPr lang="en-US" sz="1100" dirty="0">
                <a:solidFill>
                  <a:srgbClr val="1B2E28"/>
                </a:solidFill>
                <a:latin typeface="Calibri" pitchFamily="34" charset="0"/>
                <a:ea typeface="Calibri" pitchFamily="34" charset="-122"/>
                <a:cs typeface="Calibri" pitchFamily="34" charset="-120"/>
              </a:rPr>
              <a:t>Energy Balance</a:t>
            </a:r>
            <a:endParaRPr lang="en-US" sz="1100" dirty="0"/>
          </a:p>
        </p:txBody>
      </p:sp>
      <p:sp>
        <p:nvSpPr>
          <p:cNvPr id="12" name="Shape 10"/>
          <p:cNvSpPr/>
          <p:nvPr/>
        </p:nvSpPr>
        <p:spPr>
          <a:xfrm>
            <a:off x="8915400" y="1143000"/>
            <a:ext cx="2606040" cy="1371600"/>
          </a:xfrm>
          <a:prstGeom prst="roundRect">
            <a:avLst>
              <a:gd name="adj" fmla="val 5333"/>
            </a:avLst>
          </a:prstGeom>
          <a:solidFill>
            <a:srgbClr val="EAF4EC"/>
          </a:solidFill>
          <a:ln/>
        </p:spPr>
      </p:sp>
      <p:sp>
        <p:nvSpPr>
          <p:cNvPr id="13" name="Text 11"/>
          <p:cNvSpPr txBox="1"/>
          <p:nvPr/>
        </p:nvSpPr>
        <p:spPr>
          <a:xfrm>
            <a:off x="8915400" y="1280160"/>
            <a:ext cx="2606040" cy="685800"/>
          </a:xfrm>
          <a:prstGeom prst="rect">
            <a:avLst/>
          </a:prstGeom>
          <a:noFill/>
          <a:ln/>
        </p:spPr>
        <p:txBody>
          <a:bodyPr wrap="square" rtlCol="0" anchor="ctr"/>
          <a:lstStyle/>
          <a:p>
            <a:pPr algn="ctr" indent="0" marL="0">
              <a:buNone/>
            </a:pPr>
            <a:r>
              <a:rPr lang="en-US" sz="3000" b="1" dirty="0">
                <a:solidFill>
                  <a:srgbClr val="40916C"/>
                </a:solidFill>
                <a:latin typeface="Cambria" pitchFamily="34" charset="0"/>
                <a:ea typeface="Cambria" pitchFamily="34" charset="-122"/>
                <a:cs typeface="Cambria" pitchFamily="34" charset="-120"/>
              </a:rPr>
              <a:t>74.6%</a:t>
            </a:r>
            <a:endParaRPr lang="en-US" sz="3000" dirty="0"/>
          </a:p>
        </p:txBody>
      </p:sp>
      <p:sp>
        <p:nvSpPr>
          <p:cNvPr id="14" name="Text 12"/>
          <p:cNvSpPr txBox="1"/>
          <p:nvPr/>
        </p:nvSpPr>
        <p:spPr>
          <a:xfrm>
            <a:off x="9006840" y="2011680"/>
            <a:ext cx="2423160" cy="457200"/>
          </a:xfrm>
          <a:prstGeom prst="rect">
            <a:avLst/>
          </a:prstGeom>
          <a:noFill/>
          <a:ln/>
        </p:spPr>
        <p:txBody>
          <a:bodyPr wrap="square" rtlCol="0" anchor="ctr"/>
          <a:lstStyle/>
          <a:p>
            <a:pPr algn="ctr" indent="0" marL="0">
              <a:buNone/>
            </a:pPr>
            <a:r>
              <a:rPr lang="en-US" sz="1100" dirty="0">
                <a:solidFill>
                  <a:srgbClr val="1B2E28"/>
                </a:solidFill>
                <a:latin typeface="Calibri" pitchFamily="34" charset="0"/>
                <a:ea typeface="Calibri" pitchFamily="34" charset="-122"/>
                <a:cs typeface="Calibri" pitchFamily="34" charset="-120"/>
              </a:rPr>
              <a:t>Renewable Utilization</a:t>
            </a:r>
            <a:endParaRPr lang="en-US" sz="1100" dirty="0"/>
          </a:p>
        </p:txBody>
      </p:sp>
      <p:sp>
        <p:nvSpPr>
          <p:cNvPr id="15" name="Text 13"/>
          <p:cNvSpPr txBox="1"/>
          <p:nvPr/>
        </p:nvSpPr>
        <p:spPr>
          <a:xfrm>
            <a:off x="548640" y="2788920"/>
            <a:ext cx="4572000" cy="320040"/>
          </a:xfrm>
          <a:prstGeom prst="rect">
            <a:avLst/>
          </a:prstGeom>
          <a:noFill/>
          <a:ln/>
        </p:spPr>
        <p:txBody>
          <a:bodyPr wrap="square" rtlCol="0" anchor="ctr"/>
          <a:lstStyle/>
          <a:p>
            <a:pPr indent="0" marL="0">
              <a:buNone/>
            </a:pPr>
            <a:r>
              <a:rPr lang="en-US" sz="1500" b="1" dirty="0">
                <a:solidFill>
                  <a:srgbClr val="1B4332"/>
                </a:solidFill>
                <a:latin typeface="Cambria" pitchFamily="34" charset="0"/>
                <a:ea typeface="Cambria" pitchFamily="34" charset="-122"/>
                <a:cs typeface="Cambria" pitchFamily="34" charset="-120"/>
              </a:rPr>
              <a:t>Visualizations</a:t>
            </a:r>
            <a:endParaRPr lang="en-US" sz="1500" dirty="0"/>
          </a:p>
        </p:txBody>
      </p:sp>
      <p:sp>
        <p:nvSpPr>
          <p:cNvPr id="16" name="Text 14"/>
          <p:cNvSpPr txBox="1"/>
          <p:nvPr/>
        </p:nvSpPr>
        <p:spPr>
          <a:xfrm>
            <a:off x="548640" y="3200400"/>
            <a:ext cx="5394960" cy="22860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E28"/>
                </a:solidFill>
                <a:latin typeface="Calibri" pitchFamily="34" charset="0"/>
                <a:ea typeface="Calibri" pitchFamily="34" charset="-122"/>
                <a:cs typeface="Calibri" pitchFamily="34" charset="-120"/>
              </a:rPr>
              <a:t>Solar generation vs consumption</a:t>
            </a:r>
            <a:endParaRPr lang="en-US" sz="1300" dirty="0"/>
          </a:p>
          <a:p>
            <a:pPr marL="177800" indent="-177800">
              <a:spcAft>
                <a:spcPts val="800"/>
              </a:spcAft>
              <a:buSzPct val="100000"/>
              <a:buChar char="•"/>
            </a:pPr>
            <a:r>
              <a:rPr lang="en-US" sz="1300" dirty="0">
                <a:solidFill>
                  <a:srgbClr val="1B2E28"/>
                </a:solidFill>
                <a:latin typeface="Calibri" pitchFamily="34" charset="0"/>
                <a:ea typeface="Calibri" pitchFamily="34" charset="-122"/>
                <a:cs typeface="Calibri" pitchFamily="34" charset="-120"/>
              </a:rPr>
              <a:t>Daily energy trend</a:t>
            </a:r>
            <a:endParaRPr lang="en-US" sz="1300" dirty="0"/>
          </a:p>
          <a:p>
            <a:pPr marL="177800" indent="-177800">
              <a:spcAft>
                <a:spcPts val="800"/>
              </a:spcAft>
              <a:buSzPct val="100000"/>
              <a:buChar char="•"/>
            </a:pPr>
            <a:r>
              <a:rPr lang="en-US" sz="1300" dirty="0">
                <a:solidFill>
                  <a:srgbClr val="1B2E28"/>
                </a:solidFill>
                <a:latin typeface="Calibri" pitchFamily="34" charset="0"/>
                <a:ea typeface="Calibri" pitchFamily="34" charset="-122"/>
                <a:cs typeface="Calibri" pitchFamily="34" charset="-120"/>
              </a:rPr>
              <a:t>Weekly energy trend</a:t>
            </a:r>
            <a:endParaRPr lang="en-US" sz="1300" dirty="0"/>
          </a:p>
          <a:p>
            <a:pPr marL="177800" indent="-177800">
              <a:spcAft>
                <a:spcPts val="800"/>
              </a:spcAft>
              <a:buSzPct val="100000"/>
              <a:buChar char="•"/>
            </a:pPr>
            <a:r>
              <a:rPr lang="en-US" sz="1300" dirty="0">
                <a:solidFill>
                  <a:srgbClr val="1B2E28"/>
                </a:solidFill>
                <a:latin typeface="Calibri" pitchFamily="34" charset="0"/>
                <a:ea typeface="Calibri" pitchFamily="34" charset="-122"/>
                <a:cs typeface="Calibri" pitchFamily="34" charset="-120"/>
              </a:rPr>
              <a:t>Forecast chart</a:t>
            </a:r>
            <a:endParaRPr lang="en-US" sz="1300" dirty="0"/>
          </a:p>
          <a:p>
            <a:pPr marL="177800" indent="-177800">
              <a:spcAft>
                <a:spcPts val="800"/>
              </a:spcAft>
              <a:buSzPct val="100000"/>
              <a:buChar char="•"/>
            </a:pPr>
            <a:r>
              <a:rPr lang="en-US" sz="1300" dirty="0">
                <a:solidFill>
                  <a:srgbClr val="1B2E28"/>
                </a:solidFill>
                <a:latin typeface="Calibri" pitchFamily="34" charset="0"/>
                <a:ea typeface="Calibri" pitchFamily="34" charset="-122"/>
                <a:cs typeface="Calibri" pitchFamily="34" charset="-120"/>
              </a:rPr>
              <a:t>Energy surplus / deficit</a:t>
            </a:r>
            <a:endParaRPr lang="en-US" sz="1300" dirty="0"/>
          </a:p>
          <a:p>
            <a:pPr marL="177800" indent="-177800">
              <a:spcAft>
                <a:spcPts val="800"/>
              </a:spcAft>
              <a:buSzPct val="100000"/>
              <a:buChar char="•"/>
            </a:pPr>
            <a:r>
              <a:rPr lang="en-US" sz="1300" dirty="0">
                <a:solidFill>
                  <a:srgbClr val="1B2E28"/>
                </a:solidFill>
                <a:latin typeface="Calibri" pitchFamily="34" charset="0"/>
                <a:ea typeface="Calibri" pitchFamily="34" charset="-122"/>
                <a:cs typeface="Calibri" pitchFamily="34" charset="-120"/>
              </a:rPr>
              <a:t>Current alerts</a:t>
            </a:r>
            <a:endParaRPr lang="en-US" sz="1300" dirty="0"/>
          </a:p>
        </p:txBody>
      </p:sp>
      <p:sp>
        <p:nvSpPr>
          <p:cNvPr id="17" name="Shape 15"/>
          <p:cNvSpPr/>
          <p:nvPr/>
        </p:nvSpPr>
        <p:spPr>
          <a:xfrm>
            <a:off x="6172200" y="2788920"/>
            <a:ext cx="5440680" cy="2697480"/>
          </a:xfrm>
          <a:prstGeom prst="roundRect">
            <a:avLst>
              <a:gd name="adj" fmla="val 2712"/>
            </a:avLst>
          </a:prstGeom>
          <a:solidFill>
            <a:srgbClr val="1B4332"/>
          </a:solidFill>
          <a:ln/>
        </p:spPr>
      </p:sp>
      <p:sp>
        <p:nvSpPr>
          <p:cNvPr id="18" name="Shape 16"/>
          <p:cNvSpPr/>
          <p:nvPr/>
        </p:nvSpPr>
        <p:spPr>
          <a:xfrm>
            <a:off x="6446520" y="3017520"/>
            <a:ext cx="502920" cy="502920"/>
          </a:xfrm>
          <a:prstGeom prst="ellipse">
            <a:avLst/>
          </a:prstGeom>
          <a:solidFill>
            <a:srgbClr val="F4A300"/>
          </a:solidFill>
          <a:ln/>
        </p:spPr>
      </p:sp>
      <p:sp>
        <p:nvSpPr>
          <p:cNvPr id="19" name="Text 17"/>
          <p:cNvSpPr txBox="1"/>
          <p:nvPr/>
        </p:nvSpPr>
        <p:spPr>
          <a:xfrm>
            <a:off x="6446520" y="3017520"/>
            <a:ext cx="502920" cy="50292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0" name="Text 18"/>
          <p:cNvSpPr txBox="1"/>
          <p:nvPr/>
        </p:nvSpPr>
        <p:spPr>
          <a:xfrm>
            <a:off x="7086600" y="3063240"/>
            <a:ext cx="3657600" cy="41148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AI Insight</a:t>
            </a:r>
            <a:endParaRPr lang="en-US" sz="1500" dirty="0"/>
          </a:p>
        </p:txBody>
      </p:sp>
      <p:sp>
        <p:nvSpPr>
          <p:cNvPr id="21" name="Text 19"/>
          <p:cNvSpPr txBox="1"/>
          <p:nvPr/>
        </p:nvSpPr>
        <p:spPr>
          <a:xfrm>
            <a:off x="6446520" y="3657600"/>
            <a:ext cx="4892040" cy="1554480"/>
          </a:xfrm>
          <a:prstGeom prst="rect">
            <a:avLst/>
          </a:prstGeom>
          <a:noFill/>
          <a:ln/>
        </p:spPr>
        <p:txBody>
          <a:bodyPr wrap="square" rtlCol="0" anchor="t"/>
          <a:lstStyle/>
          <a:p>
            <a:pPr indent="0" marL="0">
              <a:buNone/>
            </a:pPr>
            <a:r>
              <a:rPr lang="en-US" sz="1500" i="1" dirty="0">
                <a:solidFill>
                  <a:srgbClr val="D8F3DC"/>
                </a:solidFill>
                <a:latin typeface="Cambria" pitchFamily="34" charset="0"/>
                <a:ea typeface="Cambria" pitchFamily="34" charset="-122"/>
                <a:cs typeface="Cambria" pitchFamily="34" charset="-120"/>
              </a:rPr>
              <a:t>“Renewable generation is currently higher than campus demand. Consider scheduling suitable flexible loads during this period.”</a:t>
            </a:r>
            <a:endParaRPr lang="en-US" sz="1500" dirty="0"/>
          </a:p>
        </p:txBody>
      </p:sp>
      <p:sp>
        <p:nvSpPr>
          <p:cNvPr id="22" name="Text 20"/>
          <p:cNvSpPr txBox="1"/>
          <p:nvPr/>
        </p:nvSpPr>
        <p:spPr>
          <a:xfrm>
            <a:off x="548640" y="6419088"/>
            <a:ext cx="10515600" cy="320040"/>
          </a:xfrm>
          <a:prstGeom prst="rect">
            <a:avLst/>
          </a:prstGeom>
          <a:noFill/>
          <a:ln/>
        </p:spPr>
        <p:txBody>
          <a:bodyPr wrap="square" rtlCol="0" anchor="ctr"/>
          <a:lstStyle/>
          <a:p>
            <a:pPr indent="0" marL="0">
              <a:buNone/>
            </a:pPr>
            <a:r>
              <a:rPr lang="en-US" sz="1000" i="1" dirty="0">
                <a:solidFill>
                  <a:srgbClr val="52796F"/>
                </a:solidFill>
                <a:latin typeface="Calibri" pitchFamily="34" charset="0"/>
                <a:ea typeface="Calibri" pitchFamily="34" charset="-122"/>
                <a:cs typeface="Calibri" pitchFamily="34" charset="-120"/>
              </a:rPr>
              <a:t>Note: values shown are example / simulated prototype values.</a:t>
            </a:r>
            <a:endParaRPr lang="en-US" sz="1000" dirty="0"/>
          </a:p>
        </p:txBody>
      </p:sp>
      <p:sp>
        <p:nvSpPr>
          <p:cNvPr id="23" name="Text 21"/>
          <p:cNvSpPr txBox="1"/>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2796F"/>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rtlCol="0" anchor="ctr"/>
          <a:lstStyle/>
          <a:p>
            <a:pPr indent="0" marL="0">
              <a:buNone/>
            </a:pPr>
            <a:r>
              <a:rPr lang="en-US" sz="3200" b="1" dirty="0">
                <a:solidFill>
                  <a:srgbClr val="1B4332"/>
                </a:solidFill>
                <a:latin typeface="Cambria" pitchFamily="34" charset="0"/>
                <a:ea typeface="Cambria" pitchFamily="34" charset="-122"/>
                <a:cs typeface="Cambria" pitchFamily="34" charset="-120"/>
              </a:rPr>
              <a:t>Predict Before You Consume</a:t>
            </a:r>
            <a:endParaRPr lang="en-US" sz="3200" dirty="0"/>
          </a:p>
        </p:txBody>
      </p:sp>
      <p:sp>
        <p:nvSpPr>
          <p:cNvPr id="3" name="Text 1"/>
          <p:cNvSpPr txBox="1"/>
          <p:nvPr/>
        </p:nvSpPr>
        <p:spPr>
          <a:xfrm>
            <a:off x="548640" y="1097280"/>
            <a:ext cx="10972800" cy="365760"/>
          </a:xfrm>
          <a:prstGeom prst="rect">
            <a:avLst/>
          </a:prstGeom>
          <a:noFill/>
          <a:ln/>
        </p:spPr>
        <p:txBody>
          <a:bodyPr wrap="square" rtlCol="0" anchor="ctr"/>
          <a:lstStyle/>
          <a:p>
            <a:pPr indent="0" marL="0">
              <a:buNone/>
            </a:pPr>
            <a:r>
              <a:rPr lang="en-US" sz="1400" i="1" dirty="0">
                <a:solidFill>
                  <a:srgbClr val="52796F"/>
                </a:solidFill>
                <a:latin typeface="Calibri" pitchFamily="34" charset="0"/>
                <a:ea typeface="Calibri" pitchFamily="34" charset="-122"/>
                <a:cs typeface="Calibri" pitchFamily="34" charset="-120"/>
              </a:rPr>
              <a:t>RenewAI uses historical energy information to estimate future conditions.</a:t>
            </a:r>
            <a:endParaRPr lang="en-US" sz="1400" dirty="0"/>
          </a:p>
        </p:txBody>
      </p:sp>
      <p:sp>
        <p:nvSpPr>
          <p:cNvPr id="4" name="Shape 2"/>
          <p:cNvSpPr/>
          <p:nvPr/>
        </p:nvSpPr>
        <p:spPr>
          <a:xfrm>
            <a:off x="548640" y="1600200"/>
            <a:ext cx="5349240" cy="2011680"/>
          </a:xfrm>
          <a:prstGeom prst="roundRect">
            <a:avLst>
              <a:gd name="adj" fmla="val 3636"/>
            </a:avLst>
          </a:prstGeom>
          <a:solidFill>
            <a:srgbClr val="EAF4EC"/>
          </a:solidFill>
          <a:ln/>
        </p:spPr>
      </p:sp>
      <p:sp>
        <p:nvSpPr>
          <p:cNvPr id="5" name="Shape 3"/>
          <p:cNvSpPr/>
          <p:nvPr/>
        </p:nvSpPr>
        <p:spPr>
          <a:xfrm>
            <a:off x="822960" y="1828800"/>
            <a:ext cx="502920" cy="502920"/>
          </a:xfrm>
          <a:prstGeom prst="ellipse">
            <a:avLst/>
          </a:prstGeom>
          <a:solidFill>
            <a:srgbClr val="40916C"/>
          </a:solidFill>
          <a:ln/>
        </p:spPr>
      </p:sp>
      <p:sp>
        <p:nvSpPr>
          <p:cNvPr id="6" name="Text 4"/>
          <p:cNvSpPr txBox="1"/>
          <p:nvPr/>
        </p:nvSpPr>
        <p:spPr>
          <a:xfrm>
            <a:off x="822960" y="1828800"/>
            <a:ext cx="502920" cy="50292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7" name="Text 5"/>
          <p:cNvSpPr txBox="1"/>
          <p:nvPr/>
        </p:nvSpPr>
        <p:spPr>
          <a:xfrm>
            <a:off x="1463040" y="1874520"/>
            <a:ext cx="4206240" cy="411480"/>
          </a:xfrm>
          <a:prstGeom prst="rect">
            <a:avLst/>
          </a:prstGeom>
          <a:noFill/>
          <a:ln/>
        </p:spPr>
        <p:txBody>
          <a:bodyPr wrap="square" rtlCol="0" anchor="ctr"/>
          <a:lstStyle/>
          <a:p>
            <a:pPr indent="0" marL="0">
              <a:buNone/>
            </a:pPr>
            <a:r>
              <a:rPr lang="en-US" sz="1500" b="1" dirty="0">
                <a:solidFill>
                  <a:srgbClr val="1B4332"/>
                </a:solidFill>
                <a:latin typeface="Cambria" pitchFamily="34" charset="0"/>
                <a:ea typeface="Cambria" pitchFamily="34" charset="-122"/>
                <a:cs typeface="Cambria" pitchFamily="34" charset="-120"/>
              </a:rPr>
              <a:t>Solar Generation</a:t>
            </a:r>
            <a:endParaRPr lang="en-US" sz="1500" dirty="0"/>
          </a:p>
        </p:txBody>
      </p:sp>
      <p:sp>
        <p:nvSpPr>
          <p:cNvPr id="8" name="Text 6"/>
          <p:cNvSpPr txBox="1"/>
          <p:nvPr/>
        </p:nvSpPr>
        <p:spPr>
          <a:xfrm>
            <a:off x="822960" y="2423160"/>
            <a:ext cx="4846320" cy="10972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E28"/>
                </a:solidFill>
                <a:latin typeface="Calibri" pitchFamily="34" charset="0"/>
                <a:ea typeface="Calibri" pitchFamily="34" charset="-122"/>
                <a:cs typeface="Calibri" pitchFamily="34" charset="-120"/>
              </a:rPr>
              <a:t>Upcoming renewable generation</a:t>
            </a:r>
            <a:endParaRPr lang="en-US" sz="1250" dirty="0"/>
          </a:p>
          <a:p>
            <a:pPr marL="177800" indent="-177800">
              <a:spcAft>
                <a:spcPts val="800"/>
              </a:spcAft>
              <a:buSzPct val="100000"/>
              <a:buChar char="•"/>
            </a:pPr>
            <a:r>
              <a:rPr lang="en-US" sz="1250" dirty="0">
                <a:solidFill>
                  <a:srgbClr val="1B2E28"/>
                </a:solidFill>
                <a:latin typeface="Calibri" pitchFamily="34" charset="0"/>
                <a:ea typeface="Calibri" pitchFamily="34" charset="-122"/>
                <a:cs typeface="Calibri" pitchFamily="34" charset="-120"/>
              </a:rPr>
              <a:t>Possible high-generation periods</a:t>
            </a:r>
            <a:endParaRPr lang="en-US" sz="1250" dirty="0"/>
          </a:p>
          <a:p>
            <a:pPr marL="177800" indent="-177800">
              <a:spcAft>
                <a:spcPts val="800"/>
              </a:spcAft>
              <a:buSzPct val="100000"/>
              <a:buChar char="•"/>
            </a:pPr>
            <a:r>
              <a:rPr lang="en-US" sz="1250" dirty="0">
                <a:solidFill>
                  <a:srgbClr val="1B2E28"/>
                </a:solidFill>
                <a:latin typeface="Calibri" pitchFamily="34" charset="0"/>
                <a:ea typeface="Calibri" pitchFamily="34" charset="-122"/>
                <a:cs typeface="Calibri" pitchFamily="34" charset="-120"/>
              </a:rPr>
              <a:t>Possible low-generation periods</a:t>
            </a:r>
            <a:endParaRPr lang="en-US" sz="1250" dirty="0"/>
          </a:p>
        </p:txBody>
      </p:sp>
      <p:sp>
        <p:nvSpPr>
          <p:cNvPr id="9" name="Shape 7"/>
          <p:cNvSpPr/>
          <p:nvPr/>
        </p:nvSpPr>
        <p:spPr>
          <a:xfrm>
            <a:off x="6172200" y="1600200"/>
            <a:ext cx="5349240" cy="2011680"/>
          </a:xfrm>
          <a:prstGeom prst="roundRect">
            <a:avLst>
              <a:gd name="adj" fmla="val 3636"/>
            </a:avLst>
          </a:prstGeom>
          <a:solidFill>
            <a:srgbClr val="F6EFDD"/>
          </a:solidFill>
          <a:ln/>
        </p:spPr>
      </p:sp>
      <p:sp>
        <p:nvSpPr>
          <p:cNvPr id="10" name="Shape 8"/>
          <p:cNvSpPr/>
          <p:nvPr/>
        </p:nvSpPr>
        <p:spPr>
          <a:xfrm>
            <a:off x="6446520" y="1828800"/>
            <a:ext cx="502920" cy="502920"/>
          </a:xfrm>
          <a:prstGeom prst="ellipse">
            <a:avLst/>
          </a:prstGeom>
          <a:solidFill>
            <a:srgbClr val="F4A300"/>
          </a:solidFill>
          <a:ln/>
        </p:spPr>
      </p:sp>
      <p:sp>
        <p:nvSpPr>
          <p:cNvPr id="11" name="Text 9"/>
          <p:cNvSpPr txBox="1"/>
          <p:nvPr/>
        </p:nvSpPr>
        <p:spPr>
          <a:xfrm>
            <a:off x="6446520" y="1828800"/>
            <a:ext cx="502920" cy="50292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2" name="Text 10"/>
          <p:cNvSpPr txBox="1"/>
          <p:nvPr/>
        </p:nvSpPr>
        <p:spPr>
          <a:xfrm>
            <a:off x="7086600" y="1874520"/>
            <a:ext cx="4206240" cy="411480"/>
          </a:xfrm>
          <a:prstGeom prst="rect">
            <a:avLst/>
          </a:prstGeom>
          <a:noFill/>
          <a:ln/>
        </p:spPr>
        <p:txBody>
          <a:bodyPr wrap="square" rtlCol="0" anchor="ctr"/>
          <a:lstStyle/>
          <a:p>
            <a:pPr indent="0" marL="0">
              <a:buNone/>
            </a:pPr>
            <a:r>
              <a:rPr lang="en-US" sz="1500" b="1" dirty="0">
                <a:solidFill>
                  <a:srgbClr val="1B4332"/>
                </a:solidFill>
                <a:latin typeface="Cambria" pitchFamily="34" charset="0"/>
                <a:ea typeface="Cambria" pitchFamily="34" charset="-122"/>
                <a:cs typeface="Cambria" pitchFamily="34" charset="-120"/>
              </a:rPr>
              <a:t>Energy Consumption</a:t>
            </a:r>
            <a:endParaRPr lang="en-US" sz="1500" dirty="0"/>
          </a:p>
        </p:txBody>
      </p:sp>
      <p:sp>
        <p:nvSpPr>
          <p:cNvPr id="13" name="Text 11"/>
          <p:cNvSpPr txBox="1"/>
          <p:nvPr/>
        </p:nvSpPr>
        <p:spPr>
          <a:xfrm>
            <a:off x="6446520" y="2423160"/>
            <a:ext cx="4846320" cy="10972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E28"/>
                </a:solidFill>
                <a:latin typeface="Calibri" pitchFamily="34" charset="0"/>
                <a:ea typeface="Calibri" pitchFamily="34" charset="-122"/>
                <a:cs typeface="Calibri" pitchFamily="34" charset="-120"/>
              </a:rPr>
              <a:t>Upcoming demand</a:t>
            </a:r>
            <a:endParaRPr lang="en-US" sz="1250" dirty="0"/>
          </a:p>
          <a:p>
            <a:pPr marL="177800" indent="-177800">
              <a:spcAft>
                <a:spcPts val="800"/>
              </a:spcAft>
              <a:buSzPct val="100000"/>
              <a:buChar char="•"/>
            </a:pPr>
            <a:r>
              <a:rPr lang="en-US" sz="1250" dirty="0">
                <a:solidFill>
                  <a:srgbClr val="1B2E28"/>
                </a:solidFill>
                <a:latin typeface="Calibri" pitchFamily="34" charset="0"/>
                <a:ea typeface="Calibri" pitchFamily="34" charset="-122"/>
                <a:cs typeface="Calibri" pitchFamily="34" charset="-120"/>
              </a:rPr>
              <a:t>Potential high-demand periods</a:t>
            </a:r>
            <a:endParaRPr lang="en-US" sz="1250" dirty="0"/>
          </a:p>
          <a:p>
            <a:pPr marL="177800" indent="-177800">
              <a:spcAft>
                <a:spcPts val="800"/>
              </a:spcAft>
              <a:buSzPct val="100000"/>
              <a:buChar char="•"/>
            </a:pPr>
            <a:r>
              <a:rPr lang="en-US" sz="1250" dirty="0">
                <a:solidFill>
                  <a:srgbClr val="1B2E28"/>
                </a:solidFill>
                <a:latin typeface="Calibri" pitchFamily="34" charset="0"/>
                <a:ea typeface="Calibri" pitchFamily="34" charset="-122"/>
                <a:cs typeface="Calibri" pitchFamily="34" charset="-120"/>
              </a:rPr>
              <a:t>Potential energy deficits</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794760"/>
          <a:ext cx="7315200" cy="1920240"/>
        </p:xfrm>
        <a:graphic>
          <a:graphicData uri="http://schemas.openxmlformats.org/drawingml/2006/table">
            <a:tbl>
              <a:tblPr/>
              <a:tblGrid>
                <a:gridCol w="1828800"/>
                <a:gridCol w="1828800"/>
                <a:gridCol w="1828800"/>
                <a:gridCol w="1828800"/>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Time</a:t>
                      </a:r>
                      <a:endParaRPr lang="en-US" sz="1250" dirty="0">
                        <a:latin typeface="Calibri" charset="0"/>
                        <a:ea typeface="Calibri" charset="0"/>
                        <a:cs typeface="Calibri" charset="0"/>
                      </a:endParaRPr>
                    </a:p>
                  </a:txBody>
                  <a:tcPr marL="91440" marR="91440" marT="45720" marB="45720" anchor="ctr">
                    <a:lnL w="9525" cap="flat" cmpd="sng" algn="ctr">
                      <a:solidFill>
                        <a:srgbClr val="D9E8DD"/>
                      </a:solidFill>
                      <a:prstDash val="solid"/>
                      <a:round/>
                      <a:headEnd type="none" w="med" len="med"/>
                      <a:tailEnd type="none" w="med" len="med"/>
                    </a:lnL>
                    <a:lnR w="9525" cap="flat" cmpd="sng" algn="ctr">
                      <a:solidFill>
                        <a:srgbClr val="D9E8DD"/>
                      </a:solidFill>
                      <a:prstDash val="solid"/>
                      <a:round/>
                      <a:headEnd type="none" w="med" len="med"/>
                      <a:tailEnd type="none" w="med" len="med"/>
                    </a:lnR>
                    <a:lnT w="9525" cap="flat" cmpd="sng" algn="ctr">
                      <a:solidFill>
                        <a:srgbClr val="D9E8DD"/>
                      </a:solidFill>
                      <a:prstDash val="solid"/>
                      <a:round/>
                      <a:headEnd type="none" w="med" len="med"/>
                      <a:tailEnd type="none" w="med" len="med"/>
                    </a:lnT>
                    <a:lnB w="9525" cap="flat" cmpd="sng" algn="ctr">
                      <a:solidFill>
                        <a:srgbClr val="D9E8DD"/>
                      </a:solidFill>
                      <a:prstDash val="solid"/>
                      <a:round/>
                      <a:headEnd type="none" w="med" len="med"/>
                      <a:tailEnd type="none" w="med" len="med"/>
                    </a:lnB>
                    <a:solidFill>
                      <a:srgbClr val="1B4332"/>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Solar</a:t>
                      </a:r>
                      <a:endParaRPr lang="en-US" sz="1250" dirty="0">
                        <a:latin typeface="Calibri" charset="0"/>
                        <a:ea typeface="Calibri" charset="0"/>
                        <a:cs typeface="Calibri" charset="0"/>
                      </a:endParaRPr>
                    </a:p>
                  </a:txBody>
                  <a:tcPr marL="91440" marR="91440" marT="45720" marB="45720" anchor="ctr">
                    <a:lnL w="9525" cap="flat" cmpd="sng" algn="ctr">
                      <a:solidFill>
                        <a:srgbClr val="D9E8DD"/>
                      </a:solidFill>
                      <a:prstDash val="solid"/>
                      <a:round/>
                      <a:headEnd type="none" w="med" len="med"/>
                      <a:tailEnd type="none" w="med" len="med"/>
                    </a:lnL>
                    <a:lnR w="9525" cap="flat" cmpd="sng" algn="ctr">
                      <a:solidFill>
                        <a:srgbClr val="D9E8DD"/>
                      </a:solidFill>
                      <a:prstDash val="solid"/>
                      <a:round/>
                      <a:headEnd type="none" w="med" len="med"/>
                      <a:tailEnd type="none" w="med" len="med"/>
                    </a:lnR>
                    <a:lnT w="9525" cap="flat" cmpd="sng" algn="ctr">
                      <a:solidFill>
                        <a:srgbClr val="D9E8DD"/>
                      </a:solidFill>
                      <a:prstDash val="solid"/>
                      <a:round/>
                      <a:headEnd type="none" w="med" len="med"/>
                      <a:tailEnd type="none" w="med" len="med"/>
                    </a:lnT>
                    <a:lnB w="9525" cap="flat" cmpd="sng" algn="ctr">
                      <a:solidFill>
                        <a:srgbClr val="D9E8DD"/>
                      </a:solidFill>
                      <a:prstDash val="solid"/>
                      <a:round/>
                      <a:headEnd type="none" w="med" len="med"/>
                      <a:tailEnd type="none" w="med" len="med"/>
                    </a:lnB>
                    <a:solidFill>
                      <a:srgbClr val="1B4332"/>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Consumption</a:t>
                      </a:r>
                      <a:endParaRPr lang="en-US" sz="1250" dirty="0">
                        <a:latin typeface="Calibri" charset="0"/>
                        <a:ea typeface="Calibri" charset="0"/>
                        <a:cs typeface="Calibri" charset="0"/>
                      </a:endParaRPr>
                    </a:p>
                  </a:txBody>
                  <a:tcPr marL="91440" marR="91440" marT="45720" marB="45720" anchor="ctr">
                    <a:lnL w="9525" cap="flat" cmpd="sng" algn="ctr">
                      <a:solidFill>
                        <a:srgbClr val="D9E8DD"/>
                      </a:solidFill>
                      <a:prstDash val="solid"/>
                      <a:round/>
                      <a:headEnd type="none" w="med" len="med"/>
                      <a:tailEnd type="none" w="med" len="med"/>
                    </a:lnL>
                    <a:lnR w="9525" cap="flat" cmpd="sng" algn="ctr">
                      <a:solidFill>
                        <a:srgbClr val="D9E8DD"/>
                      </a:solidFill>
                      <a:prstDash val="solid"/>
                      <a:round/>
                      <a:headEnd type="none" w="med" len="med"/>
                      <a:tailEnd type="none" w="med" len="med"/>
                    </a:lnR>
                    <a:lnT w="9525" cap="flat" cmpd="sng" algn="ctr">
                      <a:solidFill>
                        <a:srgbClr val="D9E8DD"/>
                      </a:solidFill>
                      <a:prstDash val="solid"/>
                      <a:round/>
                      <a:headEnd type="none" w="med" len="med"/>
                      <a:tailEnd type="none" w="med" len="med"/>
                    </a:lnT>
                    <a:lnB w="9525" cap="flat" cmpd="sng" algn="ctr">
                      <a:solidFill>
                        <a:srgbClr val="D9E8DD"/>
                      </a:solidFill>
                      <a:prstDash val="solid"/>
                      <a:round/>
                      <a:headEnd type="none" w="med" len="med"/>
                      <a:tailEnd type="none" w="med" len="med"/>
                    </a:lnB>
                    <a:solidFill>
                      <a:srgbClr val="1B4332"/>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Status</a:t>
                      </a:r>
                      <a:endParaRPr lang="en-US" sz="1250" dirty="0">
                        <a:latin typeface="Calibri" charset="0"/>
                        <a:ea typeface="Calibri" charset="0"/>
                        <a:cs typeface="Calibri" charset="0"/>
                      </a:endParaRPr>
                    </a:p>
                  </a:txBody>
                  <a:tcPr marL="91440" marR="91440" marT="45720" marB="45720" anchor="ctr">
                    <a:lnL w="9525" cap="flat" cmpd="sng" algn="ctr">
                      <a:solidFill>
                        <a:srgbClr val="D9E8DD"/>
                      </a:solidFill>
                      <a:prstDash val="solid"/>
                      <a:round/>
                      <a:headEnd type="none" w="med" len="med"/>
                      <a:tailEnd type="none" w="med" len="med"/>
                    </a:lnL>
                    <a:lnR w="9525" cap="flat" cmpd="sng" algn="ctr">
                      <a:solidFill>
                        <a:srgbClr val="D9E8DD"/>
                      </a:solidFill>
                      <a:prstDash val="solid"/>
                      <a:round/>
                      <a:headEnd type="none" w="med" len="med"/>
                      <a:tailEnd type="none" w="med" len="med"/>
                    </a:lnR>
                    <a:lnT w="9525" cap="flat" cmpd="sng" algn="ctr">
                      <a:solidFill>
                        <a:srgbClr val="D9E8DD"/>
                      </a:solidFill>
                      <a:prstDash val="solid"/>
                      <a:round/>
                      <a:headEnd type="none" w="med" len="med"/>
                      <a:tailEnd type="none" w="med" len="med"/>
                    </a:lnT>
                    <a:lnB w="9525" cap="flat" cmpd="sng" algn="ctr">
                      <a:solidFill>
                        <a:srgbClr val="D9E8DD"/>
                      </a:solidFill>
                      <a:prstDash val="solid"/>
                      <a:round/>
                      <a:headEnd type="none" w="med" len="med"/>
                      <a:tailEnd type="none" w="med" len="med"/>
                    </a:lnB>
                    <a:solidFill>
                      <a:srgbClr val="1B4332"/>
                    </a:solidFill>
                  </a:tcPr>
                </a:tc>
              </a:tr>
              <a:tr h="384048">
                <a:tc>
                  <a:txBody>
                    <a:bodyPr/>
                    <a:lstStyle/>
                    <a:p>
                      <a:pPr algn="ctr" indent="0" marL="0">
                        <a:buNone/>
                      </a:pPr>
                      <a:r>
                        <a:rPr lang="en-US" sz="1250" dirty="0">
                          <a:solidFill>
                            <a:srgbClr val="1B2E28"/>
                          </a:solidFill>
                          <a:latin typeface="Calibri" pitchFamily="34" charset="0"/>
                          <a:ea typeface="Calibri" pitchFamily="34" charset="-122"/>
                          <a:cs typeface="Calibri" pitchFamily="34" charset="-120"/>
                        </a:rPr>
                        <a:t>12 PM</a:t>
                      </a:r>
                      <a:endParaRPr lang="en-US" sz="1250" dirty="0">
                        <a:latin typeface="Calibri" charset="0"/>
                        <a:ea typeface="Calibri" charset="0"/>
                        <a:cs typeface="Calibri" charset="0"/>
                      </a:endParaRPr>
                    </a:p>
                  </a:txBody>
                  <a:tcPr marL="91440" marR="91440" marT="45720" marB="45720" anchor="ctr">
                    <a:lnL w="9525" cap="flat" cmpd="sng" algn="ctr">
                      <a:solidFill>
                        <a:srgbClr val="D9E8DD"/>
                      </a:solidFill>
                      <a:prstDash val="solid"/>
                      <a:round/>
                      <a:headEnd type="none" w="med" len="med"/>
                      <a:tailEnd type="none" w="med" len="med"/>
                    </a:lnL>
                    <a:lnR w="9525" cap="flat" cmpd="sng" algn="ctr">
                      <a:solidFill>
                        <a:srgbClr val="D9E8DD"/>
                      </a:solidFill>
                      <a:prstDash val="solid"/>
                      <a:round/>
                      <a:headEnd type="none" w="med" len="med"/>
                      <a:tailEnd type="none" w="med" len="med"/>
                    </a:lnR>
                    <a:lnT w="9525" cap="flat" cmpd="sng" algn="ctr">
                      <a:solidFill>
                        <a:srgbClr val="D9E8DD"/>
                      </a:solidFill>
                      <a:prstDash val="solid"/>
                      <a:round/>
                      <a:headEnd type="none" w="med" len="med"/>
                      <a:tailEnd type="none" w="med" len="med"/>
                    </a:lnT>
                    <a:lnB w="9525" cap="flat" cmpd="sng" algn="ctr">
                      <a:solidFill>
                        <a:srgbClr val="D9E8DD"/>
                      </a:solidFill>
                      <a:prstDash val="solid"/>
                      <a:round/>
                      <a:headEnd type="none" w="med" len="med"/>
                      <a:tailEnd type="none" w="med" len="med"/>
                    </a:lnB>
                  </a:tcPr>
                </a:tc>
                <a:tc>
                  <a:txBody>
                    <a:bodyPr/>
                    <a:lstStyle/>
                    <a:p>
                      <a:pPr algn="ctr" indent="0" marL="0">
                        <a:buNone/>
                      </a:pPr>
                      <a:r>
                        <a:rPr lang="en-US" sz="1250" dirty="0">
                          <a:solidFill>
                            <a:srgbClr val="1B2E28"/>
                          </a:solidFill>
                          <a:latin typeface="Calibri" pitchFamily="34" charset="0"/>
                          <a:ea typeface="Calibri" pitchFamily="34" charset="-122"/>
                          <a:cs typeface="Calibri" pitchFamily="34" charset="-120"/>
                        </a:rPr>
                        <a:t>42 kW</a:t>
                      </a:r>
                      <a:endParaRPr lang="en-US" sz="1250" dirty="0">
                        <a:latin typeface="Calibri" charset="0"/>
                        <a:ea typeface="Calibri" charset="0"/>
                        <a:cs typeface="Calibri" charset="0"/>
                      </a:endParaRPr>
                    </a:p>
                  </a:txBody>
                  <a:tcPr marL="91440" marR="91440" marT="45720" marB="45720" anchor="ctr">
                    <a:lnL w="9525" cap="flat" cmpd="sng" algn="ctr">
                      <a:solidFill>
                        <a:srgbClr val="D9E8DD"/>
                      </a:solidFill>
                      <a:prstDash val="solid"/>
                      <a:round/>
                      <a:headEnd type="none" w="med" len="med"/>
                      <a:tailEnd type="none" w="med" len="med"/>
                    </a:lnL>
                    <a:lnR w="9525" cap="flat" cmpd="sng" algn="ctr">
                      <a:solidFill>
                        <a:srgbClr val="D9E8DD"/>
                      </a:solidFill>
                      <a:prstDash val="solid"/>
                      <a:round/>
                      <a:headEnd type="none" w="med" len="med"/>
                      <a:tailEnd type="none" w="med" len="med"/>
                    </a:lnR>
                    <a:lnT w="9525" cap="flat" cmpd="sng" algn="ctr">
                      <a:solidFill>
                        <a:srgbClr val="D9E8DD"/>
                      </a:solidFill>
                      <a:prstDash val="solid"/>
                      <a:round/>
                      <a:headEnd type="none" w="med" len="med"/>
                      <a:tailEnd type="none" w="med" len="med"/>
                    </a:lnT>
                    <a:lnB w="9525" cap="flat" cmpd="sng" algn="ctr">
                      <a:solidFill>
                        <a:srgbClr val="D9E8DD"/>
                      </a:solidFill>
                      <a:prstDash val="solid"/>
                      <a:round/>
                      <a:headEnd type="none" w="med" len="med"/>
                      <a:tailEnd type="none" w="med" len="med"/>
                    </a:lnB>
                  </a:tcPr>
                </a:tc>
                <a:tc>
                  <a:txBody>
                    <a:bodyPr/>
                    <a:lstStyle/>
                    <a:p>
                      <a:pPr algn="ctr" indent="0" marL="0">
                        <a:buNone/>
                      </a:pPr>
                      <a:r>
                        <a:rPr lang="en-US" sz="1250" dirty="0">
                          <a:solidFill>
                            <a:srgbClr val="1B2E28"/>
                          </a:solidFill>
                          <a:latin typeface="Calibri" pitchFamily="34" charset="0"/>
                          <a:ea typeface="Calibri" pitchFamily="34" charset="-122"/>
                          <a:cs typeface="Calibri" pitchFamily="34" charset="-120"/>
                        </a:rPr>
                        <a:t>30 kW</a:t>
                      </a:r>
                      <a:endParaRPr lang="en-US" sz="1250" dirty="0">
                        <a:latin typeface="Calibri" charset="0"/>
                        <a:ea typeface="Calibri" charset="0"/>
                        <a:cs typeface="Calibri" charset="0"/>
                      </a:endParaRPr>
                    </a:p>
                  </a:txBody>
                  <a:tcPr marL="91440" marR="91440" marT="45720" marB="45720" anchor="ctr">
                    <a:lnL w="9525" cap="flat" cmpd="sng" algn="ctr">
                      <a:solidFill>
                        <a:srgbClr val="D9E8DD"/>
                      </a:solidFill>
                      <a:prstDash val="solid"/>
                      <a:round/>
                      <a:headEnd type="none" w="med" len="med"/>
                      <a:tailEnd type="none" w="med" len="med"/>
                    </a:lnL>
                    <a:lnR w="9525" cap="flat" cmpd="sng" algn="ctr">
                      <a:solidFill>
                        <a:srgbClr val="D9E8DD"/>
                      </a:solidFill>
                      <a:prstDash val="solid"/>
                      <a:round/>
                      <a:headEnd type="none" w="med" len="med"/>
                      <a:tailEnd type="none" w="med" len="med"/>
                    </a:lnR>
                    <a:lnT w="9525" cap="flat" cmpd="sng" algn="ctr">
                      <a:solidFill>
                        <a:srgbClr val="D9E8DD"/>
                      </a:solidFill>
                      <a:prstDash val="solid"/>
                      <a:round/>
                      <a:headEnd type="none" w="med" len="med"/>
                      <a:tailEnd type="none" w="med" len="med"/>
                    </a:lnT>
                    <a:lnB w="9525" cap="flat" cmpd="sng" algn="ctr">
                      <a:solidFill>
                        <a:srgbClr val="D9E8DD"/>
                      </a:solidFill>
                      <a:prstDash val="solid"/>
                      <a:round/>
                      <a:headEnd type="none" w="med" len="med"/>
                      <a:tailEnd type="none" w="med" len="med"/>
                    </a:lnB>
                  </a:tcPr>
                </a:tc>
                <a:tc>
                  <a:txBody>
                    <a:bodyPr/>
                    <a:lstStyle/>
                    <a:p>
                      <a:pPr algn="ctr" indent="0" marL="0">
                        <a:buNone/>
                      </a:pPr>
                      <a:r>
                        <a:rPr lang="en-US" sz="1250" b="1" dirty="0">
                          <a:solidFill>
                            <a:srgbClr val="40916C"/>
                          </a:solidFill>
                          <a:latin typeface="Calibri" pitchFamily="34" charset="0"/>
                          <a:ea typeface="Calibri" pitchFamily="34" charset="-122"/>
                          <a:cs typeface="Calibri" pitchFamily="34" charset="-120"/>
                        </a:rPr>
                        <a:t>Surplus</a:t>
                      </a:r>
                      <a:endParaRPr lang="en-US" sz="1250" dirty="0">
                        <a:latin typeface="Calibri" charset="0"/>
                        <a:ea typeface="Calibri" charset="0"/>
                        <a:cs typeface="Calibri" charset="0"/>
                      </a:endParaRPr>
                    </a:p>
                  </a:txBody>
                  <a:tcPr marL="91440" marR="91440" marT="45720" marB="45720" anchor="ctr">
                    <a:lnL w="9525" cap="flat" cmpd="sng" algn="ctr">
                      <a:solidFill>
                        <a:srgbClr val="D9E8DD"/>
                      </a:solidFill>
                      <a:prstDash val="solid"/>
                      <a:round/>
                      <a:headEnd type="none" w="med" len="med"/>
                      <a:tailEnd type="none" w="med" len="med"/>
                    </a:lnL>
                    <a:lnR w="9525" cap="flat" cmpd="sng" algn="ctr">
                      <a:solidFill>
                        <a:srgbClr val="D9E8DD"/>
                      </a:solidFill>
                      <a:prstDash val="solid"/>
                      <a:round/>
                      <a:headEnd type="none" w="med" len="med"/>
                      <a:tailEnd type="none" w="med" len="med"/>
                    </a:lnR>
                    <a:lnT w="9525" cap="flat" cmpd="sng" algn="ctr">
                      <a:solidFill>
                        <a:srgbClr val="D9E8DD"/>
                      </a:solidFill>
                      <a:prstDash val="solid"/>
                      <a:round/>
                      <a:headEnd type="none" w="med" len="med"/>
                      <a:tailEnd type="none" w="med" len="med"/>
                    </a:lnT>
                    <a:lnB w="9525" cap="flat" cmpd="sng" algn="ctr">
                      <a:solidFill>
                        <a:srgbClr val="D9E8DD"/>
                      </a:solidFill>
                      <a:prstDash val="solid"/>
                      <a:round/>
                      <a:headEnd type="none" w="med" len="med"/>
                      <a:tailEnd type="none" w="med" len="med"/>
                    </a:lnB>
                  </a:tcPr>
                </a:tc>
              </a:tr>
              <a:tr h="384048">
                <a:tc>
                  <a:txBody>
                    <a:bodyPr/>
                    <a:lstStyle/>
                    <a:p>
                      <a:pPr algn="ctr" indent="0" marL="0">
                        <a:buNone/>
                      </a:pPr>
                      <a:r>
                        <a:rPr lang="en-US" sz="1250" dirty="0">
                          <a:solidFill>
                            <a:srgbClr val="1B2E28"/>
                          </a:solidFill>
                          <a:latin typeface="Calibri" pitchFamily="34" charset="0"/>
                          <a:ea typeface="Calibri" pitchFamily="34" charset="-122"/>
                          <a:cs typeface="Calibri" pitchFamily="34" charset="-120"/>
                        </a:rPr>
                        <a:t>1 PM</a:t>
                      </a:r>
                      <a:endParaRPr lang="en-US" sz="1250" dirty="0">
                        <a:latin typeface="Calibri" charset="0"/>
                        <a:ea typeface="Calibri" charset="0"/>
                        <a:cs typeface="Calibri" charset="0"/>
                      </a:endParaRPr>
                    </a:p>
                  </a:txBody>
                  <a:tcPr marL="91440" marR="91440" marT="45720" marB="45720" anchor="ctr">
                    <a:lnL w="9525" cap="flat" cmpd="sng" algn="ctr">
                      <a:solidFill>
                        <a:srgbClr val="D9E8DD"/>
                      </a:solidFill>
                      <a:prstDash val="solid"/>
                      <a:round/>
                      <a:headEnd type="none" w="med" len="med"/>
                      <a:tailEnd type="none" w="med" len="med"/>
                    </a:lnL>
                    <a:lnR w="9525" cap="flat" cmpd="sng" algn="ctr">
                      <a:solidFill>
                        <a:srgbClr val="D9E8DD"/>
                      </a:solidFill>
                      <a:prstDash val="solid"/>
                      <a:round/>
                      <a:headEnd type="none" w="med" len="med"/>
                      <a:tailEnd type="none" w="med" len="med"/>
                    </a:lnR>
                    <a:lnT w="9525" cap="flat" cmpd="sng" algn="ctr">
                      <a:solidFill>
                        <a:srgbClr val="D9E8DD"/>
                      </a:solidFill>
                      <a:prstDash val="solid"/>
                      <a:round/>
                      <a:headEnd type="none" w="med" len="med"/>
                      <a:tailEnd type="none" w="med" len="med"/>
                    </a:lnT>
                    <a:lnB w="9525" cap="flat" cmpd="sng" algn="ctr">
                      <a:solidFill>
                        <a:srgbClr val="D9E8DD"/>
                      </a:solidFill>
                      <a:prstDash val="solid"/>
                      <a:round/>
                      <a:headEnd type="none" w="med" len="med"/>
                      <a:tailEnd type="none" w="med" len="med"/>
                    </a:lnB>
                  </a:tcPr>
                </a:tc>
                <a:tc>
                  <a:txBody>
                    <a:bodyPr/>
                    <a:lstStyle/>
                    <a:p>
                      <a:pPr algn="ctr" indent="0" marL="0">
                        <a:buNone/>
                      </a:pPr>
                      <a:r>
                        <a:rPr lang="en-US" sz="1250" dirty="0">
                          <a:solidFill>
                            <a:srgbClr val="1B2E28"/>
                          </a:solidFill>
                          <a:latin typeface="Calibri" pitchFamily="34" charset="0"/>
                          <a:ea typeface="Calibri" pitchFamily="34" charset="-122"/>
                          <a:cs typeface="Calibri" pitchFamily="34" charset="-120"/>
                        </a:rPr>
                        <a:t>46 kW</a:t>
                      </a:r>
                      <a:endParaRPr lang="en-US" sz="1250" dirty="0">
                        <a:latin typeface="Calibri" charset="0"/>
                        <a:ea typeface="Calibri" charset="0"/>
                        <a:cs typeface="Calibri" charset="0"/>
                      </a:endParaRPr>
                    </a:p>
                  </a:txBody>
                  <a:tcPr marL="91440" marR="91440" marT="45720" marB="45720" anchor="ctr">
                    <a:lnL w="9525" cap="flat" cmpd="sng" algn="ctr">
                      <a:solidFill>
                        <a:srgbClr val="D9E8DD"/>
                      </a:solidFill>
                      <a:prstDash val="solid"/>
                      <a:round/>
                      <a:headEnd type="none" w="med" len="med"/>
                      <a:tailEnd type="none" w="med" len="med"/>
                    </a:lnL>
                    <a:lnR w="9525" cap="flat" cmpd="sng" algn="ctr">
                      <a:solidFill>
                        <a:srgbClr val="D9E8DD"/>
                      </a:solidFill>
                      <a:prstDash val="solid"/>
                      <a:round/>
                      <a:headEnd type="none" w="med" len="med"/>
                      <a:tailEnd type="none" w="med" len="med"/>
                    </a:lnR>
                    <a:lnT w="9525" cap="flat" cmpd="sng" algn="ctr">
                      <a:solidFill>
                        <a:srgbClr val="D9E8DD"/>
                      </a:solidFill>
                      <a:prstDash val="solid"/>
                      <a:round/>
                      <a:headEnd type="none" w="med" len="med"/>
                      <a:tailEnd type="none" w="med" len="med"/>
                    </a:lnT>
                    <a:lnB w="9525" cap="flat" cmpd="sng" algn="ctr">
                      <a:solidFill>
                        <a:srgbClr val="D9E8DD"/>
                      </a:solidFill>
                      <a:prstDash val="solid"/>
                      <a:round/>
                      <a:headEnd type="none" w="med" len="med"/>
                      <a:tailEnd type="none" w="med" len="med"/>
                    </a:lnB>
                  </a:tcPr>
                </a:tc>
                <a:tc>
                  <a:txBody>
                    <a:bodyPr/>
                    <a:lstStyle/>
                    <a:p>
                      <a:pPr algn="ctr" indent="0" marL="0">
                        <a:buNone/>
                      </a:pPr>
                      <a:r>
                        <a:rPr lang="en-US" sz="1250" dirty="0">
                          <a:solidFill>
                            <a:srgbClr val="1B2E28"/>
                          </a:solidFill>
                          <a:latin typeface="Calibri" pitchFamily="34" charset="0"/>
                          <a:ea typeface="Calibri" pitchFamily="34" charset="-122"/>
                          <a:cs typeface="Calibri" pitchFamily="34" charset="-120"/>
                        </a:rPr>
                        <a:t>32 kW</a:t>
                      </a:r>
                      <a:endParaRPr lang="en-US" sz="1250" dirty="0">
                        <a:latin typeface="Calibri" charset="0"/>
                        <a:ea typeface="Calibri" charset="0"/>
                        <a:cs typeface="Calibri" charset="0"/>
                      </a:endParaRPr>
                    </a:p>
                  </a:txBody>
                  <a:tcPr marL="91440" marR="91440" marT="45720" marB="45720" anchor="ctr">
                    <a:lnL w="9525" cap="flat" cmpd="sng" algn="ctr">
                      <a:solidFill>
                        <a:srgbClr val="D9E8DD"/>
                      </a:solidFill>
                      <a:prstDash val="solid"/>
                      <a:round/>
                      <a:headEnd type="none" w="med" len="med"/>
                      <a:tailEnd type="none" w="med" len="med"/>
                    </a:lnL>
                    <a:lnR w="9525" cap="flat" cmpd="sng" algn="ctr">
                      <a:solidFill>
                        <a:srgbClr val="D9E8DD"/>
                      </a:solidFill>
                      <a:prstDash val="solid"/>
                      <a:round/>
                      <a:headEnd type="none" w="med" len="med"/>
                      <a:tailEnd type="none" w="med" len="med"/>
                    </a:lnR>
                    <a:lnT w="9525" cap="flat" cmpd="sng" algn="ctr">
                      <a:solidFill>
                        <a:srgbClr val="D9E8DD"/>
                      </a:solidFill>
                      <a:prstDash val="solid"/>
                      <a:round/>
                      <a:headEnd type="none" w="med" len="med"/>
                      <a:tailEnd type="none" w="med" len="med"/>
                    </a:lnT>
                    <a:lnB w="9525" cap="flat" cmpd="sng" algn="ctr">
                      <a:solidFill>
                        <a:srgbClr val="D9E8DD"/>
                      </a:solidFill>
                      <a:prstDash val="solid"/>
                      <a:round/>
                      <a:headEnd type="none" w="med" len="med"/>
                      <a:tailEnd type="none" w="med" len="med"/>
                    </a:lnB>
                  </a:tcPr>
                </a:tc>
                <a:tc>
                  <a:txBody>
                    <a:bodyPr/>
                    <a:lstStyle/>
                    <a:p>
                      <a:pPr algn="ctr" indent="0" marL="0">
                        <a:buNone/>
                      </a:pPr>
                      <a:r>
                        <a:rPr lang="en-US" sz="1250" b="1" dirty="0">
                          <a:solidFill>
                            <a:srgbClr val="40916C"/>
                          </a:solidFill>
                          <a:latin typeface="Calibri" pitchFamily="34" charset="0"/>
                          <a:ea typeface="Calibri" pitchFamily="34" charset="-122"/>
                          <a:cs typeface="Calibri" pitchFamily="34" charset="-120"/>
                        </a:rPr>
                        <a:t>Surplus</a:t>
                      </a:r>
                      <a:endParaRPr lang="en-US" sz="1250" dirty="0">
                        <a:latin typeface="Calibri" charset="0"/>
                        <a:ea typeface="Calibri" charset="0"/>
                        <a:cs typeface="Calibri" charset="0"/>
                      </a:endParaRPr>
                    </a:p>
                  </a:txBody>
                  <a:tcPr marL="91440" marR="91440" marT="45720" marB="45720" anchor="ctr">
                    <a:lnL w="9525" cap="flat" cmpd="sng" algn="ctr">
                      <a:solidFill>
                        <a:srgbClr val="D9E8DD"/>
                      </a:solidFill>
                      <a:prstDash val="solid"/>
                      <a:round/>
                      <a:headEnd type="none" w="med" len="med"/>
                      <a:tailEnd type="none" w="med" len="med"/>
                    </a:lnL>
                    <a:lnR w="9525" cap="flat" cmpd="sng" algn="ctr">
                      <a:solidFill>
                        <a:srgbClr val="D9E8DD"/>
                      </a:solidFill>
                      <a:prstDash val="solid"/>
                      <a:round/>
                      <a:headEnd type="none" w="med" len="med"/>
                      <a:tailEnd type="none" w="med" len="med"/>
                    </a:lnR>
                    <a:lnT w="9525" cap="flat" cmpd="sng" algn="ctr">
                      <a:solidFill>
                        <a:srgbClr val="D9E8DD"/>
                      </a:solidFill>
                      <a:prstDash val="solid"/>
                      <a:round/>
                      <a:headEnd type="none" w="med" len="med"/>
                      <a:tailEnd type="none" w="med" len="med"/>
                    </a:lnT>
                    <a:lnB w="9525" cap="flat" cmpd="sng" algn="ctr">
                      <a:solidFill>
                        <a:srgbClr val="D9E8DD"/>
                      </a:solidFill>
                      <a:prstDash val="solid"/>
                      <a:round/>
                      <a:headEnd type="none" w="med" len="med"/>
                      <a:tailEnd type="none" w="med" len="med"/>
                    </a:lnB>
                  </a:tcPr>
                </a:tc>
              </a:tr>
              <a:tr h="384048">
                <a:tc>
                  <a:txBody>
                    <a:bodyPr/>
                    <a:lstStyle/>
                    <a:p>
                      <a:pPr algn="ctr" indent="0" marL="0">
                        <a:buNone/>
                      </a:pPr>
                      <a:r>
                        <a:rPr lang="en-US" sz="1250" dirty="0">
                          <a:solidFill>
                            <a:srgbClr val="1B2E28"/>
                          </a:solidFill>
                          <a:latin typeface="Calibri" pitchFamily="34" charset="0"/>
                          <a:ea typeface="Calibri" pitchFamily="34" charset="-122"/>
                          <a:cs typeface="Calibri" pitchFamily="34" charset="-120"/>
                        </a:rPr>
                        <a:t>2 PM</a:t>
                      </a:r>
                      <a:endParaRPr lang="en-US" sz="1250" dirty="0">
                        <a:latin typeface="Calibri" charset="0"/>
                        <a:ea typeface="Calibri" charset="0"/>
                        <a:cs typeface="Calibri" charset="0"/>
                      </a:endParaRPr>
                    </a:p>
                  </a:txBody>
                  <a:tcPr marL="91440" marR="91440" marT="45720" marB="45720" anchor="ctr">
                    <a:lnL w="9525" cap="flat" cmpd="sng" algn="ctr">
                      <a:solidFill>
                        <a:srgbClr val="D9E8DD"/>
                      </a:solidFill>
                      <a:prstDash val="solid"/>
                      <a:round/>
                      <a:headEnd type="none" w="med" len="med"/>
                      <a:tailEnd type="none" w="med" len="med"/>
                    </a:lnL>
                    <a:lnR w="9525" cap="flat" cmpd="sng" algn="ctr">
                      <a:solidFill>
                        <a:srgbClr val="D9E8DD"/>
                      </a:solidFill>
                      <a:prstDash val="solid"/>
                      <a:round/>
                      <a:headEnd type="none" w="med" len="med"/>
                      <a:tailEnd type="none" w="med" len="med"/>
                    </a:lnR>
                    <a:lnT w="9525" cap="flat" cmpd="sng" algn="ctr">
                      <a:solidFill>
                        <a:srgbClr val="D9E8DD"/>
                      </a:solidFill>
                      <a:prstDash val="solid"/>
                      <a:round/>
                      <a:headEnd type="none" w="med" len="med"/>
                      <a:tailEnd type="none" w="med" len="med"/>
                    </a:lnT>
                    <a:lnB w="9525" cap="flat" cmpd="sng" algn="ctr">
                      <a:solidFill>
                        <a:srgbClr val="D9E8DD"/>
                      </a:solidFill>
                      <a:prstDash val="solid"/>
                      <a:round/>
                      <a:headEnd type="none" w="med" len="med"/>
                      <a:tailEnd type="none" w="med" len="med"/>
                    </a:lnB>
                  </a:tcPr>
                </a:tc>
                <a:tc>
                  <a:txBody>
                    <a:bodyPr/>
                    <a:lstStyle/>
                    <a:p>
                      <a:pPr algn="ctr" indent="0" marL="0">
                        <a:buNone/>
                      </a:pPr>
                      <a:r>
                        <a:rPr lang="en-US" sz="1250" dirty="0">
                          <a:solidFill>
                            <a:srgbClr val="1B2E28"/>
                          </a:solidFill>
                          <a:latin typeface="Calibri" pitchFamily="34" charset="0"/>
                          <a:ea typeface="Calibri" pitchFamily="34" charset="-122"/>
                          <a:cs typeface="Calibri" pitchFamily="34" charset="-120"/>
                        </a:rPr>
                        <a:t>41 kW</a:t>
                      </a:r>
                      <a:endParaRPr lang="en-US" sz="1250" dirty="0">
                        <a:latin typeface="Calibri" charset="0"/>
                        <a:ea typeface="Calibri" charset="0"/>
                        <a:cs typeface="Calibri" charset="0"/>
                      </a:endParaRPr>
                    </a:p>
                  </a:txBody>
                  <a:tcPr marL="91440" marR="91440" marT="45720" marB="45720" anchor="ctr">
                    <a:lnL w="9525" cap="flat" cmpd="sng" algn="ctr">
                      <a:solidFill>
                        <a:srgbClr val="D9E8DD"/>
                      </a:solidFill>
                      <a:prstDash val="solid"/>
                      <a:round/>
                      <a:headEnd type="none" w="med" len="med"/>
                      <a:tailEnd type="none" w="med" len="med"/>
                    </a:lnL>
                    <a:lnR w="9525" cap="flat" cmpd="sng" algn="ctr">
                      <a:solidFill>
                        <a:srgbClr val="D9E8DD"/>
                      </a:solidFill>
                      <a:prstDash val="solid"/>
                      <a:round/>
                      <a:headEnd type="none" w="med" len="med"/>
                      <a:tailEnd type="none" w="med" len="med"/>
                    </a:lnR>
                    <a:lnT w="9525" cap="flat" cmpd="sng" algn="ctr">
                      <a:solidFill>
                        <a:srgbClr val="D9E8DD"/>
                      </a:solidFill>
                      <a:prstDash val="solid"/>
                      <a:round/>
                      <a:headEnd type="none" w="med" len="med"/>
                      <a:tailEnd type="none" w="med" len="med"/>
                    </a:lnT>
                    <a:lnB w="9525" cap="flat" cmpd="sng" algn="ctr">
                      <a:solidFill>
                        <a:srgbClr val="D9E8DD"/>
                      </a:solidFill>
                      <a:prstDash val="solid"/>
                      <a:round/>
                      <a:headEnd type="none" w="med" len="med"/>
                      <a:tailEnd type="none" w="med" len="med"/>
                    </a:lnB>
                  </a:tcPr>
                </a:tc>
                <a:tc>
                  <a:txBody>
                    <a:bodyPr/>
                    <a:lstStyle/>
                    <a:p>
                      <a:pPr algn="ctr" indent="0" marL="0">
                        <a:buNone/>
                      </a:pPr>
                      <a:r>
                        <a:rPr lang="en-US" sz="1250" dirty="0">
                          <a:solidFill>
                            <a:srgbClr val="1B2E28"/>
                          </a:solidFill>
                          <a:latin typeface="Calibri" pitchFamily="34" charset="0"/>
                          <a:ea typeface="Calibri" pitchFamily="34" charset="-122"/>
                          <a:cs typeface="Calibri" pitchFamily="34" charset="-120"/>
                        </a:rPr>
                        <a:t>35 kW</a:t>
                      </a:r>
                      <a:endParaRPr lang="en-US" sz="1250" dirty="0">
                        <a:latin typeface="Calibri" charset="0"/>
                        <a:ea typeface="Calibri" charset="0"/>
                        <a:cs typeface="Calibri" charset="0"/>
                      </a:endParaRPr>
                    </a:p>
                  </a:txBody>
                  <a:tcPr marL="91440" marR="91440" marT="45720" marB="45720" anchor="ctr">
                    <a:lnL w="9525" cap="flat" cmpd="sng" algn="ctr">
                      <a:solidFill>
                        <a:srgbClr val="D9E8DD"/>
                      </a:solidFill>
                      <a:prstDash val="solid"/>
                      <a:round/>
                      <a:headEnd type="none" w="med" len="med"/>
                      <a:tailEnd type="none" w="med" len="med"/>
                    </a:lnL>
                    <a:lnR w="9525" cap="flat" cmpd="sng" algn="ctr">
                      <a:solidFill>
                        <a:srgbClr val="D9E8DD"/>
                      </a:solidFill>
                      <a:prstDash val="solid"/>
                      <a:round/>
                      <a:headEnd type="none" w="med" len="med"/>
                      <a:tailEnd type="none" w="med" len="med"/>
                    </a:lnR>
                    <a:lnT w="9525" cap="flat" cmpd="sng" algn="ctr">
                      <a:solidFill>
                        <a:srgbClr val="D9E8DD"/>
                      </a:solidFill>
                      <a:prstDash val="solid"/>
                      <a:round/>
                      <a:headEnd type="none" w="med" len="med"/>
                      <a:tailEnd type="none" w="med" len="med"/>
                    </a:lnT>
                    <a:lnB w="9525" cap="flat" cmpd="sng" algn="ctr">
                      <a:solidFill>
                        <a:srgbClr val="D9E8DD"/>
                      </a:solidFill>
                      <a:prstDash val="solid"/>
                      <a:round/>
                      <a:headEnd type="none" w="med" len="med"/>
                      <a:tailEnd type="none" w="med" len="med"/>
                    </a:lnB>
                  </a:tcPr>
                </a:tc>
                <a:tc>
                  <a:txBody>
                    <a:bodyPr/>
                    <a:lstStyle/>
                    <a:p>
                      <a:pPr algn="ctr" indent="0" marL="0">
                        <a:buNone/>
                      </a:pPr>
                      <a:r>
                        <a:rPr lang="en-US" sz="1250" b="1" dirty="0">
                          <a:solidFill>
                            <a:srgbClr val="40916C"/>
                          </a:solidFill>
                          <a:latin typeface="Calibri" pitchFamily="34" charset="0"/>
                          <a:ea typeface="Calibri" pitchFamily="34" charset="-122"/>
                          <a:cs typeface="Calibri" pitchFamily="34" charset="-120"/>
                        </a:rPr>
                        <a:t>Surplus</a:t>
                      </a:r>
                      <a:endParaRPr lang="en-US" sz="1250" dirty="0">
                        <a:latin typeface="Calibri" charset="0"/>
                        <a:ea typeface="Calibri" charset="0"/>
                        <a:cs typeface="Calibri" charset="0"/>
                      </a:endParaRPr>
                    </a:p>
                  </a:txBody>
                  <a:tcPr marL="91440" marR="91440" marT="45720" marB="45720" anchor="ctr">
                    <a:lnL w="9525" cap="flat" cmpd="sng" algn="ctr">
                      <a:solidFill>
                        <a:srgbClr val="D9E8DD"/>
                      </a:solidFill>
                      <a:prstDash val="solid"/>
                      <a:round/>
                      <a:headEnd type="none" w="med" len="med"/>
                      <a:tailEnd type="none" w="med" len="med"/>
                    </a:lnL>
                    <a:lnR w="9525" cap="flat" cmpd="sng" algn="ctr">
                      <a:solidFill>
                        <a:srgbClr val="D9E8DD"/>
                      </a:solidFill>
                      <a:prstDash val="solid"/>
                      <a:round/>
                      <a:headEnd type="none" w="med" len="med"/>
                      <a:tailEnd type="none" w="med" len="med"/>
                    </a:lnR>
                    <a:lnT w="9525" cap="flat" cmpd="sng" algn="ctr">
                      <a:solidFill>
                        <a:srgbClr val="D9E8DD"/>
                      </a:solidFill>
                      <a:prstDash val="solid"/>
                      <a:round/>
                      <a:headEnd type="none" w="med" len="med"/>
                      <a:tailEnd type="none" w="med" len="med"/>
                    </a:lnT>
                    <a:lnB w="9525" cap="flat" cmpd="sng" algn="ctr">
                      <a:solidFill>
                        <a:srgbClr val="D9E8DD"/>
                      </a:solidFill>
                      <a:prstDash val="solid"/>
                      <a:round/>
                      <a:headEnd type="none" w="med" len="med"/>
                      <a:tailEnd type="none" w="med" len="med"/>
                    </a:lnB>
                  </a:tcPr>
                </a:tc>
              </a:tr>
              <a:tr h="384048">
                <a:tc>
                  <a:txBody>
                    <a:bodyPr/>
                    <a:lstStyle/>
                    <a:p>
                      <a:pPr algn="ctr" indent="0" marL="0">
                        <a:buNone/>
                      </a:pPr>
                      <a:r>
                        <a:rPr lang="en-US" sz="1250" dirty="0">
                          <a:solidFill>
                            <a:srgbClr val="1B2E28"/>
                          </a:solidFill>
                          <a:latin typeface="Calibri" pitchFamily="34" charset="0"/>
                          <a:ea typeface="Calibri" pitchFamily="34" charset="-122"/>
                          <a:cs typeface="Calibri" pitchFamily="34" charset="-120"/>
                        </a:rPr>
                        <a:t>3 PM</a:t>
                      </a:r>
                      <a:endParaRPr lang="en-US" sz="1250" dirty="0">
                        <a:latin typeface="Calibri" charset="0"/>
                        <a:ea typeface="Calibri" charset="0"/>
                        <a:cs typeface="Calibri" charset="0"/>
                      </a:endParaRPr>
                    </a:p>
                  </a:txBody>
                  <a:tcPr marL="91440" marR="91440" marT="45720" marB="45720" anchor="ctr">
                    <a:lnL w="9525" cap="flat" cmpd="sng" algn="ctr">
                      <a:solidFill>
                        <a:srgbClr val="D9E8DD"/>
                      </a:solidFill>
                      <a:prstDash val="solid"/>
                      <a:round/>
                      <a:headEnd type="none" w="med" len="med"/>
                      <a:tailEnd type="none" w="med" len="med"/>
                    </a:lnL>
                    <a:lnR w="9525" cap="flat" cmpd="sng" algn="ctr">
                      <a:solidFill>
                        <a:srgbClr val="D9E8DD"/>
                      </a:solidFill>
                      <a:prstDash val="solid"/>
                      <a:round/>
                      <a:headEnd type="none" w="med" len="med"/>
                      <a:tailEnd type="none" w="med" len="med"/>
                    </a:lnR>
                    <a:lnT w="9525" cap="flat" cmpd="sng" algn="ctr">
                      <a:solidFill>
                        <a:srgbClr val="D9E8DD"/>
                      </a:solidFill>
                      <a:prstDash val="solid"/>
                      <a:round/>
                      <a:headEnd type="none" w="med" len="med"/>
                      <a:tailEnd type="none" w="med" len="med"/>
                    </a:lnT>
                    <a:lnB w="9525" cap="flat" cmpd="sng" algn="ctr">
                      <a:solidFill>
                        <a:srgbClr val="D9E8DD"/>
                      </a:solidFill>
                      <a:prstDash val="solid"/>
                      <a:round/>
                      <a:headEnd type="none" w="med" len="med"/>
                      <a:tailEnd type="none" w="med" len="med"/>
                    </a:lnB>
                  </a:tcPr>
                </a:tc>
                <a:tc>
                  <a:txBody>
                    <a:bodyPr/>
                    <a:lstStyle/>
                    <a:p>
                      <a:pPr algn="ctr" indent="0" marL="0">
                        <a:buNone/>
                      </a:pPr>
                      <a:r>
                        <a:rPr lang="en-US" sz="1250" dirty="0">
                          <a:solidFill>
                            <a:srgbClr val="1B2E28"/>
                          </a:solidFill>
                          <a:latin typeface="Calibri" pitchFamily="34" charset="0"/>
                          <a:ea typeface="Calibri" pitchFamily="34" charset="-122"/>
                          <a:cs typeface="Calibri" pitchFamily="34" charset="-120"/>
                        </a:rPr>
                        <a:t>34 kW</a:t>
                      </a:r>
                      <a:endParaRPr lang="en-US" sz="1250" dirty="0">
                        <a:latin typeface="Calibri" charset="0"/>
                        <a:ea typeface="Calibri" charset="0"/>
                        <a:cs typeface="Calibri" charset="0"/>
                      </a:endParaRPr>
                    </a:p>
                  </a:txBody>
                  <a:tcPr marL="91440" marR="91440" marT="45720" marB="45720" anchor="ctr">
                    <a:lnL w="9525" cap="flat" cmpd="sng" algn="ctr">
                      <a:solidFill>
                        <a:srgbClr val="D9E8DD"/>
                      </a:solidFill>
                      <a:prstDash val="solid"/>
                      <a:round/>
                      <a:headEnd type="none" w="med" len="med"/>
                      <a:tailEnd type="none" w="med" len="med"/>
                    </a:lnL>
                    <a:lnR w="9525" cap="flat" cmpd="sng" algn="ctr">
                      <a:solidFill>
                        <a:srgbClr val="D9E8DD"/>
                      </a:solidFill>
                      <a:prstDash val="solid"/>
                      <a:round/>
                      <a:headEnd type="none" w="med" len="med"/>
                      <a:tailEnd type="none" w="med" len="med"/>
                    </a:lnR>
                    <a:lnT w="9525" cap="flat" cmpd="sng" algn="ctr">
                      <a:solidFill>
                        <a:srgbClr val="D9E8DD"/>
                      </a:solidFill>
                      <a:prstDash val="solid"/>
                      <a:round/>
                      <a:headEnd type="none" w="med" len="med"/>
                      <a:tailEnd type="none" w="med" len="med"/>
                    </a:lnT>
                    <a:lnB w="9525" cap="flat" cmpd="sng" algn="ctr">
                      <a:solidFill>
                        <a:srgbClr val="D9E8DD"/>
                      </a:solidFill>
                      <a:prstDash val="solid"/>
                      <a:round/>
                      <a:headEnd type="none" w="med" len="med"/>
                      <a:tailEnd type="none" w="med" len="med"/>
                    </a:lnB>
                  </a:tcPr>
                </a:tc>
                <a:tc>
                  <a:txBody>
                    <a:bodyPr/>
                    <a:lstStyle/>
                    <a:p>
                      <a:pPr algn="ctr" indent="0" marL="0">
                        <a:buNone/>
                      </a:pPr>
                      <a:r>
                        <a:rPr lang="en-US" sz="1250" dirty="0">
                          <a:solidFill>
                            <a:srgbClr val="1B2E28"/>
                          </a:solidFill>
                          <a:latin typeface="Calibri" pitchFamily="34" charset="0"/>
                          <a:ea typeface="Calibri" pitchFamily="34" charset="-122"/>
                          <a:cs typeface="Calibri" pitchFamily="34" charset="-120"/>
                        </a:rPr>
                        <a:t>38 kW</a:t>
                      </a:r>
                      <a:endParaRPr lang="en-US" sz="1250" dirty="0">
                        <a:latin typeface="Calibri" charset="0"/>
                        <a:ea typeface="Calibri" charset="0"/>
                        <a:cs typeface="Calibri" charset="0"/>
                      </a:endParaRPr>
                    </a:p>
                  </a:txBody>
                  <a:tcPr marL="91440" marR="91440" marT="45720" marB="45720" anchor="ctr">
                    <a:lnL w="9525" cap="flat" cmpd="sng" algn="ctr">
                      <a:solidFill>
                        <a:srgbClr val="D9E8DD"/>
                      </a:solidFill>
                      <a:prstDash val="solid"/>
                      <a:round/>
                      <a:headEnd type="none" w="med" len="med"/>
                      <a:tailEnd type="none" w="med" len="med"/>
                    </a:lnL>
                    <a:lnR w="9525" cap="flat" cmpd="sng" algn="ctr">
                      <a:solidFill>
                        <a:srgbClr val="D9E8DD"/>
                      </a:solidFill>
                      <a:prstDash val="solid"/>
                      <a:round/>
                      <a:headEnd type="none" w="med" len="med"/>
                      <a:tailEnd type="none" w="med" len="med"/>
                    </a:lnR>
                    <a:lnT w="9525" cap="flat" cmpd="sng" algn="ctr">
                      <a:solidFill>
                        <a:srgbClr val="D9E8DD"/>
                      </a:solidFill>
                      <a:prstDash val="solid"/>
                      <a:round/>
                      <a:headEnd type="none" w="med" len="med"/>
                      <a:tailEnd type="none" w="med" len="med"/>
                    </a:lnT>
                    <a:lnB w="9525" cap="flat" cmpd="sng" algn="ctr">
                      <a:solidFill>
                        <a:srgbClr val="D9E8DD"/>
                      </a:solidFill>
                      <a:prstDash val="solid"/>
                      <a:round/>
                      <a:headEnd type="none" w="med" len="med"/>
                      <a:tailEnd type="none" w="med" len="med"/>
                    </a:lnB>
                  </a:tcPr>
                </a:tc>
                <a:tc>
                  <a:txBody>
                    <a:bodyPr/>
                    <a:lstStyle/>
                    <a:p>
                      <a:pPr algn="ctr" indent="0" marL="0">
                        <a:buNone/>
                      </a:pPr>
                      <a:r>
                        <a:rPr lang="en-US" sz="1250" b="1" dirty="0">
                          <a:solidFill>
                            <a:srgbClr val="BC4749"/>
                          </a:solidFill>
                          <a:latin typeface="Calibri" pitchFamily="34" charset="0"/>
                          <a:ea typeface="Calibri" pitchFamily="34" charset="-122"/>
                          <a:cs typeface="Calibri" pitchFamily="34" charset="-120"/>
                        </a:rPr>
                        <a:t>Deficit</a:t>
                      </a:r>
                      <a:endParaRPr lang="en-US" sz="1250" dirty="0">
                        <a:latin typeface="Calibri" charset="0"/>
                        <a:ea typeface="Calibri" charset="0"/>
                        <a:cs typeface="Calibri" charset="0"/>
                      </a:endParaRPr>
                    </a:p>
                  </a:txBody>
                  <a:tcPr marL="91440" marR="91440" marT="45720" marB="45720" anchor="ctr">
                    <a:lnL w="9525" cap="flat" cmpd="sng" algn="ctr">
                      <a:solidFill>
                        <a:srgbClr val="D9E8DD"/>
                      </a:solidFill>
                      <a:prstDash val="solid"/>
                      <a:round/>
                      <a:headEnd type="none" w="med" len="med"/>
                      <a:tailEnd type="none" w="med" len="med"/>
                    </a:lnL>
                    <a:lnR w="9525" cap="flat" cmpd="sng" algn="ctr">
                      <a:solidFill>
                        <a:srgbClr val="D9E8DD"/>
                      </a:solidFill>
                      <a:prstDash val="solid"/>
                      <a:round/>
                      <a:headEnd type="none" w="med" len="med"/>
                      <a:tailEnd type="none" w="med" len="med"/>
                    </a:lnR>
                    <a:lnT w="9525" cap="flat" cmpd="sng" algn="ctr">
                      <a:solidFill>
                        <a:srgbClr val="D9E8DD"/>
                      </a:solidFill>
                      <a:prstDash val="solid"/>
                      <a:round/>
                      <a:headEnd type="none" w="med" len="med"/>
                      <a:tailEnd type="none" w="med" len="med"/>
                    </a:lnT>
                    <a:lnB w="9525" cap="flat" cmpd="sng" algn="ctr">
                      <a:solidFill>
                        <a:srgbClr val="D9E8DD"/>
                      </a:solidFill>
                      <a:prstDash val="solid"/>
                      <a:round/>
                      <a:headEnd type="none" w="med" len="med"/>
                      <a:tailEnd type="none" w="med" len="med"/>
                    </a:lnB>
                  </a:tcPr>
                </a:tc>
              </a:tr>
            </a:tbl>
          </a:graphicData>
        </a:graphic>
      </p:graphicFrame>
      <p:sp>
        <p:nvSpPr>
          <p:cNvPr id="15" name="Shape 12"/>
          <p:cNvSpPr/>
          <p:nvPr/>
        </p:nvSpPr>
        <p:spPr>
          <a:xfrm>
            <a:off x="8092440" y="3794760"/>
            <a:ext cx="3520440" cy="1920240"/>
          </a:xfrm>
          <a:prstGeom prst="roundRect">
            <a:avLst>
              <a:gd name="adj" fmla="val 3810"/>
            </a:avLst>
          </a:prstGeom>
          <a:solidFill>
            <a:srgbClr val="EAF4EC"/>
          </a:solidFill>
          <a:ln/>
        </p:spPr>
      </p:sp>
      <p:sp>
        <p:nvSpPr>
          <p:cNvPr id="16" name="Text 13"/>
          <p:cNvSpPr txBox="1"/>
          <p:nvPr/>
        </p:nvSpPr>
        <p:spPr>
          <a:xfrm>
            <a:off x="8321040" y="3977640"/>
            <a:ext cx="3108960" cy="320040"/>
          </a:xfrm>
          <a:prstGeom prst="rect">
            <a:avLst/>
          </a:prstGeom>
          <a:noFill/>
          <a:ln/>
        </p:spPr>
        <p:txBody>
          <a:bodyPr wrap="square" rtlCol="0" anchor="ctr"/>
          <a:lstStyle/>
          <a:p>
            <a:pPr indent="0" marL="0">
              <a:buNone/>
            </a:pPr>
            <a:r>
              <a:rPr lang="en-US" sz="1400" b="1" dirty="0">
                <a:solidFill>
                  <a:srgbClr val="1B4332"/>
                </a:solidFill>
                <a:latin typeface="Cambria" pitchFamily="34" charset="0"/>
                <a:ea typeface="Cambria" pitchFamily="34" charset="-122"/>
                <a:cs typeface="Cambria" pitchFamily="34" charset="-120"/>
              </a:rPr>
              <a:t>Result</a:t>
            </a:r>
            <a:endParaRPr lang="en-US" sz="1400" dirty="0"/>
          </a:p>
        </p:txBody>
      </p:sp>
      <p:sp>
        <p:nvSpPr>
          <p:cNvPr id="17" name="Text 14"/>
          <p:cNvSpPr txBox="1"/>
          <p:nvPr/>
        </p:nvSpPr>
        <p:spPr>
          <a:xfrm>
            <a:off x="8321040" y="4343400"/>
            <a:ext cx="3108960" cy="1234440"/>
          </a:xfrm>
          <a:prstGeom prst="rect">
            <a:avLst/>
          </a:prstGeom>
          <a:noFill/>
          <a:ln/>
        </p:spPr>
        <p:txBody>
          <a:bodyPr wrap="square" rtlCol="0" anchor="t"/>
          <a:lstStyle/>
          <a:p>
            <a:pPr indent="0" marL="0">
              <a:buNone/>
            </a:pPr>
            <a:r>
              <a:rPr lang="en-US" sz="1250" dirty="0">
                <a:solidFill>
                  <a:srgbClr val="1B2E28"/>
                </a:solidFill>
                <a:latin typeface="Calibri" pitchFamily="34" charset="0"/>
                <a:ea typeface="Calibri" pitchFamily="34" charset="-122"/>
                <a:cs typeface="Calibri" pitchFamily="34" charset="-120"/>
              </a:rPr>
              <a:t>The energy manager receives an early warning instead of reacting after the problem occurs.</a:t>
            </a:r>
            <a:endParaRPr lang="en-US" sz="1250" dirty="0"/>
          </a:p>
        </p:txBody>
      </p:sp>
      <p:sp>
        <p:nvSpPr>
          <p:cNvPr id="18" name="Text 15"/>
          <p:cNvSpPr txBox="1"/>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2796F"/>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rtlCol="0" anchor="ctr"/>
          <a:lstStyle/>
          <a:p>
            <a:pPr indent="0" marL="0">
              <a:buNone/>
            </a:pPr>
            <a:r>
              <a:rPr lang="en-US" sz="3200" b="1" dirty="0">
                <a:solidFill>
                  <a:srgbClr val="1B4332"/>
                </a:solidFill>
                <a:latin typeface="Cambria" pitchFamily="34" charset="0"/>
                <a:ea typeface="Cambria" pitchFamily="34" charset="-122"/>
                <a:cs typeface="Cambria" pitchFamily="34" charset="-120"/>
              </a:rPr>
              <a:t>From Data to Actionable Insights</a:t>
            </a:r>
            <a:endParaRPr lang="en-US" sz="3200" dirty="0"/>
          </a:p>
        </p:txBody>
      </p:sp>
      <p:sp>
        <p:nvSpPr>
          <p:cNvPr id="3" name="Text 1"/>
          <p:cNvSpPr txBox="1"/>
          <p:nvPr/>
        </p:nvSpPr>
        <p:spPr>
          <a:xfrm>
            <a:off x="548640" y="1097280"/>
            <a:ext cx="10972800" cy="365760"/>
          </a:xfrm>
          <a:prstGeom prst="rect">
            <a:avLst/>
          </a:prstGeom>
          <a:noFill/>
          <a:ln/>
        </p:spPr>
        <p:txBody>
          <a:bodyPr wrap="square" rtlCol="0" anchor="ctr"/>
          <a:lstStyle/>
          <a:p>
            <a:pPr indent="0" marL="0">
              <a:buNone/>
            </a:pPr>
            <a:r>
              <a:rPr lang="en-US" sz="1400" i="1" dirty="0">
                <a:solidFill>
                  <a:srgbClr val="52796F"/>
                </a:solidFill>
                <a:latin typeface="Calibri" pitchFamily="34" charset="0"/>
                <a:ea typeface="Calibri" pitchFamily="34" charset="-122"/>
                <a:cs typeface="Calibri" pitchFamily="34" charset="-120"/>
              </a:rPr>
              <a:t>Instead of showing only numbers, RenewAI explains what they mean.</a:t>
            </a:r>
            <a:endParaRPr lang="en-US" sz="1400" dirty="0"/>
          </a:p>
        </p:txBody>
      </p:sp>
      <p:sp>
        <p:nvSpPr>
          <p:cNvPr id="4" name="Shape 2"/>
          <p:cNvSpPr/>
          <p:nvPr/>
        </p:nvSpPr>
        <p:spPr>
          <a:xfrm>
            <a:off x="548640" y="1645920"/>
            <a:ext cx="2066544" cy="3566160"/>
          </a:xfrm>
          <a:prstGeom prst="roundRect">
            <a:avLst>
              <a:gd name="adj" fmla="val 3540"/>
            </a:avLst>
          </a:prstGeom>
          <a:solidFill>
            <a:srgbClr val="EAF4EC"/>
          </a:solidFill>
          <a:ln/>
        </p:spPr>
      </p:sp>
      <p:sp>
        <p:nvSpPr>
          <p:cNvPr id="5" name="Shape 3"/>
          <p:cNvSpPr/>
          <p:nvPr/>
        </p:nvSpPr>
        <p:spPr>
          <a:xfrm>
            <a:off x="1353312" y="1874520"/>
            <a:ext cx="457200" cy="457200"/>
          </a:xfrm>
          <a:prstGeom prst="ellipse">
            <a:avLst/>
          </a:prstGeom>
          <a:solidFill>
            <a:srgbClr val="1B4332"/>
          </a:solidFill>
          <a:ln/>
        </p:spPr>
      </p:sp>
      <p:sp>
        <p:nvSpPr>
          <p:cNvPr id="6" name="Text 4"/>
          <p:cNvSpPr txBox="1"/>
          <p:nvPr/>
        </p:nvSpPr>
        <p:spPr>
          <a:xfrm>
            <a:off x="1353312" y="1874520"/>
            <a:ext cx="457200" cy="45720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640080" y="2468880"/>
            <a:ext cx="1883664" cy="457200"/>
          </a:xfrm>
          <a:prstGeom prst="rect">
            <a:avLst/>
          </a:prstGeom>
          <a:noFill/>
          <a:ln/>
        </p:spPr>
        <p:txBody>
          <a:bodyPr wrap="square" rtlCol="0" anchor="ctr"/>
          <a:lstStyle/>
          <a:p>
            <a:pPr algn="ctr" indent="0" marL="0">
              <a:buNone/>
            </a:pPr>
            <a:r>
              <a:rPr lang="en-US" sz="1300" b="1" dirty="0">
                <a:solidFill>
                  <a:srgbClr val="1B4332"/>
                </a:solidFill>
                <a:latin typeface="Cambria" pitchFamily="34" charset="0"/>
                <a:ea typeface="Cambria" pitchFamily="34" charset="-122"/>
                <a:cs typeface="Cambria" pitchFamily="34" charset="-120"/>
              </a:rPr>
              <a:t>Situation</a:t>
            </a:r>
            <a:endParaRPr lang="en-US" sz="1300" dirty="0"/>
          </a:p>
        </p:txBody>
      </p:sp>
      <p:sp>
        <p:nvSpPr>
          <p:cNvPr id="8" name="Text 6"/>
          <p:cNvSpPr txBox="1"/>
          <p:nvPr/>
        </p:nvSpPr>
        <p:spPr>
          <a:xfrm>
            <a:off x="685800" y="2971800"/>
            <a:ext cx="1792224" cy="2103120"/>
          </a:xfrm>
          <a:prstGeom prst="rect">
            <a:avLst/>
          </a:prstGeom>
          <a:noFill/>
          <a:ln/>
        </p:spPr>
        <p:txBody>
          <a:bodyPr wrap="square" rtlCol="0" anchor="t"/>
          <a:lstStyle/>
          <a:p>
            <a:pPr algn="ctr" indent="0" marL="0">
              <a:buNone/>
            </a:pPr>
            <a:r>
              <a:rPr lang="en-US" sz="1050" dirty="0">
                <a:solidFill>
                  <a:srgbClr val="1B2E28"/>
                </a:solidFill>
                <a:latin typeface="Calibri" pitchFamily="34" charset="0"/>
                <a:ea typeface="Calibri" pitchFamily="34" charset="-122"/>
                <a:cs typeface="Calibri" pitchFamily="34" charset="-120"/>
              </a:rPr>
              <a:t>Solar Generation = 45 kW</a:t>
            </a:r>
            <a:endParaRPr lang="en-US" sz="1050" dirty="0"/>
          </a:p>
          <a:p>
            <a:pPr algn="ctr" indent="0" marL="0">
              <a:buNone/>
            </a:pPr>
            <a:r>
              <a:rPr lang="en-US" sz="1050" dirty="0">
                <a:solidFill>
                  <a:srgbClr val="1B2E28"/>
                </a:solidFill>
                <a:latin typeface="Calibri" pitchFamily="34" charset="0"/>
                <a:ea typeface="Calibri" pitchFamily="34" charset="-122"/>
                <a:cs typeface="Calibri" pitchFamily="34" charset="-120"/>
              </a:rPr>
              <a:t>Consumption = 28 kW</a:t>
            </a:r>
            <a:endParaRPr lang="en-US" sz="1050" dirty="0"/>
          </a:p>
        </p:txBody>
      </p:sp>
      <p:sp>
        <p:nvSpPr>
          <p:cNvPr id="9" name="Text 7"/>
          <p:cNvSpPr txBox="1"/>
          <p:nvPr/>
        </p:nvSpPr>
        <p:spPr>
          <a:xfrm>
            <a:off x="2560320" y="1874520"/>
            <a:ext cx="228600" cy="457200"/>
          </a:xfrm>
          <a:prstGeom prst="rect">
            <a:avLst/>
          </a:prstGeom>
          <a:noFill/>
          <a:ln/>
        </p:spPr>
        <p:txBody>
          <a:bodyPr wrap="square" rtlCol="0" anchor="ctr"/>
          <a:lstStyle/>
          <a:p>
            <a:pPr algn="ctr" indent="0" marL="0">
              <a:buNone/>
            </a:pPr>
            <a:r>
              <a:rPr lang="en-US" sz="2000" b="1" dirty="0">
                <a:solidFill>
                  <a:srgbClr val="F4A300"/>
                </a:solidFill>
              </a:rPr>
              <a:t>▸</a:t>
            </a:r>
            <a:endParaRPr lang="en-US" sz="2000" dirty="0"/>
          </a:p>
        </p:txBody>
      </p:sp>
      <p:sp>
        <p:nvSpPr>
          <p:cNvPr id="10" name="Shape 8"/>
          <p:cNvSpPr/>
          <p:nvPr/>
        </p:nvSpPr>
        <p:spPr>
          <a:xfrm>
            <a:off x="2734056" y="1645920"/>
            <a:ext cx="2066544" cy="3566160"/>
          </a:xfrm>
          <a:prstGeom prst="roundRect">
            <a:avLst>
              <a:gd name="adj" fmla="val 3540"/>
            </a:avLst>
          </a:prstGeom>
          <a:solidFill>
            <a:srgbClr val="F6EFDD"/>
          </a:solidFill>
          <a:ln/>
        </p:spPr>
      </p:sp>
      <p:sp>
        <p:nvSpPr>
          <p:cNvPr id="11" name="Shape 9"/>
          <p:cNvSpPr/>
          <p:nvPr/>
        </p:nvSpPr>
        <p:spPr>
          <a:xfrm>
            <a:off x="3538728" y="1874520"/>
            <a:ext cx="457200" cy="457200"/>
          </a:xfrm>
          <a:prstGeom prst="ellipse">
            <a:avLst/>
          </a:prstGeom>
          <a:solidFill>
            <a:srgbClr val="40916C"/>
          </a:solidFill>
          <a:ln/>
        </p:spPr>
      </p:sp>
      <p:sp>
        <p:nvSpPr>
          <p:cNvPr id="12" name="Text 10"/>
          <p:cNvSpPr txBox="1"/>
          <p:nvPr/>
        </p:nvSpPr>
        <p:spPr>
          <a:xfrm>
            <a:off x="3538728" y="1874520"/>
            <a:ext cx="457200" cy="45720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2</a:t>
            </a:r>
            <a:endParaRPr lang="en-US" sz="1800" dirty="0"/>
          </a:p>
        </p:txBody>
      </p:sp>
      <p:sp>
        <p:nvSpPr>
          <p:cNvPr id="13" name="Text 11"/>
          <p:cNvSpPr txBox="1"/>
          <p:nvPr/>
        </p:nvSpPr>
        <p:spPr>
          <a:xfrm>
            <a:off x="2825496" y="2468880"/>
            <a:ext cx="1883664" cy="457200"/>
          </a:xfrm>
          <a:prstGeom prst="rect">
            <a:avLst/>
          </a:prstGeom>
          <a:noFill/>
          <a:ln/>
        </p:spPr>
        <p:txBody>
          <a:bodyPr wrap="square" rtlCol="0" anchor="ctr"/>
          <a:lstStyle/>
          <a:p>
            <a:pPr algn="ctr" indent="0" marL="0">
              <a:buNone/>
            </a:pPr>
            <a:r>
              <a:rPr lang="en-US" sz="1300" b="1" dirty="0">
                <a:solidFill>
                  <a:srgbClr val="1B4332"/>
                </a:solidFill>
                <a:latin typeface="Cambria" pitchFamily="34" charset="0"/>
                <a:ea typeface="Cambria" pitchFamily="34" charset="-122"/>
                <a:cs typeface="Cambria" pitchFamily="34" charset="-120"/>
              </a:rPr>
              <a:t>AI Analysis</a:t>
            </a:r>
            <a:endParaRPr lang="en-US" sz="1300" dirty="0"/>
          </a:p>
        </p:txBody>
      </p:sp>
      <p:sp>
        <p:nvSpPr>
          <p:cNvPr id="14" name="Text 12"/>
          <p:cNvSpPr txBox="1"/>
          <p:nvPr/>
        </p:nvSpPr>
        <p:spPr>
          <a:xfrm>
            <a:off x="2871216" y="2971800"/>
            <a:ext cx="1792224" cy="2103120"/>
          </a:xfrm>
          <a:prstGeom prst="rect">
            <a:avLst/>
          </a:prstGeom>
          <a:noFill/>
          <a:ln/>
        </p:spPr>
        <p:txBody>
          <a:bodyPr wrap="square" rtlCol="0" anchor="t"/>
          <a:lstStyle/>
          <a:p>
            <a:pPr algn="ctr" indent="0" marL="0">
              <a:buNone/>
            </a:pPr>
            <a:r>
              <a:rPr lang="en-US" sz="1050" dirty="0">
                <a:solidFill>
                  <a:srgbClr val="1B2E28"/>
                </a:solidFill>
                <a:latin typeface="Calibri" pitchFamily="34" charset="0"/>
                <a:ea typeface="Calibri" pitchFamily="34" charset="-122"/>
                <a:cs typeface="Calibri" pitchFamily="34" charset="-120"/>
              </a:rPr>
              <a:t>≈ 17 kW energy surplus detected</a:t>
            </a:r>
            <a:endParaRPr lang="en-US" sz="1050" dirty="0"/>
          </a:p>
        </p:txBody>
      </p:sp>
      <p:sp>
        <p:nvSpPr>
          <p:cNvPr id="15" name="Text 13"/>
          <p:cNvSpPr txBox="1"/>
          <p:nvPr/>
        </p:nvSpPr>
        <p:spPr>
          <a:xfrm>
            <a:off x="4745736" y="1874520"/>
            <a:ext cx="228600" cy="457200"/>
          </a:xfrm>
          <a:prstGeom prst="rect">
            <a:avLst/>
          </a:prstGeom>
          <a:noFill/>
          <a:ln/>
        </p:spPr>
        <p:txBody>
          <a:bodyPr wrap="square" rtlCol="0" anchor="ctr"/>
          <a:lstStyle/>
          <a:p>
            <a:pPr algn="ctr" indent="0" marL="0">
              <a:buNone/>
            </a:pPr>
            <a:r>
              <a:rPr lang="en-US" sz="2000" b="1" dirty="0">
                <a:solidFill>
                  <a:srgbClr val="F4A300"/>
                </a:solidFill>
              </a:rPr>
              <a:t>▸</a:t>
            </a:r>
            <a:endParaRPr lang="en-US" sz="2000" dirty="0"/>
          </a:p>
        </p:txBody>
      </p:sp>
      <p:sp>
        <p:nvSpPr>
          <p:cNvPr id="16" name="Shape 14"/>
          <p:cNvSpPr/>
          <p:nvPr/>
        </p:nvSpPr>
        <p:spPr>
          <a:xfrm>
            <a:off x="4919472" y="1645920"/>
            <a:ext cx="2066544" cy="3566160"/>
          </a:xfrm>
          <a:prstGeom prst="roundRect">
            <a:avLst>
              <a:gd name="adj" fmla="val 3540"/>
            </a:avLst>
          </a:prstGeom>
          <a:solidFill>
            <a:srgbClr val="EAF4EC"/>
          </a:solidFill>
          <a:ln/>
        </p:spPr>
      </p:sp>
      <p:sp>
        <p:nvSpPr>
          <p:cNvPr id="17" name="Shape 15"/>
          <p:cNvSpPr/>
          <p:nvPr/>
        </p:nvSpPr>
        <p:spPr>
          <a:xfrm>
            <a:off x="5724144" y="1874520"/>
            <a:ext cx="457200" cy="457200"/>
          </a:xfrm>
          <a:prstGeom prst="ellipse">
            <a:avLst/>
          </a:prstGeom>
          <a:solidFill>
            <a:srgbClr val="1B4332"/>
          </a:solidFill>
          <a:ln/>
        </p:spPr>
      </p:sp>
      <p:sp>
        <p:nvSpPr>
          <p:cNvPr id="18" name="Text 16"/>
          <p:cNvSpPr txBox="1"/>
          <p:nvPr/>
        </p:nvSpPr>
        <p:spPr>
          <a:xfrm>
            <a:off x="5724144" y="1874520"/>
            <a:ext cx="457200" cy="45720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3</a:t>
            </a:r>
            <a:endParaRPr lang="en-US" sz="1800" dirty="0"/>
          </a:p>
        </p:txBody>
      </p:sp>
      <p:sp>
        <p:nvSpPr>
          <p:cNvPr id="19" name="Text 17"/>
          <p:cNvSpPr txBox="1"/>
          <p:nvPr/>
        </p:nvSpPr>
        <p:spPr>
          <a:xfrm>
            <a:off x="5010912" y="2468880"/>
            <a:ext cx="1883664" cy="457200"/>
          </a:xfrm>
          <a:prstGeom prst="rect">
            <a:avLst/>
          </a:prstGeom>
          <a:noFill/>
          <a:ln/>
        </p:spPr>
        <p:txBody>
          <a:bodyPr wrap="square" rtlCol="0" anchor="ctr"/>
          <a:lstStyle/>
          <a:p>
            <a:pPr algn="ctr" indent="0" marL="0">
              <a:buNone/>
            </a:pPr>
            <a:r>
              <a:rPr lang="en-US" sz="1300" b="1" dirty="0">
                <a:solidFill>
                  <a:srgbClr val="1B4332"/>
                </a:solidFill>
                <a:latin typeface="Cambria" pitchFamily="34" charset="0"/>
                <a:ea typeface="Cambria" pitchFamily="34" charset="-122"/>
                <a:cs typeface="Cambria" pitchFamily="34" charset="-120"/>
              </a:rPr>
              <a:t>Recommendation</a:t>
            </a:r>
            <a:endParaRPr lang="en-US" sz="1300" dirty="0"/>
          </a:p>
        </p:txBody>
      </p:sp>
      <p:sp>
        <p:nvSpPr>
          <p:cNvPr id="20" name="Text 18"/>
          <p:cNvSpPr txBox="1"/>
          <p:nvPr/>
        </p:nvSpPr>
        <p:spPr>
          <a:xfrm>
            <a:off x="5056632" y="2971800"/>
            <a:ext cx="1792224" cy="2103120"/>
          </a:xfrm>
          <a:prstGeom prst="rect">
            <a:avLst/>
          </a:prstGeom>
          <a:noFill/>
          <a:ln/>
        </p:spPr>
        <p:txBody>
          <a:bodyPr wrap="square" rtlCol="0" anchor="t"/>
          <a:lstStyle/>
          <a:p>
            <a:pPr algn="ctr" indent="0" marL="0">
              <a:buNone/>
            </a:pPr>
            <a:r>
              <a:rPr lang="en-US" sz="1050" dirty="0">
                <a:solidFill>
                  <a:srgbClr val="1B2E28"/>
                </a:solidFill>
                <a:latin typeface="Calibri" pitchFamily="34" charset="0"/>
                <a:ea typeface="Calibri" pitchFamily="34" charset="-122"/>
                <a:cs typeface="Calibri" pitchFamily="34" charset="-120"/>
              </a:rPr>
              <a:t>“Consider scheduling suitable flexible loads during the current high-solar period to improve renewable-energy utilization.”</a:t>
            </a:r>
            <a:endParaRPr lang="en-US" sz="1050" dirty="0"/>
          </a:p>
        </p:txBody>
      </p:sp>
      <p:sp>
        <p:nvSpPr>
          <p:cNvPr id="21" name="Text 19"/>
          <p:cNvSpPr txBox="1"/>
          <p:nvPr/>
        </p:nvSpPr>
        <p:spPr>
          <a:xfrm>
            <a:off x="6931152" y="1874520"/>
            <a:ext cx="228600" cy="457200"/>
          </a:xfrm>
          <a:prstGeom prst="rect">
            <a:avLst/>
          </a:prstGeom>
          <a:noFill/>
          <a:ln/>
        </p:spPr>
        <p:txBody>
          <a:bodyPr wrap="square" rtlCol="0" anchor="ctr"/>
          <a:lstStyle/>
          <a:p>
            <a:pPr algn="ctr" indent="0" marL="0">
              <a:buNone/>
            </a:pPr>
            <a:r>
              <a:rPr lang="en-US" sz="2000" b="1" dirty="0">
                <a:solidFill>
                  <a:srgbClr val="F4A300"/>
                </a:solidFill>
              </a:rPr>
              <a:t>▸</a:t>
            </a:r>
            <a:endParaRPr lang="en-US" sz="2000" dirty="0"/>
          </a:p>
        </p:txBody>
      </p:sp>
      <p:sp>
        <p:nvSpPr>
          <p:cNvPr id="22" name="Shape 20"/>
          <p:cNvSpPr/>
          <p:nvPr/>
        </p:nvSpPr>
        <p:spPr>
          <a:xfrm>
            <a:off x="7104888" y="1645920"/>
            <a:ext cx="2066544" cy="3566160"/>
          </a:xfrm>
          <a:prstGeom prst="roundRect">
            <a:avLst>
              <a:gd name="adj" fmla="val 3540"/>
            </a:avLst>
          </a:prstGeom>
          <a:solidFill>
            <a:srgbClr val="F6EFDD"/>
          </a:solidFill>
          <a:ln/>
        </p:spPr>
      </p:sp>
      <p:sp>
        <p:nvSpPr>
          <p:cNvPr id="23" name="Shape 21"/>
          <p:cNvSpPr/>
          <p:nvPr/>
        </p:nvSpPr>
        <p:spPr>
          <a:xfrm>
            <a:off x="7909560" y="1874520"/>
            <a:ext cx="457200" cy="457200"/>
          </a:xfrm>
          <a:prstGeom prst="ellipse">
            <a:avLst/>
          </a:prstGeom>
          <a:solidFill>
            <a:srgbClr val="40916C"/>
          </a:solidFill>
          <a:ln/>
        </p:spPr>
      </p:sp>
      <p:sp>
        <p:nvSpPr>
          <p:cNvPr id="24" name="Text 22"/>
          <p:cNvSpPr txBox="1"/>
          <p:nvPr/>
        </p:nvSpPr>
        <p:spPr>
          <a:xfrm>
            <a:off x="7909560" y="1874520"/>
            <a:ext cx="457200" cy="45720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4</a:t>
            </a:r>
            <a:endParaRPr lang="en-US" sz="1800" dirty="0"/>
          </a:p>
        </p:txBody>
      </p:sp>
      <p:sp>
        <p:nvSpPr>
          <p:cNvPr id="25" name="Text 23"/>
          <p:cNvSpPr txBox="1"/>
          <p:nvPr/>
        </p:nvSpPr>
        <p:spPr>
          <a:xfrm>
            <a:off x="7196328" y="2468880"/>
            <a:ext cx="1883664" cy="457200"/>
          </a:xfrm>
          <a:prstGeom prst="rect">
            <a:avLst/>
          </a:prstGeom>
          <a:noFill/>
          <a:ln/>
        </p:spPr>
        <p:txBody>
          <a:bodyPr wrap="square" rtlCol="0" anchor="ctr"/>
          <a:lstStyle/>
          <a:p>
            <a:pPr algn="ctr" indent="0" marL="0">
              <a:buNone/>
            </a:pPr>
            <a:r>
              <a:rPr lang="en-US" sz="1300" b="1" dirty="0">
                <a:solidFill>
                  <a:srgbClr val="1B4332"/>
                </a:solidFill>
                <a:latin typeface="Cambria" pitchFamily="34" charset="0"/>
                <a:ea typeface="Cambria" pitchFamily="34" charset="-122"/>
                <a:cs typeface="Cambria" pitchFamily="34" charset="-120"/>
              </a:rPr>
              <a:t>Why?</a:t>
            </a:r>
            <a:endParaRPr lang="en-US" sz="1300" dirty="0"/>
          </a:p>
        </p:txBody>
      </p:sp>
      <p:sp>
        <p:nvSpPr>
          <p:cNvPr id="26" name="Text 24"/>
          <p:cNvSpPr txBox="1"/>
          <p:nvPr/>
        </p:nvSpPr>
        <p:spPr>
          <a:xfrm>
            <a:off x="7242048" y="2971800"/>
            <a:ext cx="1792224" cy="2103120"/>
          </a:xfrm>
          <a:prstGeom prst="rect">
            <a:avLst/>
          </a:prstGeom>
          <a:noFill/>
          <a:ln/>
        </p:spPr>
        <p:txBody>
          <a:bodyPr wrap="square" rtlCol="0" anchor="t"/>
          <a:lstStyle/>
          <a:p>
            <a:pPr algn="ctr" indent="0" marL="0">
              <a:buNone/>
            </a:pPr>
            <a:r>
              <a:rPr lang="en-US" sz="1050" dirty="0">
                <a:solidFill>
                  <a:srgbClr val="1B2E28"/>
                </a:solidFill>
                <a:latin typeface="Calibri" pitchFamily="34" charset="0"/>
                <a:ea typeface="Calibri" pitchFamily="34" charset="-122"/>
                <a:cs typeface="Calibri" pitchFamily="34" charset="-120"/>
              </a:rPr>
              <a:t>Because renewable generation is currently greater than the observed consumption.</a:t>
            </a:r>
            <a:endParaRPr lang="en-US" sz="1050" dirty="0"/>
          </a:p>
        </p:txBody>
      </p:sp>
      <p:sp>
        <p:nvSpPr>
          <p:cNvPr id="27" name="Text 25"/>
          <p:cNvSpPr txBox="1"/>
          <p:nvPr/>
        </p:nvSpPr>
        <p:spPr>
          <a:xfrm>
            <a:off x="9116568" y="1874520"/>
            <a:ext cx="228600" cy="457200"/>
          </a:xfrm>
          <a:prstGeom prst="rect">
            <a:avLst/>
          </a:prstGeom>
          <a:noFill/>
          <a:ln/>
        </p:spPr>
        <p:txBody>
          <a:bodyPr wrap="square" rtlCol="0" anchor="ctr"/>
          <a:lstStyle/>
          <a:p>
            <a:pPr algn="ctr" indent="0" marL="0">
              <a:buNone/>
            </a:pPr>
            <a:r>
              <a:rPr lang="en-US" sz="2000" b="1" dirty="0">
                <a:solidFill>
                  <a:srgbClr val="F4A300"/>
                </a:solidFill>
              </a:rPr>
              <a:t>▸</a:t>
            </a:r>
            <a:endParaRPr lang="en-US" sz="2000" dirty="0"/>
          </a:p>
        </p:txBody>
      </p:sp>
      <p:sp>
        <p:nvSpPr>
          <p:cNvPr id="28" name="Shape 26"/>
          <p:cNvSpPr/>
          <p:nvPr/>
        </p:nvSpPr>
        <p:spPr>
          <a:xfrm>
            <a:off x="9290304" y="1645920"/>
            <a:ext cx="2066544" cy="3566160"/>
          </a:xfrm>
          <a:prstGeom prst="roundRect">
            <a:avLst>
              <a:gd name="adj" fmla="val 3540"/>
            </a:avLst>
          </a:prstGeom>
          <a:solidFill>
            <a:srgbClr val="EAF4EC"/>
          </a:solidFill>
          <a:ln/>
        </p:spPr>
      </p:sp>
      <p:sp>
        <p:nvSpPr>
          <p:cNvPr id="29" name="Shape 27"/>
          <p:cNvSpPr/>
          <p:nvPr/>
        </p:nvSpPr>
        <p:spPr>
          <a:xfrm>
            <a:off x="10094976" y="1874520"/>
            <a:ext cx="457200" cy="457200"/>
          </a:xfrm>
          <a:prstGeom prst="ellipse">
            <a:avLst/>
          </a:prstGeom>
          <a:solidFill>
            <a:srgbClr val="1B4332"/>
          </a:solidFill>
          <a:ln/>
        </p:spPr>
      </p:sp>
      <p:sp>
        <p:nvSpPr>
          <p:cNvPr id="30" name="Text 28"/>
          <p:cNvSpPr txBox="1"/>
          <p:nvPr/>
        </p:nvSpPr>
        <p:spPr>
          <a:xfrm>
            <a:off x="10094976" y="1874520"/>
            <a:ext cx="457200" cy="457200"/>
          </a:xfrm>
          <a:prstGeom prst="rect">
            <a:avLst/>
          </a:prstGeom>
          <a:noFill/>
          <a:ln/>
        </p:spPr>
        <p:txBody>
          <a:bodyPr wrap="square" rtlCol="0" anchor="ctr"/>
          <a:lstStyle/>
          <a:p>
            <a:pPr algn="ctr" indent="0" marL="0">
              <a:buNone/>
            </a:pPr>
            <a:r>
              <a:rPr lang="en-US" sz="1800" dirty="0">
                <a:solidFill>
                  <a:srgbClr val="000000"/>
                </a:solidFill>
                <a:latin typeface="Calibri" pitchFamily="34" charset="0"/>
                <a:ea typeface="Calibri" pitchFamily="34" charset="-122"/>
                <a:cs typeface="Calibri" pitchFamily="34" charset="-120"/>
              </a:rPr>
              <a:t>5</a:t>
            </a:r>
            <a:endParaRPr lang="en-US" sz="1800" dirty="0"/>
          </a:p>
        </p:txBody>
      </p:sp>
      <p:sp>
        <p:nvSpPr>
          <p:cNvPr id="31" name="Text 29"/>
          <p:cNvSpPr txBox="1"/>
          <p:nvPr/>
        </p:nvSpPr>
        <p:spPr>
          <a:xfrm>
            <a:off x="9381744" y="2468880"/>
            <a:ext cx="1883664" cy="457200"/>
          </a:xfrm>
          <a:prstGeom prst="rect">
            <a:avLst/>
          </a:prstGeom>
          <a:noFill/>
          <a:ln/>
        </p:spPr>
        <p:txBody>
          <a:bodyPr wrap="square" rtlCol="0" anchor="ctr"/>
          <a:lstStyle/>
          <a:p>
            <a:pPr algn="ctr" indent="0" marL="0">
              <a:buNone/>
            </a:pPr>
            <a:r>
              <a:rPr lang="en-US" sz="1300" b="1" dirty="0">
                <a:solidFill>
                  <a:srgbClr val="1B4332"/>
                </a:solidFill>
                <a:latin typeface="Cambria" pitchFamily="34" charset="0"/>
                <a:ea typeface="Cambria" pitchFamily="34" charset="-122"/>
                <a:cs typeface="Cambria" pitchFamily="34" charset="-120"/>
              </a:rPr>
              <a:t>Expected Benefit</a:t>
            </a:r>
            <a:endParaRPr lang="en-US" sz="1300" dirty="0"/>
          </a:p>
        </p:txBody>
      </p:sp>
      <p:sp>
        <p:nvSpPr>
          <p:cNvPr id="32" name="Text 30"/>
          <p:cNvSpPr txBox="1"/>
          <p:nvPr/>
        </p:nvSpPr>
        <p:spPr>
          <a:xfrm>
            <a:off x="9427464" y="2971800"/>
            <a:ext cx="1792224" cy="2103120"/>
          </a:xfrm>
          <a:prstGeom prst="rect">
            <a:avLst/>
          </a:prstGeom>
          <a:noFill/>
          <a:ln/>
        </p:spPr>
        <p:txBody>
          <a:bodyPr wrap="square" rtlCol="0" anchor="t"/>
          <a:lstStyle/>
          <a:p>
            <a:pPr algn="ctr" indent="0" marL="0">
              <a:buNone/>
            </a:pPr>
            <a:r>
              <a:rPr lang="en-US" sz="1050" dirty="0">
                <a:solidFill>
                  <a:srgbClr val="1B2E28"/>
                </a:solidFill>
                <a:latin typeface="Calibri" pitchFamily="34" charset="0"/>
                <a:ea typeface="Calibri" pitchFamily="34" charset="-122"/>
                <a:cs typeface="Calibri" pitchFamily="34" charset="-120"/>
              </a:rPr>
              <a:t>Better utilization of available renewable energy.</a:t>
            </a:r>
            <a:endParaRPr lang="en-US" sz="1050" dirty="0"/>
          </a:p>
        </p:txBody>
      </p:sp>
      <p:sp>
        <p:nvSpPr>
          <p:cNvPr id="33" name="Text 31"/>
          <p:cNvSpPr txBox="1"/>
          <p:nvPr/>
        </p:nvSpPr>
        <p:spPr>
          <a:xfrm>
            <a:off x="548640" y="6419088"/>
            <a:ext cx="10515600" cy="320040"/>
          </a:xfrm>
          <a:prstGeom prst="rect">
            <a:avLst/>
          </a:prstGeom>
          <a:noFill/>
          <a:ln/>
        </p:spPr>
        <p:txBody>
          <a:bodyPr wrap="square" rtlCol="0" anchor="ctr"/>
          <a:lstStyle/>
          <a:p>
            <a:pPr indent="0" marL="0">
              <a:buNone/>
            </a:pPr>
            <a:r>
              <a:rPr lang="en-US" sz="1000" i="1" dirty="0">
                <a:solidFill>
                  <a:srgbClr val="52796F"/>
                </a:solidFill>
                <a:latin typeface="Calibri" pitchFamily="34" charset="0"/>
                <a:ea typeface="Calibri" pitchFamily="34" charset="-122"/>
                <a:cs typeface="Calibri" pitchFamily="34" charset="-120"/>
              </a:rPr>
              <a:t>Important: recommendations depend on data quality and forecast accuracy.</a:t>
            </a:r>
            <a:endParaRPr lang="en-US" sz="1000" dirty="0"/>
          </a:p>
        </p:txBody>
      </p:sp>
      <p:sp>
        <p:nvSpPr>
          <p:cNvPr id="34" name="Text 32"/>
          <p:cNvSpPr txBox="1"/>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2796F"/>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rtlCol="0" anchor="ctr"/>
          <a:lstStyle/>
          <a:p>
            <a:pPr indent="0" marL="0">
              <a:buNone/>
            </a:pPr>
            <a:r>
              <a:rPr lang="en-US" sz="3200" b="1" dirty="0">
                <a:solidFill>
                  <a:srgbClr val="1B4332"/>
                </a:solidFill>
                <a:latin typeface="Cambria" pitchFamily="34" charset="0"/>
                <a:ea typeface="Cambria" pitchFamily="34" charset="-122"/>
                <a:cs typeface="Cambria" pitchFamily="34" charset="-120"/>
              </a:rPr>
              <a:t>Expected Impact</a:t>
            </a:r>
            <a:endParaRPr lang="en-US" sz="3200" dirty="0"/>
          </a:p>
        </p:txBody>
      </p:sp>
      <p:sp>
        <p:nvSpPr>
          <p:cNvPr id="3" name="Shape 1"/>
          <p:cNvSpPr/>
          <p:nvPr/>
        </p:nvSpPr>
        <p:spPr>
          <a:xfrm>
            <a:off x="548640" y="1143000"/>
            <a:ext cx="3538728" cy="2880360"/>
          </a:xfrm>
          <a:prstGeom prst="roundRect">
            <a:avLst>
              <a:gd name="adj" fmla="val 2540"/>
            </a:avLst>
          </a:prstGeom>
          <a:solidFill>
            <a:srgbClr val="EAF4EC"/>
          </a:solidFill>
          <a:ln/>
        </p:spPr>
      </p:sp>
      <p:sp>
        <p:nvSpPr>
          <p:cNvPr id="4" name="Shape 2"/>
          <p:cNvSpPr/>
          <p:nvPr/>
        </p:nvSpPr>
        <p:spPr>
          <a:xfrm>
            <a:off x="777240" y="1371600"/>
            <a:ext cx="502920" cy="502920"/>
          </a:xfrm>
          <a:prstGeom prst="ellipse">
            <a:avLst/>
          </a:prstGeom>
          <a:solidFill>
            <a:srgbClr val="40916C"/>
          </a:solidFill>
          <a:ln/>
        </p:spPr>
      </p:sp>
      <p:sp>
        <p:nvSpPr>
          <p:cNvPr id="5" name="Text 3"/>
          <p:cNvSpPr txBox="1"/>
          <p:nvPr/>
        </p:nvSpPr>
        <p:spPr>
          <a:xfrm>
            <a:off x="777240" y="1371600"/>
            <a:ext cx="502920" cy="50292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6" name="Text 4"/>
          <p:cNvSpPr txBox="1"/>
          <p:nvPr/>
        </p:nvSpPr>
        <p:spPr>
          <a:xfrm>
            <a:off x="1417320" y="1371600"/>
            <a:ext cx="2532888" cy="502920"/>
          </a:xfrm>
          <a:prstGeom prst="rect">
            <a:avLst/>
          </a:prstGeom>
          <a:noFill/>
          <a:ln/>
        </p:spPr>
        <p:txBody>
          <a:bodyPr wrap="square" rtlCol="0" anchor="ctr"/>
          <a:lstStyle/>
          <a:p>
            <a:pPr indent="0" marL="0">
              <a:buNone/>
            </a:pPr>
            <a:r>
              <a:rPr lang="en-US" sz="1400" b="1" dirty="0">
                <a:solidFill>
                  <a:srgbClr val="1B4332"/>
                </a:solidFill>
                <a:latin typeface="Cambria" pitchFamily="34" charset="0"/>
                <a:ea typeface="Cambria" pitchFamily="34" charset="-122"/>
                <a:cs typeface="Cambria" pitchFamily="34" charset="-120"/>
              </a:rPr>
              <a:t>Environmental</a:t>
            </a:r>
            <a:endParaRPr lang="en-US" sz="1400" dirty="0"/>
          </a:p>
        </p:txBody>
      </p:sp>
      <p:sp>
        <p:nvSpPr>
          <p:cNvPr id="7" name="Text 5"/>
          <p:cNvSpPr txBox="1"/>
          <p:nvPr/>
        </p:nvSpPr>
        <p:spPr>
          <a:xfrm>
            <a:off x="822960" y="2057400"/>
            <a:ext cx="2990088" cy="187452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1B2E28"/>
                </a:solidFill>
                <a:latin typeface="Calibri" pitchFamily="34" charset="0"/>
                <a:ea typeface="Calibri" pitchFamily="34" charset="-122"/>
                <a:cs typeface="Calibri" pitchFamily="34" charset="-120"/>
              </a:rPr>
              <a:t>Better utilization of renewable energy</a:t>
            </a:r>
            <a:endParaRPr lang="en-US" sz="1150" dirty="0"/>
          </a:p>
          <a:p>
            <a:pPr marL="177800" indent="-177800">
              <a:spcAft>
                <a:spcPts val="800"/>
              </a:spcAft>
              <a:buSzPct val="100000"/>
              <a:buChar char="•"/>
            </a:pPr>
            <a:r>
              <a:rPr lang="en-US" sz="1150" dirty="0">
                <a:solidFill>
                  <a:srgbClr val="1B2E28"/>
                </a:solidFill>
                <a:latin typeface="Calibri" pitchFamily="34" charset="0"/>
                <a:ea typeface="Calibri" pitchFamily="34" charset="-122"/>
                <a:cs typeface="Calibri" pitchFamily="34" charset="-120"/>
              </a:rPr>
              <a:t>Reduced unnecessary energy wastage</a:t>
            </a:r>
            <a:endParaRPr lang="en-US" sz="1150" dirty="0"/>
          </a:p>
          <a:p>
            <a:pPr marL="177800" indent="-177800">
              <a:spcAft>
                <a:spcPts val="800"/>
              </a:spcAft>
              <a:buSzPct val="100000"/>
              <a:buChar char="•"/>
            </a:pPr>
            <a:r>
              <a:rPr lang="en-US" sz="1150" dirty="0">
                <a:solidFill>
                  <a:srgbClr val="1B2E28"/>
                </a:solidFill>
                <a:latin typeface="Calibri" pitchFamily="34" charset="0"/>
                <a:ea typeface="Calibri" pitchFamily="34" charset="-122"/>
                <a:cs typeface="Calibri" pitchFamily="34" charset="-120"/>
              </a:rPr>
              <a:t>Potential reduction in non-renewable dependence</a:t>
            </a:r>
            <a:endParaRPr lang="en-US" sz="1150" dirty="0"/>
          </a:p>
          <a:p>
            <a:pPr marL="177800" indent="-177800">
              <a:spcAft>
                <a:spcPts val="800"/>
              </a:spcAft>
              <a:buSzPct val="100000"/>
              <a:buChar char="•"/>
            </a:pPr>
            <a:r>
              <a:rPr lang="en-US" sz="1150" dirty="0">
                <a:solidFill>
                  <a:srgbClr val="1B2E28"/>
                </a:solidFill>
                <a:latin typeface="Calibri" pitchFamily="34" charset="0"/>
                <a:ea typeface="Calibri" pitchFamily="34" charset="-122"/>
                <a:cs typeface="Calibri" pitchFamily="34" charset="-120"/>
              </a:rPr>
              <a:t>Improved energy awareness</a:t>
            </a:r>
            <a:endParaRPr lang="en-US" sz="1150" dirty="0"/>
          </a:p>
        </p:txBody>
      </p:sp>
      <p:sp>
        <p:nvSpPr>
          <p:cNvPr id="8" name="Shape 6"/>
          <p:cNvSpPr/>
          <p:nvPr/>
        </p:nvSpPr>
        <p:spPr>
          <a:xfrm>
            <a:off x="4261104" y="1143000"/>
            <a:ext cx="3538728" cy="2880360"/>
          </a:xfrm>
          <a:prstGeom prst="roundRect">
            <a:avLst>
              <a:gd name="adj" fmla="val 2540"/>
            </a:avLst>
          </a:prstGeom>
          <a:solidFill>
            <a:srgbClr val="F6EFDD"/>
          </a:solidFill>
          <a:ln/>
        </p:spPr>
      </p:sp>
      <p:sp>
        <p:nvSpPr>
          <p:cNvPr id="9" name="Shape 7"/>
          <p:cNvSpPr/>
          <p:nvPr/>
        </p:nvSpPr>
        <p:spPr>
          <a:xfrm>
            <a:off x="4489704" y="1371600"/>
            <a:ext cx="502920" cy="502920"/>
          </a:xfrm>
          <a:prstGeom prst="ellipse">
            <a:avLst/>
          </a:prstGeom>
          <a:solidFill>
            <a:srgbClr val="F4A300"/>
          </a:solidFill>
          <a:ln/>
        </p:spPr>
      </p:sp>
      <p:sp>
        <p:nvSpPr>
          <p:cNvPr id="10" name="Text 8"/>
          <p:cNvSpPr txBox="1"/>
          <p:nvPr/>
        </p:nvSpPr>
        <p:spPr>
          <a:xfrm>
            <a:off x="4489704" y="1371600"/>
            <a:ext cx="502920" cy="50292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1" name="Text 9"/>
          <p:cNvSpPr txBox="1"/>
          <p:nvPr/>
        </p:nvSpPr>
        <p:spPr>
          <a:xfrm>
            <a:off x="5129784" y="1371600"/>
            <a:ext cx="2532888" cy="502920"/>
          </a:xfrm>
          <a:prstGeom prst="rect">
            <a:avLst/>
          </a:prstGeom>
          <a:noFill/>
          <a:ln/>
        </p:spPr>
        <p:txBody>
          <a:bodyPr wrap="square" rtlCol="0" anchor="ctr"/>
          <a:lstStyle/>
          <a:p>
            <a:pPr indent="0" marL="0">
              <a:buNone/>
            </a:pPr>
            <a:r>
              <a:rPr lang="en-US" sz="1400" b="1" dirty="0">
                <a:solidFill>
                  <a:srgbClr val="1B4332"/>
                </a:solidFill>
                <a:latin typeface="Cambria" pitchFamily="34" charset="0"/>
                <a:ea typeface="Cambria" pitchFamily="34" charset="-122"/>
                <a:cs typeface="Cambria" pitchFamily="34" charset="-120"/>
              </a:rPr>
              <a:t>Economic</a:t>
            </a:r>
            <a:endParaRPr lang="en-US" sz="1400" dirty="0"/>
          </a:p>
        </p:txBody>
      </p:sp>
      <p:sp>
        <p:nvSpPr>
          <p:cNvPr id="12" name="Text 10"/>
          <p:cNvSpPr txBox="1"/>
          <p:nvPr/>
        </p:nvSpPr>
        <p:spPr>
          <a:xfrm>
            <a:off x="4535424" y="2057400"/>
            <a:ext cx="2990088" cy="187452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1B2E28"/>
                </a:solidFill>
                <a:latin typeface="Calibri" pitchFamily="34" charset="0"/>
                <a:ea typeface="Calibri" pitchFamily="34" charset="-122"/>
                <a:cs typeface="Calibri" pitchFamily="34" charset="-120"/>
              </a:rPr>
              <a:t>Potential reduction in avoidable energy costs</a:t>
            </a:r>
            <a:endParaRPr lang="en-US" sz="1150" dirty="0"/>
          </a:p>
          <a:p>
            <a:pPr marL="177800" indent="-177800">
              <a:spcAft>
                <a:spcPts val="800"/>
              </a:spcAft>
              <a:buSzPct val="100000"/>
              <a:buChar char="•"/>
            </a:pPr>
            <a:r>
              <a:rPr lang="en-US" sz="1150" dirty="0">
                <a:solidFill>
                  <a:srgbClr val="1B2E28"/>
                </a:solidFill>
                <a:latin typeface="Calibri" pitchFamily="34" charset="0"/>
                <a:ea typeface="Calibri" pitchFamily="34" charset="-122"/>
                <a:cs typeface="Calibri" pitchFamily="34" charset="-120"/>
              </a:rPr>
              <a:t>Better planning of energy consumption</a:t>
            </a:r>
            <a:endParaRPr lang="en-US" sz="1150" dirty="0"/>
          </a:p>
          <a:p>
            <a:pPr marL="177800" indent="-177800">
              <a:spcAft>
                <a:spcPts val="800"/>
              </a:spcAft>
              <a:buSzPct val="100000"/>
              <a:buChar char="•"/>
            </a:pPr>
            <a:r>
              <a:rPr lang="en-US" sz="1150" dirty="0">
                <a:solidFill>
                  <a:srgbClr val="1B2E28"/>
                </a:solidFill>
                <a:latin typeface="Calibri" pitchFamily="34" charset="0"/>
                <a:ea typeface="Calibri" pitchFamily="34" charset="-122"/>
                <a:cs typeface="Calibri" pitchFamily="34" charset="-120"/>
              </a:rPr>
              <a:t>More efficient use of renewable generation</a:t>
            </a:r>
            <a:endParaRPr lang="en-US" sz="1150" dirty="0"/>
          </a:p>
        </p:txBody>
      </p:sp>
      <p:sp>
        <p:nvSpPr>
          <p:cNvPr id="13" name="Shape 11"/>
          <p:cNvSpPr/>
          <p:nvPr/>
        </p:nvSpPr>
        <p:spPr>
          <a:xfrm>
            <a:off x="7973568" y="1143000"/>
            <a:ext cx="3538728" cy="2880360"/>
          </a:xfrm>
          <a:prstGeom prst="roundRect">
            <a:avLst>
              <a:gd name="adj" fmla="val 2540"/>
            </a:avLst>
          </a:prstGeom>
          <a:solidFill>
            <a:srgbClr val="EAF4EC"/>
          </a:solidFill>
          <a:ln/>
        </p:spPr>
      </p:sp>
      <p:sp>
        <p:nvSpPr>
          <p:cNvPr id="14" name="Shape 12"/>
          <p:cNvSpPr/>
          <p:nvPr/>
        </p:nvSpPr>
        <p:spPr>
          <a:xfrm>
            <a:off x="8202168" y="1371600"/>
            <a:ext cx="502920" cy="502920"/>
          </a:xfrm>
          <a:prstGeom prst="ellipse">
            <a:avLst/>
          </a:prstGeom>
          <a:solidFill>
            <a:srgbClr val="40916C"/>
          </a:solidFill>
          <a:ln/>
        </p:spPr>
      </p:sp>
      <p:sp>
        <p:nvSpPr>
          <p:cNvPr id="15" name="Text 13"/>
          <p:cNvSpPr txBox="1"/>
          <p:nvPr/>
        </p:nvSpPr>
        <p:spPr>
          <a:xfrm>
            <a:off x="8202168" y="1371600"/>
            <a:ext cx="502920" cy="50292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6" name="Text 14"/>
          <p:cNvSpPr txBox="1"/>
          <p:nvPr/>
        </p:nvSpPr>
        <p:spPr>
          <a:xfrm>
            <a:off x="8842248" y="1371600"/>
            <a:ext cx="2532888" cy="502920"/>
          </a:xfrm>
          <a:prstGeom prst="rect">
            <a:avLst/>
          </a:prstGeom>
          <a:noFill/>
          <a:ln/>
        </p:spPr>
        <p:txBody>
          <a:bodyPr wrap="square" rtlCol="0" anchor="ctr"/>
          <a:lstStyle/>
          <a:p>
            <a:pPr indent="0" marL="0">
              <a:buNone/>
            </a:pPr>
            <a:r>
              <a:rPr lang="en-US" sz="1400" b="1" dirty="0">
                <a:solidFill>
                  <a:srgbClr val="1B4332"/>
                </a:solidFill>
                <a:latin typeface="Cambria" pitchFamily="34" charset="0"/>
                <a:ea typeface="Cambria" pitchFamily="34" charset="-122"/>
                <a:cs typeface="Cambria" pitchFamily="34" charset="-120"/>
              </a:rPr>
              <a:t>Social / Educational</a:t>
            </a:r>
            <a:endParaRPr lang="en-US" sz="1400" dirty="0"/>
          </a:p>
        </p:txBody>
      </p:sp>
      <p:sp>
        <p:nvSpPr>
          <p:cNvPr id="17" name="Text 15"/>
          <p:cNvSpPr txBox="1"/>
          <p:nvPr/>
        </p:nvSpPr>
        <p:spPr>
          <a:xfrm>
            <a:off x="8247888" y="2057400"/>
            <a:ext cx="2990088" cy="187452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1B2E28"/>
                </a:solidFill>
                <a:latin typeface="Calibri" pitchFamily="34" charset="0"/>
                <a:ea typeface="Calibri" pitchFamily="34" charset="-122"/>
                <a:cs typeface="Calibri" pitchFamily="34" charset="-120"/>
              </a:rPr>
              <a:t>Helps institutions understand energy usage</a:t>
            </a:r>
            <a:endParaRPr lang="en-US" sz="1150" dirty="0"/>
          </a:p>
          <a:p>
            <a:pPr marL="177800" indent="-177800">
              <a:spcAft>
                <a:spcPts val="800"/>
              </a:spcAft>
              <a:buSzPct val="100000"/>
              <a:buChar char="•"/>
            </a:pPr>
            <a:r>
              <a:rPr lang="en-US" sz="1150" dirty="0">
                <a:solidFill>
                  <a:srgbClr val="1B2E28"/>
                </a:solidFill>
                <a:latin typeface="Calibri" pitchFamily="34" charset="0"/>
                <a:ea typeface="Calibri" pitchFamily="34" charset="-122"/>
                <a:cs typeface="Calibri" pitchFamily="34" charset="-120"/>
              </a:rPr>
              <a:t>Encourages sustainable energy behaviour</a:t>
            </a:r>
            <a:endParaRPr lang="en-US" sz="1150" dirty="0"/>
          </a:p>
          <a:p>
            <a:pPr marL="177800" indent="-177800">
              <a:spcAft>
                <a:spcPts val="800"/>
              </a:spcAft>
              <a:buSzPct val="100000"/>
              <a:buChar char="•"/>
            </a:pPr>
            <a:r>
              <a:rPr lang="en-US" sz="1150" dirty="0">
                <a:solidFill>
                  <a:srgbClr val="1B2E28"/>
                </a:solidFill>
                <a:latin typeface="Calibri" pitchFamily="34" charset="0"/>
                <a:ea typeface="Calibri" pitchFamily="34" charset="-122"/>
                <a:cs typeface="Calibri" pitchFamily="34" charset="-120"/>
              </a:rPr>
              <a:t>Creates awareness among students and staff</a:t>
            </a:r>
            <a:endParaRPr lang="en-US" sz="1150" dirty="0"/>
          </a:p>
        </p:txBody>
      </p:sp>
      <p:sp>
        <p:nvSpPr>
          <p:cNvPr id="18" name="Shape 16"/>
          <p:cNvSpPr/>
          <p:nvPr/>
        </p:nvSpPr>
        <p:spPr>
          <a:xfrm>
            <a:off x="548640" y="4251960"/>
            <a:ext cx="10927080" cy="1600200"/>
          </a:xfrm>
          <a:prstGeom prst="roundRect">
            <a:avLst>
              <a:gd name="adj" fmla="val 4571"/>
            </a:avLst>
          </a:prstGeom>
          <a:solidFill>
            <a:srgbClr val="1B4332"/>
          </a:solidFill>
          <a:ln/>
        </p:spPr>
      </p:sp>
      <p:sp>
        <p:nvSpPr>
          <p:cNvPr id="19" name="Text 17"/>
          <p:cNvSpPr txBox="1"/>
          <p:nvPr/>
        </p:nvSpPr>
        <p:spPr>
          <a:xfrm>
            <a:off x="777240" y="4389120"/>
            <a:ext cx="4572000" cy="320040"/>
          </a:xfrm>
          <a:prstGeom prst="rect">
            <a:avLst/>
          </a:prstGeom>
          <a:noFill/>
          <a:ln/>
        </p:spPr>
        <p:txBody>
          <a:bodyPr wrap="square" rtlCol="0" anchor="ctr"/>
          <a:lstStyle/>
          <a:p>
            <a:pPr indent="0" marL="0">
              <a:buNone/>
            </a:pPr>
            <a:r>
              <a:rPr lang="en-US" sz="1400" b="1" dirty="0">
                <a:solidFill>
                  <a:srgbClr val="F4A300"/>
                </a:solidFill>
                <a:latin typeface="Cambria" pitchFamily="34" charset="0"/>
                <a:ea typeface="Cambria" pitchFamily="34" charset="-122"/>
                <a:cs typeface="Cambria" pitchFamily="34" charset="-120"/>
              </a:rPr>
              <a:t>Potential Metrics</a:t>
            </a:r>
            <a:endParaRPr lang="en-US" sz="1400" dirty="0"/>
          </a:p>
        </p:txBody>
      </p:sp>
      <p:sp>
        <p:nvSpPr>
          <p:cNvPr id="20" name="Text 18"/>
          <p:cNvSpPr txBox="1"/>
          <p:nvPr/>
        </p:nvSpPr>
        <p:spPr>
          <a:xfrm>
            <a:off x="777240" y="4754880"/>
            <a:ext cx="10424160" cy="640080"/>
          </a:xfrm>
          <a:prstGeom prst="rect">
            <a:avLst/>
          </a:prstGeom>
          <a:noFill/>
          <a:ln/>
        </p:spPr>
        <p:txBody>
          <a:bodyPr wrap="square" rtlCol="0" anchor="t"/>
          <a:lstStyle/>
          <a:p>
            <a:pPr indent="0" marL="0">
              <a:buNone/>
            </a:pPr>
            <a:r>
              <a:rPr lang="en-US" sz="1300" dirty="0">
                <a:solidFill>
                  <a:srgbClr val="D8F3DC"/>
                </a:solidFill>
                <a:latin typeface="Calibri" pitchFamily="34" charset="0"/>
                <a:ea typeface="Calibri" pitchFamily="34" charset="-122"/>
                <a:cs typeface="Calibri" pitchFamily="34" charset="-120"/>
              </a:rPr>
              <a:t>Renewable-energy utilization %  ·  Energy surplus  ·  Energy deficit  ·  Peak consumption  ·  Estimated energy savings  ·  Estimated carbon reduction</a:t>
            </a:r>
            <a:endParaRPr lang="en-US" sz="1300" dirty="0"/>
          </a:p>
        </p:txBody>
      </p:sp>
      <p:sp>
        <p:nvSpPr>
          <p:cNvPr id="21" name="Text 19"/>
          <p:cNvSpPr txBox="1"/>
          <p:nvPr/>
        </p:nvSpPr>
        <p:spPr>
          <a:xfrm>
            <a:off x="548640" y="6419088"/>
            <a:ext cx="10515600" cy="320040"/>
          </a:xfrm>
          <a:prstGeom prst="rect">
            <a:avLst/>
          </a:prstGeom>
          <a:noFill/>
          <a:ln/>
        </p:spPr>
        <p:txBody>
          <a:bodyPr wrap="square" rtlCol="0" anchor="ctr"/>
          <a:lstStyle/>
          <a:p>
            <a:pPr indent="0" marL="0">
              <a:buNone/>
            </a:pPr>
            <a:r>
              <a:rPr lang="en-US" sz="1000" i="1" dirty="0">
                <a:solidFill>
                  <a:srgbClr val="52796F"/>
                </a:solidFill>
                <a:latin typeface="Calibri" pitchFamily="34" charset="0"/>
                <a:ea typeface="Calibri" pitchFamily="34" charset="-122"/>
                <a:cs typeface="Calibri" pitchFamily="34" charset="-120"/>
              </a:rPr>
              <a:t>All impact values in the prototype should be treated as estimates until validated with real measurements.</a:t>
            </a:r>
            <a:endParaRPr lang="en-US" sz="1000" dirty="0"/>
          </a:p>
        </p:txBody>
      </p:sp>
      <p:sp>
        <p:nvSpPr>
          <p:cNvPr id="22" name="Text 20"/>
          <p:cNvSpPr txBox="1"/>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2796F"/>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rtlCol="0" anchor="ctr"/>
          <a:lstStyle/>
          <a:p>
            <a:pPr indent="0" marL="0">
              <a:buNone/>
            </a:pPr>
            <a:r>
              <a:rPr lang="en-US" sz="3200" b="1" dirty="0">
                <a:solidFill>
                  <a:srgbClr val="1B4332"/>
                </a:solidFill>
                <a:latin typeface="Cambria" pitchFamily="34" charset="0"/>
                <a:ea typeface="Cambria" pitchFamily="34" charset="-122"/>
                <a:cs typeface="Cambria" pitchFamily="34" charset="-120"/>
              </a:rPr>
              <a:t>Responsible AI Considerations</a:t>
            </a:r>
            <a:endParaRPr lang="en-US" sz="3200" dirty="0"/>
          </a:p>
        </p:txBody>
      </p:sp>
      <p:sp>
        <p:nvSpPr>
          <p:cNvPr id="3" name="Text 1"/>
          <p:cNvSpPr txBox="1"/>
          <p:nvPr/>
        </p:nvSpPr>
        <p:spPr>
          <a:xfrm>
            <a:off x="548640" y="1097280"/>
            <a:ext cx="10972800" cy="365760"/>
          </a:xfrm>
          <a:prstGeom prst="rect">
            <a:avLst/>
          </a:prstGeom>
          <a:noFill/>
          <a:ln/>
        </p:spPr>
        <p:txBody>
          <a:bodyPr wrap="square" rtlCol="0" anchor="ctr"/>
          <a:lstStyle/>
          <a:p>
            <a:pPr indent="0" marL="0">
              <a:buNone/>
            </a:pPr>
            <a:r>
              <a:rPr lang="en-US" sz="1400" i="1" dirty="0">
                <a:solidFill>
                  <a:srgbClr val="52796F"/>
                </a:solidFill>
                <a:latin typeface="Calibri" pitchFamily="34" charset="0"/>
                <a:ea typeface="Calibri" pitchFamily="34" charset="-122"/>
                <a:cs typeface="Calibri" pitchFamily="34" charset="-120"/>
              </a:rPr>
              <a:t>Responsible AI is an essential part of this project.</a:t>
            </a:r>
            <a:endParaRPr lang="en-US" sz="1400" dirty="0"/>
          </a:p>
        </p:txBody>
      </p:sp>
      <p:sp>
        <p:nvSpPr>
          <p:cNvPr id="4" name="Shape 2"/>
          <p:cNvSpPr/>
          <p:nvPr/>
        </p:nvSpPr>
        <p:spPr>
          <a:xfrm>
            <a:off x="548640" y="1645920"/>
            <a:ext cx="3538728" cy="1508760"/>
          </a:xfrm>
          <a:prstGeom prst="roundRect">
            <a:avLst>
              <a:gd name="adj" fmla="val 4848"/>
            </a:avLst>
          </a:prstGeom>
          <a:solidFill>
            <a:srgbClr val="EAF4EC"/>
          </a:solidFill>
          <a:ln/>
        </p:spPr>
      </p:sp>
      <p:sp>
        <p:nvSpPr>
          <p:cNvPr id="5" name="Shape 3"/>
          <p:cNvSpPr/>
          <p:nvPr/>
        </p:nvSpPr>
        <p:spPr>
          <a:xfrm>
            <a:off x="749808" y="1847088"/>
            <a:ext cx="502920" cy="502920"/>
          </a:xfrm>
          <a:prstGeom prst="ellipse">
            <a:avLst/>
          </a:prstGeom>
          <a:solidFill>
            <a:srgbClr val="40916C"/>
          </a:solidFill>
          <a:ln/>
        </p:spPr>
      </p:sp>
      <p:sp>
        <p:nvSpPr>
          <p:cNvPr id="6" name="Text 4"/>
          <p:cNvSpPr txBox="1"/>
          <p:nvPr/>
        </p:nvSpPr>
        <p:spPr>
          <a:xfrm>
            <a:off x="749808" y="1847088"/>
            <a:ext cx="502920" cy="50292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7" name="Text 5"/>
          <p:cNvSpPr txBox="1"/>
          <p:nvPr/>
        </p:nvSpPr>
        <p:spPr>
          <a:xfrm>
            <a:off x="1325880" y="1847088"/>
            <a:ext cx="2624328" cy="457200"/>
          </a:xfrm>
          <a:prstGeom prst="rect">
            <a:avLst/>
          </a:prstGeom>
          <a:noFill/>
          <a:ln/>
        </p:spPr>
        <p:txBody>
          <a:bodyPr wrap="square" rtlCol="0" anchor="ctr"/>
          <a:lstStyle/>
          <a:p>
            <a:pPr indent="0" marL="0">
              <a:buNone/>
            </a:pPr>
            <a:r>
              <a:rPr lang="en-US" sz="1300" b="1" dirty="0">
                <a:solidFill>
                  <a:srgbClr val="1B4332"/>
                </a:solidFill>
                <a:latin typeface="Cambria" pitchFamily="34" charset="0"/>
                <a:ea typeface="Cambria" pitchFamily="34" charset="-122"/>
                <a:cs typeface="Cambria" pitchFamily="34" charset="-120"/>
              </a:rPr>
              <a:t>Fairness</a:t>
            </a:r>
            <a:endParaRPr lang="en-US" sz="1300" dirty="0"/>
          </a:p>
        </p:txBody>
      </p:sp>
      <p:sp>
        <p:nvSpPr>
          <p:cNvPr id="8" name="Text 6"/>
          <p:cNvSpPr txBox="1"/>
          <p:nvPr/>
        </p:nvSpPr>
        <p:spPr>
          <a:xfrm>
            <a:off x="777240" y="2395728"/>
            <a:ext cx="3081528" cy="685800"/>
          </a:xfrm>
          <a:prstGeom prst="rect">
            <a:avLst/>
          </a:prstGeom>
          <a:noFill/>
          <a:ln/>
        </p:spPr>
        <p:txBody>
          <a:bodyPr wrap="square" rtlCol="0" anchor="t"/>
          <a:lstStyle/>
          <a:p>
            <a:pPr indent="0" marL="0">
              <a:buNone/>
            </a:pPr>
            <a:r>
              <a:rPr lang="en-US" sz="1050" dirty="0">
                <a:solidFill>
                  <a:srgbClr val="1B2E28"/>
                </a:solidFill>
                <a:latin typeface="Calibri" pitchFamily="34" charset="0"/>
                <a:ea typeface="Calibri" pitchFamily="34" charset="-122"/>
                <a:cs typeface="Calibri" pitchFamily="34" charset="-120"/>
              </a:rPr>
              <a:t>Avoid biased assumptions in the data and recommendations.</a:t>
            </a:r>
            <a:endParaRPr lang="en-US" sz="1050" dirty="0"/>
          </a:p>
        </p:txBody>
      </p:sp>
      <p:sp>
        <p:nvSpPr>
          <p:cNvPr id="9" name="Shape 7"/>
          <p:cNvSpPr/>
          <p:nvPr/>
        </p:nvSpPr>
        <p:spPr>
          <a:xfrm>
            <a:off x="4261104" y="1645920"/>
            <a:ext cx="3538728" cy="1508760"/>
          </a:xfrm>
          <a:prstGeom prst="roundRect">
            <a:avLst>
              <a:gd name="adj" fmla="val 4848"/>
            </a:avLst>
          </a:prstGeom>
          <a:solidFill>
            <a:srgbClr val="F6EFDD"/>
          </a:solidFill>
          <a:ln/>
        </p:spPr>
      </p:sp>
      <p:sp>
        <p:nvSpPr>
          <p:cNvPr id="10" name="Shape 8"/>
          <p:cNvSpPr/>
          <p:nvPr/>
        </p:nvSpPr>
        <p:spPr>
          <a:xfrm>
            <a:off x="4462272" y="1847088"/>
            <a:ext cx="502920" cy="502920"/>
          </a:xfrm>
          <a:prstGeom prst="ellipse">
            <a:avLst/>
          </a:prstGeom>
          <a:solidFill>
            <a:srgbClr val="40916C"/>
          </a:solidFill>
          <a:ln/>
        </p:spPr>
      </p:sp>
      <p:sp>
        <p:nvSpPr>
          <p:cNvPr id="11" name="Text 9"/>
          <p:cNvSpPr txBox="1"/>
          <p:nvPr/>
        </p:nvSpPr>
        <p:spPr>
          <a:xfrm>
            <a:off x="4462272" y="1847088"/>
            <a:ext cx="502920" cy="50292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2" name="Text 10"/>
          <p:cNvSpPr txBox="1"/>
          <p:nvPr/>
        </p:nvSpPr>
        <p:spPr>
          <a:xfrm>
            <a:off x="5038344" y="1847088"/>
            <a:ext cx="2624328" cy="457200"/>
          </a:xfrm>
          <a:prstGeom prst="rect">
            <a:avLst/>
          </a:prstGeom>
          <a:noFill/>
          <a:ln/>
        </p:spPr>
        <p:txBody>
          <a:bodyPr wrap="square" rtlCol="0" anchor="ctr"/>
          <a:lstStyle/>
          <a:p>
            <a:pPr indent="0" marL="0">
              <a:buNone/>
            </a:pPr>
            <a:r>
              <a:rPr lang="en-US" sz="1300" b="1" dirty="0">
                <a:solidFill>
                  <a:srgbClr val="1B4332"/>
                </a:solidFill>
                <a:latin typeface="Cambria" pitchFamily="34" charset="0"/>
                <a:ea typeface="Cambria" pitchFamily="34" charset="-122"/>
                <a:cs typeface="Cambria" pitchFamily="34" charset="-120"/>
              </a:rPr>
              <a:t>Transparency</a:t>
            </a:r>
            <a:endParaRPr lang="en-US" sz="1300" dirty="0"/>
          </a:p>
        </p:txBody>
      </p:sp>
      <p:sp>
        <p:nvSpPr>
          <p:cNvPr id="13" name="Text 11"/>
          <p:cNvSpPr txBox="1"/>
          <p:nvPr/>
        </p:nvSpPr>
        <p:spPr>
          <a:xfrm>
            <a:off x="4489704" y="2395728"/>
            <a:ext cx="3081528" cy="685800"/>
          </a:xfrm>
          <a:prstGeom prst="rect">
            <a:avLst/>
          </a:prstGeom>
          <a:noFill/>
          <a:ln/>
        </p:spPr>
        <p:txBody>
          <a:bodyPr wrap="square" rtlCol="0" anchor="t"/>
          <a:lstStyle/>
          <a:p>
            <a:pPr indent="0" marL="0">
              <a:buNone/>
            </a:pPr>
            <a:r>
              <a:rPr lang="en-US" sz="1050" dirty="0">
                <a:solidFill>
                  <a:srgbClr val="1B2E28"/>
                </a:solidFill>
                <a:latin typeface="Calibri" pitchFamily="34" charset="0"/>
                <a:ea typeface="Calibri" pitchFamily="34" charset="-122"/>
                <a:cs typeface="Calibri" pitchFamily="34" charset="-120"/>
              </a:rPr>
              <a:t>Explain why a recommendation was generated.</a:t>
            </a:r>
            <a:endParaRPr lang="en-US" sz="1050" dirty="0"/>
          </a:p>
        </p:txBody>
      </p:sp>
      <p:sp>
        <p:nvSpPr>
          <p:cNvPr id="14" name="Shape 12"/>
          <p:cNvSpPr/>
          <p:nvPr/>
        </p:nvSpPr>
        <p:spPr>
          <a:xfrm>
            <a:off x="7973568" y="1645920"/>
            <a:ext cx="3538728" cy="1508760"/>
          </a:xfrm>
          <a:prstGeom prst="roundRect">
            <a:avLst>
              <a:gd name="adj" fmla="val 4848"/>
            </a:avLst>
          </a:prstGeom>
          <a:solidFill>
            <a:srgbClr val="EAF4EC"/>
          </a:solidFill>
          <a:ln/>
        </p:spPr>
      </p:sp>
      <p:sp>
        <p:nvSpPr>
          <p:cNvPr id="15" name="Shape 13"/>
          <p:cNvSpPr/>
          <p:nvPr/>
        </p:nvSpPr>
        <p:spPr>
          <a:xfrm>
            <a:off x="8174736" y="1847088"/>
            <a:ext cx="502920" cy="502920"/>
          </a:xfrm>
          <a:prstGeom prst="ellipse">
            <a:avLst/>
          </a:prstGeom>
          <a:solidFill>
            <a:srgbClr val="40916C"/>
          </a:solidFill>
          <a:ln/>
        </p:spPr>
      </p:sp>
      <p:sp>
        <p:nvSpPr>
          <p:cNvPr id="16" name="Text 14"/>
          <p:cNvSpPr txBox="1"/>
          <p:nvPr/>
        </p:nvSpPr>
        <p:spPr>
          <a:xfrm>
            <a:off x="8174736" y="1847088"/>
            <a:ext cx="502920" cy="50292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P</a:t>
            </a:r>
            <a:endParaRPr lang="en-US" sz="2000" dirty="0"/>
          </a:p>
        </p:txBody>
      </p:sp>
      <p:sp>
        <p:nvSpPr>
          <p:cNvPr id="17" name="Text 15"/>
          <p:cNvSpPr txBox="1"/>
          <p:nvPr/>
        </p:nvSpPr>
        <p:spPr>
          <a:xfrm>
            <a:off x="8750808" y="1847088"/>
            <a:ext cx="2624328" cy="457200"/>
          </a:xfrm>
          <a:prstGeom prst="rect">
            <a:avLst/>
          </a:prstGeom>
          <a:noFill/>
          <a:ln/>
        </p:spPr>
        <p:txBody>
          <a:bodyPr wrap="square" rtlCol="0" anchor="ctr"/>
          <a:lstStyle/>
          <a:p>
            <a:pPr indent="0" marL="0">
              <a:buNone/>
            </a:pPr>
            <a:r>
              <a:rPr lang="en-US" sz="1300" b="1" dirty="0">
                <a:solidFill>
                  <a:srgbClr val="1B4332"/>
                </a:solidFill>
                <a:latin typeface="Cambria" pitchFamily="34" charset="0"/>
                <a:ea typeface="Cambria" pitchFamily="34" charset="-122"/>
                <a:cs typeface="Cambria" pitchFamily="34" charset="-120"/>
              </a:rPr>
              <a:t>Privacy</a:t>
            </a:r>
            <a:endParaRPr lang="en-US" sz="1300" dirty="0"/>
          </a:p>
        </p:txBody>
      </p:sp>
      <p:sp>
        <p:nvSpPr>
          <p:cNvPr id="18" name="Text 16"/>
          <p:cNvSpPr txBox="1"/>
          <p:nvPr/>
        </p:nvSpPr>
        <p:spPr>
          <a:xfrm>
            <a:off x="8202168" y="2395728"/>
            <a:ext cx="3081528" cy="685800"/>
          </a:xfrm>
          <a:prstGeom prst="rect">
            <a:avLst/>
          </a:prstGeom>
          <a:noFill/>
          <a:ln/>
        </p:spPr>
        <p:txBody>
          <a:bodyPr wrap="square" rtlCol="0" anchor="t"/>
          <a:lstStyle/>
          <a:p>
            <a:pPr indent="0" marL="0">
              <a:buNone/>
            </a:pPr>
            <a:r>
              <a:rPr lang="en-US" sz="1050" dirty="0">
                <a:solidFill>
                  <a:srgbClr val="1B2E28"/>
                </a:solidFill>
                <a:latin typeface="Calibri" pitchFamily="34" charset="0"/>
                <a:ea typeface="Calibri" pitchFamily="34" charset="-122"/>
                <a:cs typeface="Calibri" pitchFamily="34" charset="-120"/>
              </a:rPr>
              <a:t>Avoid collecting unnecessary personal or sensitive information.</a:t>
            </a:r>
            <a:endParaRPr lang="en-US" sz="1050" dirty="0"/>
          </a:p>
        </p:txBody>
      </p:sp>
      <p:sp>
        <p:nvSpPr>
          <p:cNvPr id="19" name="Shape 17"/>
          <p:cNvSpPr/>
          <p:nvPr/>
        </p:nvSpPr>
        <p:spPr>
          <a:xfrm>
            <a:off x="548640" y="3337560"/>
            <a:ext cx="3538728" cy="1508760"/>
          </a:xfrm>
          <a:prstGeom prst="roundRect">
            <a:avLst>
              <a:gd name="adj" fmla="val 4848"/>
            </a:avLst>
          </a:prstGeom>
          <a:solidFill>
            <a:srgbClr val="EAF4EC"/>
          </a:solidFill>
          <a:ln/>
        </p:spPr>
      </p:sp>
      <p:sp>
        <p:nvSpPr>
          <p:cNvPr id="20" name="Shape 18"/>
          <p:cNvSpPr/>
          <p:nvPr/>
        </p:nvSpPr>
        <p:spPr>
          <a:xfrm>
            <a:off x="749808" y="3538728"/>
            <a:ext cx="502920" cy="502920"/>
          </a:xfrm>
          <a:prstGeom prst="ellipse">
            <a:avLst/>
          </a:prstGeom>
          <a:solidFill>
            <a:srgbClr val="1B4332"/>
          </a:solidFill>
          <a:ln/>
        </p:spPr>
      </p:sp>
      <p:sp>
        <p:nvSpPr>
          <p:cNvPr id="21" name="Text 19"/>
          <p:cNvSpPr txBox="1"/>
          <p:nvPr/>
        </p:nvSpPr>
        <p:spPr>
          <a:xfrm>
            <a:off x="749808" y="3538728"/>
            <a:ext cx="502920" cy="50292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2" name="Text 20"/>
          <p:cNvSpPr txBox="1"/>
          <p:nvPr/>
        </p:nvSpPr>
        <p:spPr>
          <a:xfrm>
            <a:off x="1325880" y="3538728"/>
            <a:ext cx="2624328" cy="457200"/>
          </a:xfrm>
          <a:prstGeom prst="rect">
            <a:avLst/>
          </a:prstGeom>
          <a:noFill/>
          <a:ln/>
        </p:spPr>
        <p:txBody>
          <a:bodyPr wrap="square" rtlCol="0" anchor="ctr"/>
          <a:lstStyle/>
          <a:p>
            <a:pPr indent="0" marL="0">
              <a:buNone/>
            </a:pPr>
            <a:r>
              <a:rPr lang="en-US" sz="1300" b="1" dirty="0">
                <a:solidFill>
                  <a:srgbClr val="1B4332"/>
                </a:solidFill>
                <a:latin typeface="Cambria" pitchFamily="34" charset="0"/>
                <a:ea typeface="Cambria" pitchFamily="34" charset="-122"/>
                <a:cs typeface="Cambria" pitchFamily="34" charset="-120"/>
              </a:rPr>
              <a:t>Ethics</a:t>
            </a:r>
            <a:endParaRPr lang="en-US" sz="1300" dirty="0"/>
          </a:p>
        </p:txBody>
      </p:sp>
      <p:sp>
        <p:nvSpPr>
          <p:cNvPr id="23" name="Text 21"/>
          <p:cNvSpPr txBox="1"/>
          <p:nvPr/>
        </p:nvSpPr>
        <p:spPr>
          <a:xfrm>
            <a:off x="777240" y="4087368"/>
            <a:ext cx="3081528" cy="685800"/>
          </a:xfrm>
          <a:prstGeom prst="rect">
            <a:avLst/>
          </a:prstGeom>
          <a:noFill/>
          <a:ln/>
        </p:spPr>
        <p:txBody>
          <a:bodyPr wrap="square" rtlCol="0" anchor="t"/>
          <a:lstStyle/>
          <a:p>
            <a:pPr indent="0" marL="0">
              <a:buNone/>
            </a:pPr>
            <a:r>
              <a:rPr lang="en-US" sz="1050" dirty="0">
                <a:solidFill>
                  <a:srgbClr val="1B2E28"/>
                </a:solidFill>
                <a:latin typeface="Calibri" pitchFamily="34" charset="0"/>
                <a:ea typeface="Calibri" pitchFamily="34" charset="-122"/>
                <a:cs typeface="Calibri" pitchFamily="34" charset="-120"/>
              </a:rPr>
              <a:t>Do not provide misleading or unsafe recommendations.</a:t>
            </a:r>
            <a:endParaRPr lang="en-US" sz="1050" dirty="0"/>
          </a:p>
        </p:txBody>
      </p:sp>
      <p:sp>
        <p:nvSpPr>
          <p:cNvPr id="24" name="Shape 22"/>
          <p:cNvSpPr/>
          <p:nvPr/>
        </p:nvSpPr>
        <p:spPr>
          <a:xfrm>
            <a:off x="4261104" y="3337560"/>
            <a:ext cx="3538728" cy="1508760"/>
          </a:xfrm>
          <a:prstGeom prst="roundRect">
            <a:avLst>
              <a:gd name="adj" fmla="val 4848"/>
            </a:avLst>
          </a:prstGeom>
          <a:solidFill>
            <a:srgbClr val="F6EFDD"/>
          </a:solidFill>
          <a:ln/>
        </p:spPr>
      </p:sp>
      <p:sp>
        <p:nvSpPr>
          <p:cNvPr id="25" name="Shape 23"/>
          <p:cNvSpPr/>
          <p:nvPr/>
        </p:nvSpPr>
        <p:spPr>
          <a:xfrm>
            <a:off x="4462272" y="3538728"/>
            <a:ext cx="502920" cy="502920"/>
          </a:xfrm>
          <a:prstGeom prst="ellipse">
            <a:avLst/>
          </a:prstGeom>
          <a:solidFill>
            <a:srgbClr val="1B4332"/>
          </a:solidFill>
          <a:ln/>
        </p:spPr>
      </p:sp>
      <p:sp>
        <p:nvSpPr>
          <p:cNvPr id="26" name="Text 24"/>
          <p:cNvSpPr txBox="1"/>
          <p:nvPr/>
        </p:nvSpPr>
        <p:spPr>
          <a:xfrm>
            <a:off x="4462272" y="3538728"/>
            <a:ext cx="502920" cy="50292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H</a:t>
            </a:r>
            <a:endParaRPr lang="en-US" sz="2000" dirty="0"/>
          </a:p>
        </p:txBody>
      </p:sp>
      <p:sp>
        <p:nvSpPr>
          <p:cNvPr id="27" name="Text 25"/>
          <p:cNvSpPr txBox="1"/>
          <p:nvPr/>
        </p:nvSpPr>
        <p:spPr>
          <a:xfrm>
            <a:off x="5038344" y="3538728"/>
            <a:ext cx="2624328" cy="457200"/>
          </a:xfrm>
          <a:prstGeom prst="rect">
            <a:avLst/>
          </a:prstGeom>
          <a:noFill/>
          <a:ln/>
        </p:spPr>
        <p:txBody>
          <a:bodyPr wrap="square" rtlCol="0" anchor="ctr"/>
          <a:lstStyle/>
          <a:p>
            <a:pPr indent="0" marL="0">
              <a:buNone/>
            </a:pPr>
            <a:r>
              <a:rPr lang="en-US" sz="1300" b="1" dirty="0">
                <a:solidFill>
                  <a:srgbClr val="1B4332"/>
                </a:solidFill>
                <a:latin typeface="Cambria" pitchFamily="34" charset="0"/>
                <a:ea typeface="Cambria" pitchFamily="34" charset="-122"/>
                <a:cs typeface="Cambria" pitchFamily="34" charset="-120"/>
              </a:rPr>
              <a:t>Human Oversight</a:t>
            </a:r>
            <a:endParaRPr lang="en-US" sz="1300" dirty="0"/>
          </a:p>
        </p:txBody>
      </p:sp>
      <p:sp>
        <p:nvSpPr>
          <p:cNvPr id="28" name="Text 26"/>
          <p:cNvSpPr txBox="1"/>
          <p:nvPr/>
        </p:nvSpPr>
        <p:spPr>
          <a:xfrm>
            <a:off x="4489704" y="4087368"/>
            <a:ext cx="3081528" cy="685800"/>
          </a:xfrm>
          <a:prstGeom prst="rect">
            <a:avLst/>
          </a:prstGeom>
          <a:noFill/>
          <a:ln/>
        </p:spPr>
        <p:txBody>
          <a:bodyPr wrap="square" rtlCol="0" anchor="t"/>
          <a:lstStyle/>
          <a:p>
            <a:pPr indent="0" marL="0">
              <a:buNone/>
            </a:pPr>
            <a:r>
              <a:rPr lang="en-US" sz="1050" dirty="0">
                <a:solidFill>
                  <a:srgbClr val="1B2E28"/>
                </a:solidFill>
                <a:latin typeface="Calibri" pitchFamily="34" charset="0"/>
                <a:ea typeface="Calibri" pitchFamily="34" charset="-122"/>
                <a:cs typeface="Calibri" pitchFamily="34" charset="-120"/>
              </a:rPr>
              <a:t>AI recommendations support human decisions rather than controlling infrastructure.</a:t>
            </a:r>
            <a:endParaRPr lang="en-US" sz="1050" dirty="0"/>
          </a:p>
        </p:txBody>
      </p:sp>
      <p:sp>
        <p:nvSpPr>
          <p:cNvPr id="29" name="Shape 27"/>
          <p:cNvSpPr/>
          <p:nvPr/>
        </p:nvSpPr>
        <p:spPr>
          <a:xfrm>
            <a:off x="7973568" y="3337560"/>
            <a:ext cx="3538728" cy="1508760"/>
          </a:xfrm>
          <a:prstGeom prst="roundRect">
            <a:avLst>
              <a:gd name="adj" fmla="val 4848"/>
            </a:avLst>
          </a:prstGeom>
          <a:solidFill>
            <a:srgbClr val="EAF4EC"/>
          </a:solidFill>
          <a:ln/>
        </p:spPr>
      </p:sp>
      <p:sp>
        <p:nvSpPr>
          <p:cNvPr id="30" name="Shape 28"/>
          <p:cNvSpPr/>
          <p:nvPr/>
        </p:nvSpPr>
        <p:spPr>
          <a:xfrm>
            <a:off x="8174736" y="3538728"/>
            <a:ext cx="502920" cy="502920"/>
          </a:xfrm>
          <a:prstGeom prst="ellipse">
            <a:avLst/>
          </a:prstGeom>
          <a:solidFill>
            <a:srgbClr val="1B4332"/>
          </a:solidFill>
          <a:ln/>
        </p:spPr>
      </p:sp>
      <p:sp>
        <p:nvSpPr>
          <p:cNvPr id="31" name="Text 29"/>
          <p:cNvSpPr txBox="1"/>
          <p:nvPr/>
        </p:nvSpPr>
        <p:spPr>
          <a:xfrm>
            <a:off x="8174736" y="3538728"/>
            <a:ext cx="502920" cy="50292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32" name="Text 30"/>
          <p:cNvSpPr txBox="1"/>
          <p:nvPr/>
        </p:nvSpPr>
        <p:spPr>
          <a:xfrm>
            <a:off x="8750808" y="3538728"/>
            <a:ext cx="2624328" cy="457200"/>
          </a:xfrm>
          <a:prstGeom prst="rect">
            <a:avLst/>
          </a:prstGeom>
          <a:noFill/>
          <a:ln/>
        </p:spPr>
        <p:txBody>
          <a:bodyPr wrap="square" rtlCol="0" anchor="ctr"/>
          <a:lstStyle/>
          <a:p>
            <a:pPr indent="0" marL="0">
              <a:buNone/>
            </a:pPr>
            <a:r>
              <a:rPr lang="en-US" sz="1300" b="1" dirty="0">
                <a:solidFill>
                  <a:srgbClr val="1B4332"/>
                </a:solidFill>
                <a:latin typeface="Cambria" pitchFamily="34" charset="0"/>
                <a:ea typeface="Cambria" pitchFamily="34" charset="-122"/>
                <a:cs typeface="Cambria" pitchFamily="34" charset="-120"/>
              </a:rPr>
              <a:t>Uncertainty</a:t>
            </a:r>
            <a:endParaRPr lang="en-US" sz="1300" dirty="0"/>
          </a:p>
        </p:txBody>
      </p:sp>
      <p:sp>
        <p:nvSpPr>
          <p:cNvPr id="33" name="Text 31"/>
          <p:cNvSpPr txBox="1"/>
          <p:nvPr/>
        </p:nvSpPr>
        <p:spPr>
          <a:xfrm>
            <a:off x="8202168" y="4087368"/>
            <a:ext cx="3081528" cy="685800"/>
          </a:xfrm>
          <a:prstGeom prst="rect">
            <a:avLst/>
          </a:prstGeom>
          <a:noFill/>
          <a:ln/>
        </p:spPr>
        <p:txBody>
          <a:bodyPr wrap="square" rtlCol="0" anchor="t"/>
          <a:lstStyle/>
          <a:p>
            <a:pPr indent="0" marL="0">
              <a:buNone/>
            </a:pPr>
            <a:r>
              <a:rPr lang="en-US" sz="1050" dirty="0">
                <a:solidFill>
                  <a:srgbClr val="1B2E28"/>
                </a:solidFill>
                <a:latin typeface="Calibri" pitchFamily="34" charset="0"/>
                <a:ea typeface="Calibri" pitchFamily="34" charset="-122"/>
                <a:cs typeface="Calibri" pitchFamily="34" charset="-120"/>
              </a:rPr>
              <a:t>Forecasts and outputs should never be presented as guaranteed results.</a:t>
            </a:r>
            <a:endParaRPr lang="en-US" sz="1050" dirty="0"/>
          </a:p>
        </p:txBody>
      </p:sp>
      <p:sp>
        <p:nvSpPr>
          <p:cNvPr id="34" name="Text 32"/>
          <p:cNvSpPr txBox="1"/>
          <p:nvPr/>
        </p:nvSpPr>
        <p:spPr>
          <a:xfrm>
            <a:off x="548640" y="6419088"/>
            <a:ext cx="10515600" cy="320040"/>
          </a:xfrm>
          <a:prstGeom prst="rect">
            <a:avLst/>
          </a:prstGeom>
          <a:noFill/>
          <a:ln/>
        </p:spPr>
        <p:txBody>
          <a:bodyPr wrap="square" rtlCol="0" anchor="ctr"/>
          <a:lstStyle/>
          <a:p>
            <a:pPr indent="0" marL="0">
              <a:buNone/>
            </a:pPr>
            <a:r>
              <a:rPr lang="en-US" sz="1000" i="1" dirty="0">
                <a:solidFill>
                  <a:srgbClr val="52796F"/>
                </a:solidFill>
                <a:latin typeface="Calibri" pitchFamily="34" charset="0"/>
                <a:ea typeface="Calibri" pitchFamily="34" charset="-122"/>
                <a:cs typeface="Calibri" pitchFamily="34" charset="-120"/>
              </a:rPr>
              <a:t>The internship guideline specifically requires projects to address fairness, transparency, ethics and privacy.</a:t>
            </a:r>
            <a:endParaRPr lang="en-US" sz="1000" dirty="0"/>
          </a:p>
        </p:txBody>
      </p:sp>
      <p:sp>
        <p:nvSpPr>
          <p:cNvPr id="35" name="Text 33"/>
          <p:cNvSpPr txBox="1"/>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2796F"/>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rtlCol="0" anchor="ctr"/>
          <a:lstStyle/>
          <a:p>
            <a:pPr indent="0" marL="0">
              <a:buNone/>
            </a:pPr>
            <a:r>
              <a:rPr lang="en-US" sz="3200" b="1" dirty="0">
                <a:solidFill>
                  <a:srgbClr val="1B4332"/>
                </a:solidFill>
                <a:latin typeface="Cambria" pitchFamily="34" charset="0"/>
                <a:ea typeface="Cambria" pitchFamily="34" charset="-122"/>
                <a:cs typeface="Cambria" pitchFamily="34" charset="-120"/>
              </a:rPr>
              <a:t>How We Demonstrate RenewAI</a:t>
            </a:r>
            <a:endParaRPr lang="en-US" sz="3200" dirty="0"/>
          </a:p>
        </p:txBody>
      </p:sp>
      <p:sp>
        <p:nvSpPr>
          <p:cNvPr id="3" name="Shape 1"/>
          <p:cNvSpPr/>
          <p:nvPr/>
        </p:nvSpPr>
        <p:spPr>
          <a:xfrm>
            <a:off x="548640" y="1188720"/>
            <a:ext cx="5440680" cy="2331720"/>
          </a:xfrm>
          <a:prstGeom prst="roundRect">
            <a:avLst>
              <a:gd name="adj" fmla="val 3137"/>
            </a:avLst>
          </a:prstGeom>
          <a:solidFill>
            <a:srgbClr val="EAF4EC"/>
          </a:solidFill>
          <a:ln/>
        </p:spPr>
      </p:sp>
      <p:sp>
        <p:nvSpPr>
          <p:cNvPr id="4" name="Shape 2"/>
          <p:cNvSpPr/>
          <p:nvPr/>
        </p:nvSpPr>
        <p:spPr>
          <a:xfrm>
            <a:off x="777240" y="1389888"/>
            <a:ext cx="502920" cy="502920"/>
          </a:xfrm>
          <a:prstGeom prst="ellipse">
            <a:avLst/>
          </a:prstGeom>
          <a:solidFill>
            <a:srgbClr val="40916C"/>
          </a:solidFill>
          <a:ln/>
        </p:spPr>
      </p:sp>
      <p:sp>
        <p:nvSpPr>
          <p:cNvPr id="5" name="Text 3"/>
          <p:cNvSpPr txBox="1"/>
          <p:nvPr/>
        </p:nvSpPr>
        <p:spPr>
          <a:xfrm>
            <a:off x="777240" y="1389888"/>
            <a:ext cx="502920" cy="50292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6" name="Text 4"/>
          <p:cNvSpPr txBox="1"/>
          <p:nvPr/>
        </p:nvSpPr>
        <p:spPr>
          <a:xfrm>
            <a:off x="1417320" y="1389888"/>
            <a:ext cx="4343400" cy="502920"/>
          </a:xfrm>
          <a:prstGeom prst="rect">
            <a:avLst/>
          </a:prstGeom>
          <a:noFill/>
          <a:ln/>
        </p:spPr>
        <p:txBody>
          <a:bodyPr wrap="square" rtlCol="0" anchor="ctr"/>
          <a:lstStyle/>
          <a:p>
            <a:pPr indent="0" marL="0">
              <a:buNone/>
            </a:pPr>
            <a:r>
              <a:rPr lang="en-US" sz="1400" b="1" dirty="0">
                <a:solidFill>
                  <a:srgbClr val="1B4332"/>
                </a:solidFill>
                <a:latin typeface="Cambria" pitchFamily="34" charset="0"/>
                <a:ea typeface="Cambria" pitchFamily="34" charset="-122"/>
                <a:cs typeface="Cambria" pitchFamily="34" charset="-120"/>
              </a:rPr>
              <a:t>High Solar Generation</a:t>
            </a:r>
            <a:endParaRPr lang="en-US" sz="1400" dirty="0"/>
          </a:p>
        </p:txBody>
      </p:sp>
      <p:sp>
        <p:nvSpPr>
          <p:cNvPr id="7" name="Text 5"/>
          <p:cNvSpPr txBox="1"/>
          <p:nvPr/>
        </p:nvSpPr>
        <p:spPr>
          <a:xfrm>
            <a:off x="822960" y="2011680"/>
            <a:ext cx="4892040" cy="1371600"/>
          </a:xfrm>
          <a:prstGeom prst="rect">
            <a:avLst/>
          </a:prstGeom>
          <a:noFill/>
          <a:ln/>
        </p:spPr>
        <p:txBody>
          <a:bodyPr wrap="square" rtlCol="0" anchor="t"/>
          <a:lstStyle/>
          <a:p>
            <a:pPr indent="0" marL="0">
              <a:spcAft>
                <a:spcPts val="400"/>
              </a:spcAft>
              <a:buNone/>
            </a:pPr>
            <a:r>
              <a:rPr lang="en-US" sz="1150" b="1" dirty="0">
                <a:solidFill>
                  <a:srgbClr val="40916C"/>
                </a:solidFill>
                <a:latin typeface="Calibri" pitchFamily="34" charset="0"/>
                <a:ea typeface="Calibri" pitchFamily="34" charset="-122"/>
                <a:cs typeface="Calibri" pitchFamily="34" charset="-120"/>
              </a:rPr>
              <a:t>Input:  </a:t>
            </a:r>
            <a:pPr indent="0" marL="0">
              <a:spcAft>
                <a:spcPts val="400"/>
              </a:spcAft>
              <a:buNone/>
            </a:pPr>
            <a:r>
              <a:rPr lang="en-US" sz="1150" dirty="0">
                <a:solidFill>
                  <a:srgbClr val="1B2E28"/>
                </a:solidFill>
                <a:latin typeface="Calibri" pitchFamily="34" charset="0"/>
                <a:ea typeface="Calibri" pitchFamily="34" charset="-122"/>
                <a:cs typeface="Calibri" pitchFamily="34" charset="-120"/>
              </a:rPr>
              <a:t>High solar generation + low consumption
</a:t>
            </a:r>
            <a:endParaRPr lang="en-US" sz="1150" dirty="0"/>
          </a:p>
          <a:p>
            <a:pPr indent="0" marL="0">
              <a:spcAft>
                <a:spcPts val="400"/>
              </a:spcAft>
              <a:buNone/>
            </a:pPr>
            <a:r>
              <a:rPr lang="en-US" sz="1150" b="1" dirty="0">
                <a:solidFill>
                  <a:srgbClr val="40916C"/>
                </a:solidFill>
                <a:latin typeface="Calibri" pitchFamily="34" charset="0"/>
                <a:ea typeface="Calibri" pitchFamily="34" charset="-122"/>
                <a:cs typeface="Calibri" pitchFamily="34" charset="-120"/>
              </a:rPr>
              <a:t>AI Output:  </a:t>
            </a:r>
            <a:pPr indent="0" marL="0">
              <a:spcAft>
                <a:spcPts val="400"/>
              </a:spcAft>
              <a:buNone/>
            </a:pPr>
            <a:r>
              <a:rPr lang="en-US" sz="1150" dirty="0">
                <a:solidFill>
                  <a:srgbClr val="1B2E28"/>
                </a:solidFill>
                <a:latin typeface="Calibri" pitchFamily="34" charset="0"/>
                <a:ea typeface="Calibri" pitchFamily="34" charset="-122"/>
                <a:cs typeface="Calibri" pitchFamily="34" charset="-120"/>
              </a:rPr>
              <a:t>Potential energy surplus detected.
</a:t>
            </a:r>
            <a:endParaRPr lang="en-US" sz="1150" dirty="0"/>
          </a:p>
          <a:p>
            <a:pPr indent="0" marL="0">
              <a:spcAft>
                <a:spcPts val="400"/>
              </a:spcAft>
              <a:buNone/>
            </a:pPr>
            <a:r>
              <a:rPr lang="en-US" sz="1150" b="1" dirty="0">
                <a:solidFill>
                  <a:srgbClr val="40916C"/>
                </a:solidFill>
                <a:latin typeface="Calibri" pitchFamily="34" charset="0"/>
                <a:ea typeface="Calibri" pitchFamily="34" charset="-122"/>
                <a:cs typeface="Calibri" pitchFamily="34" charset="-120"/>
              </a:rPr>
              <a:t>Recommendation:  </a:t>
            </a:r>
            <a:pPr indent="0" marL="0">
              <a:spcAft>
                <a:spcPts val="400"/>
              </a:spcAft>
              <a:buNone/>
            </a:pPr>
            <a:r>
              <a:rPr lang="en-US" sz="1150" dirty="0">
                <a:solidFill>
                  <a:srgbClr val="1B2E28"/>
                </a:solidFill>
                <a:latin typeface="Calibri" pitchFamily="34" charset="0"/>
                <a:ea typeface="Calibri" pitchFamily="34" charset="-122"/>
                <a:cs typeface="Calibri" pitchFamily="34" charset="-120"/>
              </a:rPr>
              <a:t>Consider suitable flexible loads or storage.</a:t>
            </a:r>
            <a:endParaRPr lang="en-US" sz="1150" dirty="0"/>
          </a:p>
        </p:txBody>
      </p:sp>
      <p:sp>
        <p:nvSpPr>
          <p:cNvPr id="8" name="Shape 6"/>
          <p:cNvSpPr/>
          <p:nvPr/>
        </p:nvSpPr>
        <p:spPr>
          <a:xfrm>
            <a:off x="6309360" y="1188720"/>
            <a:ext cx="5440680" cy="2331720"/>
          </a:xfrm>
          <a:prstGeom prst="roundRect">
            <a:avLst>
              <a:gd name="adj" fmla="val 3137"/>
            </a:avLst>
          </a:prstGeom>
          <a:solidFill>
            <a:srgbClr val="F6EFDD"/>
          </a:solidFill>
          <a:ln/>
        </p:spPr>
      </p:sp>
      <p:sp>
        <p:nvSpPr>
          <p:cNvPr id="9" name="Shape 7"/>
          <p:cNvSpPr/>
          <p:nvPr/>
        </p:nvSpPr>
        <p:spPr>
          <a:xfrm>
            <a:off x="6537960" y="1389888"/>
            <a:ext cx="502920" cy="502920"/>
          </a:xfrm>
          <a:prstGeom prst="ellipse">
            <a:avLst/>
          </a:prstGeom>
          <a:solidFill>
            <a:srgbClr val="F4A300"/>
          </a:solidFill>
          <a:ln/>
        </p:spPr>
      </p:sp>
      <p:sp>
        <p:nvSpPr>
          <p:cNvPr id="10" name="Text 8"/>
          <p:cNvSpPr txBox="1"/>
          <p:nvPr/>
        </p:nvSpPr>
        <p:spPr>
          <a:xfrm>
            <a:off x="6537960" y="1389888"/>
            <a:ext cx="502920" cy="50292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1" name="Text 9"/>
          <p:cNvSpPr txBox="1"/>
          <p:nvPr/>
        </p:nvSpPr>
        <p:spPr>
          <a:xfrm>
            <a:off x="7178040" y="1389888"/>
            <a:ext cx="4343400" cy="502920"/>
          </a:xfrm>
          <a:prstGeom prst="rect">
            <a:avLst/>
          </a:prstGeom>
          <a:noFill/>
          <a:ln/>
        </p:spPr>
        <p:txBody>
          <a:bodyPr wrap="square" rtlCol="0" anchor="ctr"/>
          <a:lstStyle/>
          <a:p>
            <a:pPr indent="0" marL="0">
              <a:buNone/>
            </a:pPr>
            <a:r>
              <a:rPr lang="en-US" sz="1400" b="1" dirty="0">
                <a:solidFill>
                  <a:srgbClr val="1B4332"/>
                </a:solidFill>
                <a:latin typeface="Cambria" pitchFamily="34" charset="0"/>
                <a:ea typeface="Cambria" pitchFamily="34" charset="-122"/>
                <a:cs typeface="Cambria" pitchFamily="34" charset="-120"/>
              </a:rPr>
              <a:t>High Demand</a:t>
            </a:r>
            <a:endParaRPr lang="en-US" sz="1400" dirty="0"/>
          </a:p>
        </p:txBody>
      </p:sp>
      <p:sp>
        <p:nvSpPr>
          <p:cNvPr id="12" name="Text 10"/>
          <p:cNvSpPr txBox="1"/>
          <p:nvPr/>
        </p:nvSpPr>
        <p:spPr>
          <a:xfrm>
            <a:off x="6583680" y="2011680"/>
            <a:ext cx="4892040" cy="1371600"/>
          </a:xfrm>
          <a:prstGeom prst="rect">
            <a:avLst/>
          </a:prstGeom>
          <a:noFill/>
          <a:ln/>
        </p:spPr>
        <p:txBody>
          <a:bodyPr wrap="square" rtlCol="0" anchor="t"/>
          <a:lstStyle/>
          <a:p>
            <a:pPr indent="0" marL="0">
              <a:spcAft>
                <a:spcPts val="400"/>
              </a:spcAft>
              <a:buNone/>
            </a:pPr>
            <a:r>
              <a:rPr lang="en-US" sz="1150" b="1" dirty="0">
                <a:solidFill>
                  <a:srgbClr val="40916C"/>
                </a:solidFill>
                <a:latin typeface="Calibri" pitchFamily="34" charset="0"/>
                <a:ea typeface="Calibri" pitchFamily="34" charset="-122"/>
                <a:cs typeface="Calibri" pitchFamily="34" charset="-120"/>
              </a:rPr>
              <a:t>Input:  </a:t>
            </a:r>
            <a:pPr indent="0" marL="0">
              <a:spcAft>
                <a:spcPts val="400"/>
              </a:spcAft>
              <a:buNone/>
            </a:pPr>
            <a:r>
              <a:rPr lang="en-US" sz="1150" dirty="0">
                <a:solidFill>
                  <a:srgbClr val="1B2E28"/>
                </a:solidFill>
                <a:latin typeface="Calibri" pitchFamily="34" charset="0"/>
                <a:ea typeface="Calibri" pitchFamily="34" charset="-122"/>
                <a:cs typeface="Calibri" pitchFamily="34" charset="-120"/>
              </a:rPr>
              <a:t>High consumption + low renewable generation
</a:t>
            </a:r>
            <a:endParaRPr lang="en-US" sz="1150" dirty="0"/>
          </a:p>
          <a:p>
            <a:pPr indent="0" marL="0">
              <a:spcAft>
                <a:spcPts val="400"/>
              </a:spcAft>
              <a:buNone/>
            </a:pPr>
            <a:r>
              <a:rPr lang="en-US" sz="1150" b="1" dirty="0">
                <a:solidFill>
                  <a:srgbClr val="40916C"/>
                </a:solidFill>
                <a:latin typeface="Calibri" pitchFamily="34" charset="0"/>
                <a:ea typeface="Calibri" pitchFamily="34" charset="-122"/>
                <a:cs typeface="Calibri" pitchFamily="34" charset="-120"/>
              </a:rPr>
              <a:t>AI Output:  </a:t>
            </a:r>
            <a:pPr indent="0" marL="0">
              <a:spcAft>
                <a:spcPts val="400"/>
              </a:spcAft>
              <a:buNone/>
            </a:pPr>
            <a:r>
              <a:rPr lang="en-US" sz="1150" dirty="0">
                <a:solidFill>
                  <a:srgbClr val="1B2E28"/>
                </a:solidFill>
                <a:latin typeface="Calibri" pitchFamily="34" charset="0"/>
                <a:ea typeface="Calibri" pitchFamily="34" charset="-122"/>
                <a:cs typeface="Calibri" pitchFamily="34" charset="-120"/>
              </a:rPr>
              <a:t>Potential energy deficit.
</a:t>
            </a:r>
            <a:endParaRPr lang="en-US" sz="1150" dirty="0"/>
          </a:p>
          <a:p>
            <a:pPr indent="0" marL="0">
              <a:spcAft>
                <a:spcPts val="400"/>
              </a:spcAft>
              <a:buNone/>
            </a:pPr>
            <a:r>
              <a:rPr lang="en-US" sz="1150" b="1" dirty="0">
                <a:solidFill>
                  <a:srgbClr val="40916C"/>
                </a:solidFill>
                <a:latin typeface="Calibri" pitchFamily="34" charset="0"/>
                <a:ea typeface="Calibri" pitchFamily="34" charset="-122"/>
                <a:cs typeface="Calibri" pitchFamily="34" charset="-120"/>
              </a:rPr>
              <a:t>Recommendation:  </a:t>
            </a:r>
            <a:pPr indent="0" marL="0">
              <a:spcAft>
                <a:spcPts val="400"/>
              </a:spcAft>
              <a:buNone/>
            </a:pPr>
            <a:r>
              <a:rPr lang="en-US" sz="1150" dirty="0">
                <a:solidFill>
                  <a:srgbClr val="1B2E28"/>
                </a:solidFill>
                <a:latin typeface="Calibri" pitchFamily="34" charset="0"/>
                <a:ea typeface="Calibri" pitchFamily="34" charset="-122"/>
                <a:cs typeface="Calibri" pitchFamily="34" charset="-120"/>
              </a:rPr>
              <a:t>Review non-critical consumption and prepare for increased demand.</a:t>
            </a:r>
            <a:endParaRPr lang="en-US" sz="1150" dirty="0"/>
          </a:p>
        </p:txBody>
      </p:sp>
      <p:sp>
        <p:nvSpPr>
          <p:cNvPr id="13" name="Shape 11"/>
          <p:cNvSpPr/>
          <p:nvPr/>
        </p:nvSpPr>
        <p:spPr>
          <a:xfrm>
            <a:off x="548640" y="3749040"/>
            <a:ext cx="5440680" cy="2331720"/>
          </a:xfrm>
          <a:prstGeom prst="roundRect">
            <a:avLst>
              <a:gd name="adj" fmla="val 3137"/>
            </a:avLst>
          </a:prstGeom>
          <a:solidFill>
            <a:srgbClr val="F6EFDD"/>
          </a:solidFill>
          <a:ln/>
        </p:spPr>
      </p:sp>
      <p:sp>
        <p:nvSpPr>
          <p:cNvPr id="14" name="Shape 12"/>
          <p:cNvSpPr/>
          <p:nvPr/>
        </p:nvSpPr>
        <p:spPr>
          <a:xfrm>
            <a:off x="777240" y="3950208"/>
            <a:ext cx="502920" cy="502920"/>
          </a:xfrm>
          <a:prstGeom prst="ellipse">
            <a:avLst/>
          </a:prstGeom>
          <a:solidFill>
            <a:srgbClr val="40916C"/>
          </a:solidFill>
          <a:ln/>
        </p:spPr>
      </p:sp>
      <p:sp>
        <p:nvSpPr>
          <p:cNvPr id="15" name="Text 13"/>
          <p:cNvSpPr txBox="1"/>
          <p:nvPr/>
        </p:nvSpPr>
        <p:spPr>
          <a:xfrm>
            <a:off x="777240" y="3950208"/>
            <a:ext cx="502920" cy="50292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6" name="Text 14"/>
          <p:cNvSpPr txBox="1"/>
          <p:nvPr/>
        </p:nvSpPr>
        <p:spPr>
          <a:xfrm>
            <a:off x="1417320" y="3950208"/>
            <a:ext cx="4343400" cy="502920"/>
          </a:xfrm>
          <a:prstGeom prst="rect">
            <a:avLst/>
          </a:prstGeom>
          <a:noFill/>
          <a:ln/>
        </p:spPr>
        <p:txBody>
          <a:bodyPr wrap="square" rtlCol="0" anchor="ctr"/>
          <a:lstStyle/>
          <a:p>
            <a:pPr indent="0" marL="0">
              <a:buNone/>
            </a:pPr>
            <a:r>
              <a:rPr lang="en-US" sz="1400" b="1" dirty="0">
                <a:solidFill>
                  <a:srgbClr val="1B4332"/>
                </a:solidFill>
                <a:latin typeface="Cambria" pitchFamily="34" charset="0"/>
                <a:ea typeface="Cambria" pitchFamily="34" charset="-122"/>
                <a:cs typeface="Cambria" pitchFamily="34" charset="-120"/>
              </a:rPr>
              <a:t>Low Solar Generation</a:t>
            </a:r>
            <a:endParaRPr lang="en-US" sz="1400" dirty="0"/>
          </a:p>
        </p:txBody>
      </p:sp>
      <p:sp>
        <p:nvSpPr>
          <p:cNvPr id="17" name="Text 15"/>
          <p:cNvSpPr txBox="1"/>
          <p:nvPr/>
        </p:nvSpPr>
        <p:spPr>
          <a:xfrm>
            <a:off x="822960" y="4572000"/>
            <a:ext cx="4892040" cy="1371600"/>
          </a:xfrm>
          <a:prstGeom prst="rect">
            <a:avLst/>
          </a:prstGeom>
          <a:noFill/>
          <a:ln/>
        </p:spPr>
        <p:txBody>
          <a:bodyPr wrap="square" rtlCol="0" anchor="t"/>
          <a:lstStyle/>
          <a:p>
            <a:pPr indent="0" marL="0">
              <a:spcAft>
                <a:spcPts val="400"/>
              </a:spcAft>
              <a:buNone/>
            </a:pPr>
            <a:r>
              <a:rPr lang="en-US" sz="1150" b="1" dirty="0">
                <a:solidFill>
                  <a:srgbClr val="40916C"/>
                </a:solidFill>
                <a:latin typeface="Calibri" pitchFamily="34" charset="0"/>
                <a:ea typeface="Calibri" pitchFamily="34" charset="-122"/>
                <a:cs typeface="Calibri" pitchFamily="34" charset="-120"/>
              </a:rPr>
              <a:t>Input:  </a:t>
            </a:r>
            <a:pPr indent="0" marL="0">
              <a:spcAft>
                <a:spcPts val="400"/>
              </a:spcAft>
              <a:buNone/>
            </a:pPr>
            <a:r>
              <a:rPr lang="en-US" sz="1150" dirty="0">
                <a:solidFill>
                  <a:srgbClr val="1B2E28"/>
                </a:solidFill>
                <a:latin typeface="Calibri" pitchFamily="34" charset="0"/>
                <a:ea typeface="Calibri" pitchFamily="34" charset="-122"/>
                <a:cs typeface="Calibri" pitchFamily="34" charset="-120"/>
              </a:rPr>
              <a:t>Low solar availability
</a:t>
            </a:r>
            <a:endParaRPr lang="en-US" sz="1150" dirty="0"/>
          </a:p>
          <a:p>
            <a:pPr indent="0" marL="0">
              <a:spcAft>
                <a:spcPts val="400"/>
              </a:spcAft>
              <a:buNone/>
            </a:pPr>
            <a:r>
              <a:rPr lang="en-US" sz="1150" b="1" dirty="0">
                <a:solidFill>
                  <a:srgbClr val="40916C"/>
                </a:solidFill>
                <a:latin typeface="Calibri" pitchFamily="34" charset="0"/>
                <a:ea typeface="Calibri" pitchFamily="34" charset="-122"/>
                <a:cs typeface="Calibri" pitchFamily="34" charset="-120"/>
              </a:rPr>
              <a:t>AI Output:  </a:t>
            </a:r>
            <a:pPr indent="0" marL="0">
              <a:spcAft>
                <a:spcPts val="400"/>
              </a:spcAft>
              <a:buNone/>
            </a:pPr>
            <a:r>
              <a:rPr lang="en-US" sz="1150" dirty="0">
                <a:solidFill>
                  <a:srgbClr val="1B2E28"/>
                </a:solidFill>
                <a:latin typeface="Calibri" pitchFamily="34" charset="0"/>
                <a:ea typeface="Calibri" pitchFamily="34" charset="-122"/>
                <a:cs typeface="Calibri" pitchFamily="34" charset="-120"/>
              </a:rPr>
              <a:t>Reduced renewable generation expected.
</a:t>
            </a:r>
            <a:endParaRPr lang="en-US" sz="1150" dirty="0"/>
          </a:p>
          <a:p>
            <a:pPr indent="0" marL="0">
              <a:spcAft>
                <a:spcPts val="400"/>
              </a:spcAft>
              <a:buNone/>
            </a:pPr>
            <a:r>
              <a:rPr lang="en-US" sz="1150" b="1" dirty="0">
                <a:solidFill>
                  <a:srgbClr val="40916C"/>
                </a:solidFill>
                <a:latin typeface="Calibri" pitchFamily="34" charset="0"/>
                <a:ea typeface="Calibri" pitchFamily="34" charset="-122"/>
                <a:cs typeface="Calibri" pitchFamily="34" charset="-120"/>
              </a:rPr>
              <a:t>Recommendation:  </a:t>
            </a:r>
            <a:pPr indent="0" marL="0">
              <a:spcAft>
                <a:spcPts val="400"/>
              </a:spcAft>
              <a:buNone/>
            </a:pPr>
            <a:r>
              <a:rPr lang="en-US" sz="1150" dirty="0">
                <a:solidFill>
                  <a:srgbClr val="1B2E28"/>
                </a:solidFill>
                <a:latin typeface="Calibri" pitchFamily="34" charset="0"/>
                <a:ea typeface="Calibri" pitchFamily="34" charset="-122"/>
                <a:cs typeface="Calibri" pitchFamily="34" charset="-120"/>
              </a:rPr>
              <a:t>Plan energy consumption accordingly.</a:t>
            </a:r>
            <a:endParaRPr lang="en-US" sz="1150" dirty="0"/>
          </a:p>
        </p:txBody>
      </p:sp>
      <p:sp>
        <p:nvSpPr>
          <p:cNvPr id="18" name="Shape 16"/>
          <p:cNvSpPr/>
          <p:nvPr/>
        </p:nvSpPr>
        <p:spPr>
          <a:xfrm>
            <a:off x="6309360" y="3749040"/>
            <a:ext cx="5440680" cy="2331720"/>
          </a:xfrm>
          <a:prstGeom prst="roundRect">
            <a:avLst>
              <a:gd name="adj" fmla="val 3137"/>
            </a:avLst>
          </a:prstGeom>
          <a:solidFill>
            <a:srgbClr val="EAF4EC"/>
          </a:solidFill>
          <a:ln/>
        </p:spPr>
      </p:sp>
      <p:sp>
        <p:nvSpPr>
          <p:cNvPr id="19" name="Shape 17"/>
          <p:cNvSpPr/>
          <p:nvPr/>
        </p:nvSpPr>
        <p:spPr>
          <a:xfrm>
            <a:off x="6537960" y="3950208"/>
            <a:ext cx="502920" cy="502920"/>
          </a:xfrm>
          <a:prstGeom prst="ellipse">
            <a:avLst/>
          </a:prstGeom>
          <a:solidFill>
            <a:srgbClr val="F4A300"/>
          </a:solidFill>
          <a:ln/>
        </p:spPr>
      </p:sp>
      <p:sp>
        <p:nvSpPr>
          <p:cNvPr id="20" name="Text 18"/>
          <p:cNvSpPr txBox="1"/>
          <p:nvPr/>
        </p:nvSpPr>
        <p:spPr>
          <a:xfrm>
            <a:off x="6537960" y="3950208"/>
            <a:ext cx="502920" cy="50292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1" name="Text 19"/>
          <p:cNvSpPr txBox="1"/>
          <p:nvPr/>
        </p:nvSpPr>
        <p:spPr>
          <a:xfrm>
            <a:off x="7178040" y="3950208"/>
            <a:ext cx="4343400" cy="502920"/>
          </a:xfrm>
          <a:prstGeom prst="rect">
            <a:avLst/>
          </a:prstGeom>
          <a:noFill/>
          <a:ln/>
        </p:spPr>
        <p:txBody>
          <a:bodyPr wrap="square" rtlCol="0" anchor="ctr"/>
          <a:lstStyle/>
          <a:p>
            <a:pPr indent="0" marL="0">
              <a:buNone/>
            </a:pPr>
            <a:r>
              <a:rPr lang="en-US" sz="1400" b="1" dirty="0">
                <a:solidFill>
                  <a:srgbClr val="1B4332"/>
                </a:solidFill>
                <a:latin typeface="Cambria" pitchFamily="34" charset="0"/>
                <a:ea typeface="Cambria" pitchFamily="34" charset="-122"/>
                <a:cs typeface="Cambria" pitchFamily="34" charset="-120"/>
              </a:rPr>
              <a:t>Sudden Consumption Increase</a:t>
            </a:r>
            <a:endParaRPr lang="en-US" sz="1400" dirty="0"/>
          </a:p>
        </p:txBody>
      </p:sp>
      <p:sp>
        <p:nvSpPr>
          <p:cNvPr id="22" name="Text 20"/>
          <p:cNvSpPr txBox="1"/>
          <p:nvPr/>
        </p:nvSpPr>
        <p:spPr>
          <a:xfrm>
            <a:off x="6583680" y="4572000"/>
            <a:ext cx="4892040" cy="1371600"/>
          </a:xfrm>
          <a:prstGeom prst="rect">
            <a:avLst/>
          </a:prstGeom>
          <a:noFill/>
          <a:ln/>
        </p:spPr>
        <p:txBody>
          <a:bodyPr wrap="square" rtlCol="0" anchor="t"/>
          <a:lstStyle/>
          <a:p>
            <a:pPr indent="0" marL="0">
              <a:spcAft>
                <a:spcPts val="400"/>
              </a:spcAft>
              <a:buNone/>
            </a:pPr>
            <a:r>
              <a:rPr lang="en-US" sz="1150" b="1" dirty="0">
                <a:solidFill>
                  <a:srgbClr val="40916C"/>
                </a:solidFill>
                <a:latin typeface="Calibri" pitchFamily="34" charset="0"/>
                <a:ea typeface="Calibri" pitchFamily="34" charset="-122"/>
                <a:cs typeface="Calibri" pitchFamily="34" charset="-120"/>
              </a:rPr>
              <a:t>Input:  </a:t>
            </a:r>
            <a:pPr indent="0" marL="0">
              <a:spcAft>
                <a:spcPts val="400"/>
              </a:spcAft>
              <a:buNone/>
            </a:pPr>
            <a:r>
              <a:rPr lang="en-US" sz="1150" dirty="0">
                <a:solidFill>
                  <a:srgbClr val="1B2E28"/>
                </a:solidFill>
                <a:latin typeface="Calibri" pitchFamily="34" charset="0"/>
                <a:ea typeface="Calibri" pitchFamily="34" charset="-122"/>
                <a:cs typeface="Calibri" pitchFamily="34" charset="-120"/>
              </a:rPr>
              <a:t>Unexpected demand increase
</a:t>
            </a:r>
            <a:endParaRPr lang="en-US" sz="1150" dirty="0"/>
          </a:p>
          <a:p>
            <a:pPr indent="0" marL="0">
              <a:spcAft>
                <a:spcPts val="400"/>
              </a:spcAft>
              <a:buNone/>
            </a:pPr>
            <a:r>
              <a:rPr lang="en-US" sz="1150" b="1" dirty="0">
                <a:solidFill>
                  <a:srgbClr val="40916C"/>
                </a:solidFill>
                <a:latin typeface="Calibri" pitchFamily="34" charset="0"/>
                <a:ea typeface="Calibri" pitchFamily="34" charset="-122"/>
                <a:cs typeface="Calibri" pitchFamily="34" charset="-120"/>
              </a:rPr>
              <a:t>AI Output:  </a:t>
            </a:r>
            <a:pPr indent="0" marL="0">
              <a:spcAft>
                <a:spcPts val="400"/>
              </a:spcAft>
              <a:buNone/>
            </a:pPr>
            <a:r>
              <a:rPr lang="en-US" sz="1150" dirty="0">
                <a:solidFill>
                  <a:srgbClr val="1B2E28"/>
                </a:solidFill>
                <a:latin typeface="Calibri" pitchFamily="34" charset="0"/>
                <a:ea typeface="Calibri" pitchFamily="34" charset="-122"/>
                <a:cs typeface="Calibri" pitchFamily="34" charset="-120"/>
              </a:rPr>
              <a:t>Unusual consumption pattern detected.
</a:t>
            </a:r>
            <a:endParaRPr lang="en-US" sz="1150" dirty="0"/>
          </a:p>
          <a:p>
            <a:pPr indent="0" marL="0">
              <a:spcAft>
                <a:spcPts val="400"/>
              </a:spcAft>
              <a:buNone/>
            </a:pPr>
            <a:r>
              <a:rPr lang="en-US" sz="1150" b="1" dirty="0">
                <a:solidFill>
                  <a:srgbClr val="40916C"/>
                </a:solidFill>
                <a:latin typeface="Calibri" pitchFamily="34" charset="0"/>
                <a:ea typeface="Calibri" pitchFamily="34" charset="-122"/>
                <a:cs typeface="Calibri" pitchFamily="34" charset="-120"/>
              </a:rPr>
              <a:t>Recommendation:  </a:t>
            </a:r>
            <a:pPr indent="0" marL="0">
              <a:spcAft>
                <a:spcPts val="400"/>
              </a:spcAft>
              <a:buNone/>
            </a:pPr>
            <a:r>
              <a:rPr lang="en-US" sz="1150" dirty="0">
                <a:solidFill>
                  <a:srgbClr val="1B2E28"/>
                </a:solidFill>
                <a:latin typeface="Calibri" pitchFamily="34" charset="0"/>
                <a:ea typeface="Calibri" pitchFamily="34" charset="-122"/>
                <a:cs typeface="Calibri" pitchFamily="34" charset="-120"/>
              </a:rPr>
              <a:t>Investigate high-consumption loads.</a:t>
            </a:r>
            <a:endParaRPr lang="en-US" sz="1150" dirty="0"/>
          </a:p>
        </p:txBody>
      </p:sp>
      <p:sp>
        <p:nvSpPr>
          <p:cNvPr id="23" name="Text 21"/>
          <p:cNvSpPr txBox="1"/>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2796F"/>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548640" y="411480"/>
            <a:ext cx="105156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Future Scope &amp; Conclusion</a:t>
            </a:r>
            <a:endParaRPr lang="en-US" sz="3200" dirty="0"/>
          </a:p>
        </p:txBody>
      </p:sp>
      <p:sp>
        <p:nvSpPr>
          <p:cNvPr id="3" name="Shape 1"/>
          <p:cNvSpPr/>
          <p:nvPr/>
        </p:nvSpPr>
        <p:spPr>
          <a:xfrm>
            <a:off x="548640" y="1234440"/>
            <a:ext cx="5349240" cy="2834640"/>
          </a:xfrm>
          <a:prstGeom prst="roundRect">
            <a:avLst>
              <a:gd name="adj" fmla="val 2581"/>
            </a:avLst>
          </a:prstGeom>
          <a:solidFill>
            <a:srgbClr val="2D6A4F"/>
          </a:solidFill>
          <a:ln/>
        </p:spPr>
      </p:sp>
      <p:sp>
        <p:nvSpPr>
          <p:cNvPr id="4" name="Text 2"/>
          <p:cNvSpPr txBox="1"/>
          <p:nvPr/>
        </p:nvSpPr>
        <p:spPr>
          <a:xfrm>
            <a:off x="777240" y="1371600"/>
            <a:ext cx="4572000" cy="365760"/>
          </a:xfrm>
          <a:prstGeom prst="rect">
            <a:avLst/>
          </a:prstGeom>
          <a:noFill/>
          <a:ln/>
        </p:spPr>
        <p:txBody>
          <a:bodyPr wrap="square" rtlCol="0" anchor="ctr"/>
          <a:lstStyle/>
          <a:p>
            <a:pPr indent="0" marL="0">
              <a:buNone/>
            </a:pPr>
            <a:r>
              <a:rPr lang="en-US" sz="1500" b="1" dirty="0">
                <a:solidFill>
                  <a:srgbClr val="F4A300"/>
                </a:solidFill>
                <a:latin typeface="Cambria" pitchFamily="34" charset="0"/>
                <a:ea typeface="Cambria" pitchFamily="34" charset="-122"/>
                <a:cs typeface="Cambria" pitchFamily="34" charset="-120"/>
              </a:rPr>
              <a:t>Future Scope</a:t>
            </a:r>
            <a:endParaRPr lang="en-US" sz="1500" dirty="0"/>
          </a:p>
        </p:txBody>
      </p:sp>
      <p:sp>
        <p:nvSpPr>
          <p:cNvPr id="5" name="Text 3"/>
          <p:cNvSpPr txBox="1"/>
          <p:nvPr/>
        </p:nvSpPr>
        <p:spPr>
          <a:xfrm>
            <a:off x="777240" y="1828800"/>
            <a:ext cx="4846320" cy="214884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E8F5EC"/>
                </a:solidFill>
                <a:latin typeface="Calibri" pitchFamily="34" charset="0"/>
                <a:ea typeface="Calibri" pitchFamily="34" charset="-122"/>
                <a:cs typeface="Calibri" pitchFamily="34" charset="-120"/>
              </a:rPr>
              <a:t>IoT-based smart energy meters</a:t>
            </a:r>
            <a:endParaRPr lang="en-US" sz="1150" dirty="0"/>
          </a:p>
          <a:p>
            <a:pPr marL="177800" indent="-177800">
              <a:spcAft>
                <a:spcPts val="800"/>
              </a:spcAft>
              <a:buSzPct val="100000"/>
              <a:buChar char="•"/>
            </a:pPr>
            <a:r>
              <a:rPr lang="en-US" sz="1150" dirty="0">
                <a:solidFill>
                  <a:srgbClr val="E8F5EC"/>
                </a:solidFill>
                <a:latin typeface="Calibri" pitchFamily="34" charset="0"/>
                <a:ea typeface="Calibri" pitchFamily="34" charset="-122"/>
                <a:cs typeface="Calibri" pitchFamily="34" charset="-120"/>
              </a:rPr>
              <a:t>Real-time solar sensors</a:t>
            </a:r>
            <a:endParaRPr lang="en-US" sz="1150" dirty="0"/>
          </a:p>
          <a:p>
            <a:pPr marL="177800" indent="-177800">
              <a:spcAft>
                <a:spcPts val="800"/>
              </a:spcAft>
              <a:buSzPct val="100000"/>
              <a:buChar char="•"/>
            </a:pPr>
            <a:r>
              <a:rPr lang="en-US" sz="1150" dirty="0">
                <a:solidFill>
                  <a:srgbClr val="E8F5EC"/>
                </a:solidFill>
                <a:latin typeface="Calibri" pitchFamily="34" charset="0"/>
                <a:ea typeface="Calibri" pitchFamily="34" charset="-122"/>
                <a:cs typeface="Calibri" pitchFamily="34" charset="-120"/>
              </a:rPr>
              <a:t>Weather APIs</a:t>
            </a:r>
            <a:endParaRPr lang="en-US" sz="1150" dirty="0"/>
          </a:p>
          <a:p>
            <a:pPr marL="177800" indent="-177800">
              <a:spcAft>
                <a:spcPts val="800"/>
              </a:spcAft>
              <a:buSzPct val="100000"/>
              <a:buChar char="•"/>
            </a:pPr>
            <a:r>
              <a:rPr lang="en-US" sz="1150" dirty="0">
                <a:solidFill>
                  <a:srgbClr val="E8F5EC"/>
                </a:solidFill>
                <a:latin typeface="Calibri" pitchFamily="34" charset="0"/>
                <a:ea typeface="Calibri" pitchFamily="34" charset="-122"/>
                <a:cs typeface="Calibri" pitchFamily="34" charset="-120"/>
              </a:rPr>
              <a:t>Smart battery integration</a:t>
            </a:r>
            <a:endParaRPr lang="en-US" sz="1150" dirty="0"/>
          </a:p>
          <a:p>
            <a:pPr marL="177800" indent="-177800">
              <a:spcAft>
                <a:spcPts val="800"/>
              </a:spcAft>
              <a:buSzPct val="100000"/>
              <a:buChar char="•"/>
            </a:pPr>
            <a:r>
              <a:rPr lang="en-US" sz="1150" dirty="0">
                <a:solidFill>
                  <a:srgbClr val="E8F5EC"/>
                </a:solidFill>
                <a:latin typeface="Calibri" pitchFamily="34" charset="0"/>
                <a:ea typeface="Calibri" pitchFamily="34" charset="-122"/>
                <a:cs typeface="Calibri" pitchFamily="34" charset="-120"/>
              </a:rPr>
              <a:t>Smart appliances</a:t>
            </a:r>
            <a:endParaRPr lang="en-US" sz="1150" dirty="0"/>
          </a:p>
          <a:p>
            <a:pPr marL="177800" indent="-177800">
              <a:spcAft>
                <a:spcPts val="800"/>
              </a:spcAft>
              <a:buSzPct val="100000"/>
              <a:buChar char="•"/>
            </a:pPr>
            <a:r>
              <a:rPr lang="en-US" sz="1150" dirty="0">
                <a:solidFill>
                  <a:srgbClr val="E8F5EC"/>
                </a:solidFill>
                <a:latin typeface="Calibri" pitchFamily="34" charset="0"/>
                <a:ea typeface="Calibri" pitchFamily="34" charset="-122"/>
                <a:cs typeface="Calibri" pitchFamily="34" charset="-120"/>
              </a:rPr>
              <a:t>Real-time campus deployment</a:t>
            </a:r>
            <a:endParaRPr lang="en-US" sz="1150" dirty="0"/>
          </a:p>
          <a:p>
            <a:pPr marL="177800" indent="-177800">
              <a:spcAft>
                <a:spcPts val="800"/>
              </a:spcAft>
              <a:buSzPct val="100000"/>
              <a:buChar char="•"/>
            </a:pPr>
            <a:r>
              <a:rPr lang="en-US" sz="1150" dirty="0">
                <a:solidFill>
                  <a:srgbClr val="E8F5EC"/>
                </a:solidFill>
                <a:latin typeface="Calibri" pitchFamily="34" charset="0"/>
                <a:ea typeface="Calibri" pitchFamily="34" charset="-122"/>
                <a:cs typeface="Calibri" pitchFamily="34" charset="-120"/>
              </a:rPr>
              <a:t>Advanced forecasting models</a:t>
            </a:r>
            <a:endParaRPr lang="en-US" sz="1150" dirty="0"/>
          </a:p>
          <a:p>
            <a:pPr marL="177800" indent="-177800">
              <a:spcAft>
                <a:spcPts val="800"/>
              </a:spcAft>
              <a:buSzPct val="100000"/>
              <a:buChar char="•"/>
            </a:pPr>
            <a:r>
              <a:rPr lang="en-US" sz="1150" dirty="0">
                <a:solidFill>
                  <a:srgbClr val="E8F5EC"/>
                </a:solidFill>
                <a:latin typeface="Calibri" pitchFamily="34" charset="0"/>
                <a:ea typeface="Calibri" pitchFamily="34" charset="-122"/>
                <a:cs typeface="Calibri" pitchFamily="34" charset="-120"/>
              </a:rPr>
              <a:t>Automated energy-management systems</a:t>
            </a:r>
            <a:endParaRPr lang="en-US" sz="1150" dirty="0"/>
          </a:p>
        </p:txBody>
      </p:sp>
      <p:sp>
        <p:nvSpPr>
          <p:cNvPr id="6" name="Shape 4"/>
          <p:cNvSpPr/>
          <p:nvPr/>
        </p:nvSpPr>
        <p:spPr>
          <a:xfrm>
            <a:off x="6172200" y="1234440"/>
            <a:ext cx="5440680" cy="1325880"/>
          </a:xfrm>
          <a:prstGeom prst="roundRect">
            <a:avLst>
              <a:gd name="adj" fmla="val 5517"/>
            </a:avLst>
          </a:prstGeom>
          <a:solidFill>
            <a:srgbClr val="2D6A4F"/>
          </a:solidFill>
          <a:ln/>
        </p:spPr>
      </p:sp>
      <p:sp>
        <p:nvSpPr>
          <p:cNvPr id="7" name="Text 5"/>
          <p:cNvSpPr txBox="1"/>
          <p:nvPr/>
        </p:nvSpPr>
        <p:spPr>
          <a:xfrm>
            <a:off x="6400800" y="1353312"/>
            <a:ext cx="4937760" cy="320040"/>
          </a:xfrm>
          <a:prstGeom prst="rect">
            <a:avLst/>
          </a:prstGeom>
          <a:noFill/>
          <a:ln/>
        </p:spPr>
        <p:txBody>
          <a:bodyPr wrap="square" rtlCol="0" anchor="ctr"/>
          <a:lstStyle/>
          <a:p>
            <a:pPr indent="0" marL="0">
              <a:buNone/>
            </a:pPr>
            <a:r>
              <a:rPr lang="en-US" sz="1300" b="1" dirty="0">
                <a:solidFill>
                  <a:srgbClr val="F4A300"/>
                </a:solidFill>
                <a:latin typeface="Cambria" pitchFamily="34" charset="0"/>
                <a:ea typeface="Cambria" pitchFamily="34" charset="-122"/>
                <a:cs typeface="Cambria" pitchFamily="34" charset="-120"/>
              </a:rPr>
              <a:t>Current Prototype</a:t>
            </a:r>
            <a:endParaRPr lang="en-US" sz="1300" dirty="0"/>
          </a:p>
        </p:txBody>
      </p:sp>
      <p:sp>
        <p:nvSpPr>
          <p:cNvPr id="8" name="Text 6"/>
          <p:cNvSpPr txBox="1"/>
          <p:nvPr/>
        </p:nvSpPr>
        <p:spPr>
          <a:xfrm>
            <a:off x="6400800" y="1691640"/>
            <a:ext cx="4937760" cy="777240"/>
          </a:xfrm>
          <a:prstGeom prst="rect">
            <a:avLst/>
          </a:prstGeom>
          <a:noFill/>
          <a:ln/>
        </p:spPr>
        <p:txBody>
          <a:bodyPr wrap="square" rtlCol="0" anchor="t"/>
          <a:lstStyle/>
          <a:p>
            <a:pPr indent="0" marL="0">
              <a:buNone/>
            </a:pPr>
            <a:r>
              <a:rPr lang="en-US" sz="1150" dirty="0">
                <a:solidFill>
                  <a:srgbClr val="E8F5EC"/>
                </a:solidFill>
                <a:latin typeface="Calibri" pitchFamily="34" charset="0"/>
                <a:ea typeface="Calibri" pitchFamily="34" charset="-122"/>
                <a:cs typeface="Calibri" pitchFamily="34" charset="-120"/>
              </a:rPr>
              <a:t>Simulated Data → AI Analysis → Forecast → Optimization → Recommendation</a:t>
            </a:r>
            <a:endParaRPr lang="en-US" sz="1150" dirty="0"/>
          </a:p>
        </p:txBody>
      </p:sp>
      <p:sp>
        <p:nvSpPr>
          <p:cNvPr id="9" name="Shape 7"/>
          <p:cNvSpPr/>
          <p:nvPr/>
        </p:nvSpPr>
        <p:spPr>
          <a:xfrm>
            <a:off x="6172200" y="2697480"/>
            <a:ext cx="5440680" cy="1371600"/>
          </a:xfrm>
          <a:prstGeom prst="roundRect">
            <a:avLst>
              <a:gd name="adj" fmla="val 5333"/>
            </a:avLst>
          </a:prstGeom>
          <a:solidFill>
            <a:srgbClr val="F4A300"/>
          </a:solidFill>
          <a:ln/>
        </p:spPr>
      </p:sp>
      <p:sp>
        <p:nvSpPr>
          <p:cNvPr id="10" name="Text 8"/>
          <p:cNvSpPr txBox="1"/>
          <p:nvPr/>
        </p:nvSpPr>
        <p:spPr>
          <a:xfrm>
            <a:off x="6400800" y="2816352"/>
            <a:ext cx="4937760" cy="320040"/>
          </a:xfrm>
          <a:prstGeom prst="rect">
            <a:avLst/>
          </a:prstGeom>
          <a:noFill/>
          <a:ln/>
        </p:spPr>
        <p:txBody>
          <a:bodyPr wrap="square" rtlCol="0" anchor="ctr"/>
          <a:lstStyle/>
          <a:p>
            <a:pPr indent="0" marL="0">
              <a:buNone/>
            </a:pPr>
            <a:r>
              <a:rPr lang="en-US" sz="1300" b="1" dirty="0">
                <a:solidFill>
                  <a:srgbClr val="1B4332"/>
                </a:solidFill>
                <a:latin typeface="Cambria" pitchFamily="34" charset="0"/>
                <a:ea typeface="Cambria" pitchFamily="34" charset="-122"/>
                <a:cs typeface="Cambria" pitchFamily="34" charset="-120"/>
              </a:rPr>
              <a:t>Future Vision</a:t>
            </a:r>
            <a:endParaRPr lang="en-US" sz="1300" dirty="0"/>
          </a:p>
        </p:txBody>
      </p:sp>
      <p:sp>
        <p:nvSpPr>
          <p:cNvPr id="11" name="Text 9"/>
          <p:cNvSpPr txBox="1"/>
          <p:nvPr/>
        </p:nvSpPr>
        <p:spPr>
          <a:xfrm>
            <a:off x="6400800" y="3154680"/>
            <a:ext cx="4937760" cy="822960"/>
          </a:xfrm>
          <a:prstGeom prst="rect">
            <a:avLst/>
          </a:prstGeom>
          <a:noFill/>
          <a:ln/>
        </p:spPr>
        <p:txBody>
          <a:bodyPr wrap="square" rtlCol="0" anchor="t"/>
          <a:lstStyle/>
          <a:p>
            <a:pPr indent="0" marL="0">
              <a:buNone/>
            </a:pPr>
            <a:r>
              <a:rPr lang="en-US" sz="1150" dirty="0">
                <a:solidFill>
                  <a:srgbClr val="1B4332"/>
                </a:solidFill>
                <a:latin typeface="Calibri" pitchFamily="34" charset="0"/>
                <a:ea typeface="Calibri" pitchFamily="34" charset="-122"/>
                <a:cs typeface="Calibri" pitchFamily="34" charset="-120"/>
              </a:rPr>
              <a:t>Real-Time IoT Data → AI → Smart Optimization → Automated Sustainable Energy Management</a:t>
            </a:r>
            <a:endParaRPr lang="en-US" sz="1150" dirty="0"/>
          </a:p>
        </p:txBody>
      </p:sp>
      <p:sp>
        <p:nvSpPr>
          <p:cNvPr id="12" name="Shape 10"/>
          <p:cNvSpPr/>
          <p:nvPr/>
        </p:nvSpPr>
        <p:spPr>
          <a:xfrm>
            <a:off x="548640" y="4343400"/>
            <a:ext cx="11018520" cy="0"/>
          </a:xfrm>
          <a:prstGeom prst="line">
            <a:avLst/>
          </a:prstGeom>
          <a:noFill/>
          <a:ln w="12700">
            <a:solidFill>
              <a:srgbClr val="40916C"/>
            </a:solidFill>
            <a:prstDash val="solid"/>
          </a:ln>
        </p:spPr>
      </p:sp>
      <p:sp>
        <p:nvSpPr>
          <p:cNvPr id="13" name="Text 11"/>
          <p:cNvSpPr txBox="1"/>
          <p:nvPr/>
        </p:nvSpPr>
        <p:spPr>
          <a:xfrm>
            <a:off x="548640" y="4526280"/>
            <a:ext cx="11018520" cy="457200"/>
          </a:xfrm>
          <a:prstGeom prst="rect">
            <a:avLst/>
          </a:prstGeom>
          <a:noFill/>
          <a:ln/>
        </p:spPr>
        <p:txBody>
          <a:bodyPr wrap="square" rtlCol="0" anchor="ctr"/>
          <a:lstStyle/>
          <a:p>
            <a:pPr algn="ctr" indent="0" marL="0">
              <a:buNone/>
            </a:pPr>
            <a:r>
              <a:rPr lang="en-US" sz="1400" dirty="0">
                <a:solidFill>
                  <a:srgbClr val="D8F3DC"/>
                </a:solidFill>
                <a:latin typeface="Calibri" pitchFamily="34" charset="0"/>
                <a:ea typeface="Calibri" pitchFamily="34" charset="-122"/>
                <a:cs typeface="Calibri" pitchFamily="34" charset="-120"/>
              </a:rPr>
              <a:t>RenewAI demonstrates how AI can transform renewable-energy data into actionable insights.</a:t>
            </a:r>
            <a:endParaRPr lang="en-US" sz="1400" dirty="0"/>
          </a:p>
        </p:txBody>
      </p:sp>
      <p:sp>
        <p:nvSpPr>
          <p:cNvPr id="14" name="Text 12"/>
          <p:cNvSpPr txBox="1"/>
          <p:nvPr/>
        </p:nvSpPr>
        <p:spPr>
          <a:xfrm>
            <a:off x="548640" y="4983480"/>
            <a:ext cx="1101852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Understand  →  Predict  →  Optimize  →  Act</a:t>
            </a:r>
            <a:endParaRPr lang="en-US" sz="1800" dirty="0"/>
          </a:p>
        </p:txBody>
      </p:sp>
      <p:sp>
        <p:nvSpPr>
          <p:cNvPr id="15" name="Text 13"/>
          <p:cNvSpPr txBox="1"/>
          <p:nvPr/>
        </p:nvSpPr>
        <p:spPr>
          <a:xfrm>
            <a:off x="548640" y="5623560"/>
            <a:ext cx="11018520" cy="640080"/>
          </a:xfrm>
          <a:prstGeom prst="rect">
            <a:avLst/>
          </a:prstGeom>
          <a:noFill/>
          <a:ln/>
        </p:spPr>
        <p:txBody>
          <a:bodyPr wrap="square" rtlCol="0" anchor="ctr"/>
          <a:lstStyle/>
          <a:p>
            <a:pPr algn="ctr" indent="0" marL="0">
              <a:buNone/>
            </a:pPr>
            <a:r>
              <a:rPr lang="en-US" sz="2400" b="1" i="1" dirty="0">
                <a:solidFill>
                  <a:srgbClr val="F4A300"/>
                </a:solidFill>
                <a:latin typeface="Cambria" pitchFamily="34" charset="0"/>
                <a:ea typeface="Cambria" pitchFamily="34" charset="-122"/>
                <a:cs typeface="Cambria" pitchFamily="34" charset="-120"/>
              </a:rPr>
              <a:t>“Smarter Energy. Cleaner Future.”</a:t>
            </a:r>
            <a:endParaRPr lang="en-US" sz="2400" dirty="0"/>
          </a:p>
        </p:txBody>
      </p:sp>
      <p:sp>
        <p:nvSpPr>
          <p:cNvPr id="17" name="Text 14"/>
          <p:cNvSpPr txBox="1"/>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2796F"/>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